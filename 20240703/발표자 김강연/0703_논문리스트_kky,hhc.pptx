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9" r:id="rId2"/>
    <p:sldId id="257" r:id="rId3"/>
    <p:sldId id="433" r:id="rId4"/>
    <p:sldId id="415" r:id="rId5"/>
    <p:sldId id="428" r:id="rId6"/>
    <p:sldId id="429" r:id="rId7"/>
    <p:sldId id="426" r:id="rId8"/>
    <p:sldId id="427" r:id="rId9"/>
    <p:sldId id="416" r:id="rId10"/>
    <p:sldId id="418" r:id="rId11"/>
    <p:sldId id="432" r:id="rId12"/>
    <p:sldId id="430" r:id="rId13"/>
    <p:sldId id="431" r:id="rId14"/>
    <p:sldId id="420" r:id="rId15"/>
    <p:sldId id="421" r:id="rId16"/>
    <p:sldId id="417" r:id="rId17"/>
    <p:sldId id="422" r:id="rId18"/>
    <p:sldId id="423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38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46"/>
    <p:restoredTop sz="81520" autoAdjust="0"/>
  </p:normalViewPr>
  <p:slideViewPr>
    <p:cSldViewPr snapToGrid="0">
      <p:cViewPr varScale="1">
        <p:scale>
          <a:sx n="181" d="100"/>
          <a:sy n="181" d="100"/>
        </p:scale>
        <p:origin x="22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1C4FF8-075B-4E4B-A656-C100EDE11BF4}" type="datetimeFigureOut">
              <a:rPr lang="ko-KR" altLang="en-US" smtClean="0"/>
              <a:t>2024. 7. 4.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8CC42-58F7-41CD-96AC-A32930407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9078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55 in sup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6990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62 in sup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2577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63 in sup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7070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66 in sup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496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67 in sup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8144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76,77 in sup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92721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82 in sup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7368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84 in sup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77405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32 in sup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03822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105 in sup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39733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110 in sup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51741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125 in sup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332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941540-3281-4DB7-966F-AB1311B13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CC0EA99-A2CE-41D7-BC44-C686853186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2CE047-4EEC-4593-A17B-2C35D1085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CD3D-1DE8-4180-A3E1-F550B187E17E}" type="datetimeFigureOut">
              <a:rPr lang="ko-KR" altLang="en-US" smtClean="0"/>
              <a:t>2024. 7. 4.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F45A81-40A5-47F7-99D2-6AFB3711A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52B3CA-D2DF-46F0-8A03-80C67B2F9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B66C3-EC36-4F8F-9956-6069237E91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635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D370E4-DEB5-4F76-907F-AD6D6C203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4AAAC2-10DF-48D6-ADA2-A55CC4DDD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F802FE-2AE5-4021-B39D-74194BE9F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CD3D-1DE8-4180-A3E1-F550B187E17E}" type="datetimeFigureOut">
              <a:rPr lang="ko-KR" altLang="en-US" smtClean="0"/>
              <a:t>2024. 7. 4.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507D76-3C8F-482C-8F2A-5FB82C7B2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BDCF37-4196-43D2-A9C5-D1ECEDA60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B66C3-EC36-4F8F-9956-6069237E91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3724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6EDFC-BACB-41CA-871D-A777E6F3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82557A-2438-4B3F-9360-F01B7CEB2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FE9BD7-7A0E-4E4F-9C4E-FD2DE0E89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CD3D-1DE8-4180-A3E1-F550B187E17E}" type="datetimeFigureOut">
              <a:rPr lang="ko-KR" altLang="en-US" smtClean="0"/>
              <a:t>2024. 7. 4.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6E10D7-8A2D-4B57-B62D-9C202195D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554C8A-B10E-4174-8B97-265E5F09F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B66C3-EC36-4F8F-9956-6069237E91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470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3BEEE1-717B-4198-A968-28733FF21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9B746-EDAB-4C96-AF89-F1E504C43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0D093A0-5878-4916-927F-5FB649EA4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FF54AE-8886-4B9E-8F30-EA99ADE38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CD3D-1DE8-4180-A3E1-F550B187E17E}" type="datetimeFigureOut">
              <a:rPr lang="ko-KR" altLang="en-US" smtClean="0"/>
              <a:t>2024. 7. 4.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8D7D8E-9EEA-40AB-AE75-033E691EF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D6837A-E5FB-4ABA-9F7D-2CFA2189A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B66C3-EC36-4F8F-9956-6069237E91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31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747B1B-31AC-40D5-B803-C50FBE2F6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329F81-835E-4EC7-A246-ACBC47D5E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24B508-8C37-4DEC-A781-5AB88755C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F8B9D0B-03F8-4EE0-B595-1F1138397D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45F5BA1-35CF-4C65-8921-14D0D038E1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4C87DC8-C3CB-4F42-B04E-D569890D5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CD3D-1DE8-4180-A3E1-F550B187E17E}" type="datetimeFigureOut">
              <a:rPr lang="ko-KR" altLang="en-US" smtClean="0"/>
              <a:t>2024. 7. 4.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E50DBEE-0565-4534-8DFF-FC09C3F30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28E2C0A-F1D8-4E75-837C-E16218C74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B66C3-EC36-4F8F-9956-6069237E91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671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C345AD-561C-4576-9C3A-7A49571F9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942BED1-01C1-4667-A998-A91C6986F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CD3D-1DE8-4180-A3E1-F550B187E17E}" type="datetimeFigureOut">
              <a:rPr lang="ko-KR" altLang="en-US" smtClean="0"/>
              <a:t>2024. 7. 4.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1346A4B-4481-4831-8961-526D35799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D30D7A-58D8-40E9-9ADC-74C645BF2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B66C3-EC36-4F8F-9956-6069237E91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80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94839FA-1939-4873-BEBA-0D2163C42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CD3D-1DE8-4180-A3E1-F550B187E17E}" type="datetimeFigureOut">
              <a:rPr lang="ko-KR" altLang="en-US" smtClean="0"/>
              <a:t>2024. 7. 4.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A69B8AC-0F42-4019-9316-D2D8078C7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4463CA-40B9-4C61-8A20-A51A3CB4E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B66C3-EC36-4F8F-9956-6069237E91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1860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259AE5-C496-4844-A2D2-9314390AC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E1A244-A75A-4F43-A9E9-AB3FF3F82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3B36E0-923C-45D6-825A-80DA95C73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720FE8-54D3-4E70-88E6-B844867FC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CD3D-1DE8-4180-A3E1-F550B187E17E}" type="datetimeFigureOut">
              <a:rPr lang="ko-KR" altLang="en-US" smtClean="0"/>
              <a:t>2024. 7. 4.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DE23C6-2317-4966-8482-196612DD4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44C84D-42AB-4687-B787-AC433333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B66C3-EC36-4F8F-9956-6069237E91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055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8C9199-4E99-4EA9-9478-BBF0248BB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A72429-0D28-4E95-B5A3-13C4E5D045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1D4B93-B0A9-404C-B9DF-A45271647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39C86C-4849-48C9-A147-58FBE898E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CD3D-1DE8-4180-A3E1-F550B187E17E}" type="datetimeFigureOut">
              <a:rPr lang="ko-KR" altLang="en-US" smtClean="0"/>
              <a:t>2024. 7. 4.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B8B7D1-A34C-4B6A-ABDA-C181BC42E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711ED5-72F2-48D6-9696-6A23F1700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B66C3-EC36-4F8F-9956-6069237E91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560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FB3E24-8FD5-4344-B663-033C6889A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390737-CE7F-434E-8436-890CBA688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9A2B0F-F526-4B9F-AF0E-96BF42208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CD3D-1DE8-4180-A3E1-F550B187E17E}" type="datetimeFigureOut">
              <a:rPr lang="ko-KR" altLang="en-US" smtClean="0"/>
              <a:t>2024. 7. 4.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E46F1-F182-4928-BADA-AB10585E6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9547BF-CFF1-4D03-A08A-2F5B95725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B66C3-EC36-4F8F-9956-6069237E91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553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F3759AD-1EE7-4E49-8264-A584DE3E31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5678D1-B6B0-40B0-A7D8-BB9BE50EE6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85A3EB-318B-4C34-A3D2-94BE9BBE5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CD3D-1DE8-4180-A3E1-F550B187E17E}" type="datetimeFigureOut">
              <a:rPr lang="ko-KR" altLang="en-US" smtClean="0"/>
              <a:t>2024. 7. 4.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7440A5-6311-4A5F-A954-84D183709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31ED3E-79CD-4DAB-9FC5-F9FE9CB0E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B66C3-EC36-4F8F-9956-6069237E91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4739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7D72F1D-2153-4642-ADA1-477A85898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109480-88DC-46D0-945A-4B80C7A34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A9346F-4276-404E-8B5A-56E6C9D379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E8CD3D-1DE8-4180-A3E1-F550B187E17E}" type="datetimeFigureOut">
              <a:rPr lang="ko-KR" altLang="en-US" smtClean="0"/>
              <a:t>2024. 7. 4.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B4D588-9898-45E9-932B-47F8E9AE6D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96DA17-3F71-4C4E-AF92-A2722C115E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B66C3-EC36-4F8F-9956-6069237E91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69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16B57D8-8349-4962-B206-E64644358C1A}"/>
              </a:ext>
            </a:extLst>
          </p:cNvPr>
          <p:cNvSpPr/>
          <p:nvPr/>
        </p:nvSpPr>
        <p:spPr>
          <a:xfrm>
            <a:off x="510988" y="2336393"/>
            <a:ext cx="11170024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Safe Learning in Robotics:</a:t>
            </a:r>
          </a:p>
          <a:p>
            <a:pPr algn="ctr"/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From Learning-Based Control to Safe Reinforcement Learning</a:t>
            </a:r>
          </a:p>
          <a:p>
            <a:pPr algn="ctr"/>
            <a:endParaRPr lang="en-US" altLang="ko-KR" sz="320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altLang="ko-KR" sz="2000">
                <a:latin typeface="times" panose="02020603050405020304" pitchFamily="18" charset="0"/>
                <a:cs typeface="times" panose="02020603050405020304" pitchFamily="18" charset="0"/>
              </a:rPr>
              <a:t>24.07.03</a:t>
            </a:r>
          </a:p>
          <a:p>
            <a:pPr algn="ctr"/>
            <a:r>
              <a:rPr lang="en-US" altLang="ko-KR" sz="2000">
                <a:latin typeface="times" panose="02020603050405020304" pitchFamily="18" charset="0"/>
                <a:cs typeface="times" panose="02020603050405020304" pitchFamily="18" charset="0"/>
              </a:rPr>
              <a:t>Kangyeon Kim, Hyeongchan Ham</a:t>
            </a:r>
            <a:endParaRPr lang="ko-KR" altLang="en-US" sz="200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ED9F87C-BC37-40C3-AB0E-F1014B6AD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623" y="5352490"/>
            <a:ext cx="2348754" cy="132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407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5D3F11E-B1A4-40E4-B061-3B31C0293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C6027E0-5D1C-45B0-9070-40348399D732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FEBA2E-AD13-4510-8FBD-4A4BFC821E30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times" panose="02020603050405020304" pitchFamily="18" charset="0"/>
                <a:cs typeface="times" panose="02020603050405020304" pitchFamily="18" charset="0"/>
              </a:rPr>
              <a:t>1. Summary of the safe learning control approaches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F5FB49F-B0BA-4AC1-BF57-B9722A382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494" y="1109872"/>
            <a:ext cx="7871012" cy="551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009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2. List</a:t>
            </a:r>
            <a:endParaRPr lang="ko-KR" altLang="en-US" sz="3200" b="1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CC1C0-54A4-4064-9F06-2A79460398E3}"/>
              </a:ext>
            </a:extLst>
          </p:cNvPr>
          <p:cNvSpPr txBox="1"/>
          <p:nvPr/>
        </p:nvSpPr>
        <p:spPr>
          <a:xfrm>
            <a:off x="537880" y="1141802"/>
            <a:ext cx="111162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1) Learning Uncertain Dynamics to Safely Improve Performance: 4</a:t>
            </a:r>
          </a:p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2) Encouraging Safety and Robustness in Reinforcement Learning: 7</a:t>
            </a:r>
          </a:p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3) Certifying Learning-Based Control Under Dynamics Uncertainty: 2</a:t>
            </a:r>
          </a:p>
        </p:txBody>
      </p:sp>
    </p:spTree>
    <p:extLst>
      <p:ext uri="{BB962C8B-B14F-4D97-AF65-F5344CB8AC3E}">
        <p14:creationId xmlns:p14="http://schemas.microsoft.com/office/powerpoint/2010/main" val="3805657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2. List</a:t>
            </a:r>
            <a:endParaRPr lang="ko-KR" altLang="en-US" sz="3200" b="1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CC1C0-54A4-4064-9F06-2A79460398E3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1) Learning Uncertain Dynamics to Safely Improve 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45E1B5-86BA-4FE8-A7C6-B08E4082F179}"/>
              </a:ext>
            </a:extLst>
          </p:cNvPr>
          <p:cNvSpPr txBox="1"/>
          <p:nvPr/>
        </p:nvSpPr>
        <p:spPr>
          <a:xfrm>
            <a:off x="537880" y="1839834"/>
            <a:ext cx="111162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strike="sngStrike">
                <a:latin typeface="times" panose="02020603050405020304" pitchFamily="18" charset="0"/>
                <a:cs typeface="times" panose="02020603050405020304" pitchFamily="18" charset="0"/>
              </a:rPr>
              <a:t>Sec 1. Integrating ML and adaptive control</a:t>
            </a:r>
          </a:p>
          <a:p>
            <a:r>
              <a:rPr lang="en-US" altLang="ko-KR" sz="2000" strike="sngStrike">
                <a:latin typeface="times" panose="02020603050405020304" pitchFamily="18" charset="0"/>
                <a:cs typeface="times" panose="02020603050405020304" pitchFamily="18" charset="0"/>
              </a:rPr>
              <a:t>Sec 2. Learning-based robust control</a:t>
            </a:r>
          </a:p>
          <a:p>
            <a:r>
              <a:rPr lang="en-US" altLang="ko-KR" sz="2000">
                <a:latin typeface="times" panose="02020603050405020304" pitchFamily="18" charset="0"/>
                <a:cs typeface="times" panose="02020603050405020304" pitchFamily="18" charset="0"/>
              </a:rPr>
              <a:t>Sec 3. Reducing conservatism in robust MPC with learning and adaptation</a:t>
            </a:r>
          </a:p>
          <a:p>
            <a:r>
              <a:rPr lang="en-US" altLang="ko-KR" sz="2000">
                <a:latin typeface="times" panose="02020603050405020304" pitchFamily="18" charset="0"/>
                <a:cs typeface="times" panose="02020603050405020304" pitchFamily="18" charset="0"/>
              </a:rPr>
              <a:t>Sec 4. Safe model-based RL with a priori dynamics</a:t>
            </a:r>
          </a:p>
        </p:txBody>
      </p:sp>
    </p:spTree>
    <p:extLst>
      <p:ext uri="{BB962C8B-B14F-4D97-AF65-F5344CB8AC3E}">
        <p14:creationId xmlns:p14="http://schemas.microsoft.com/office/powerpoint/2010/main" val="1083960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2. List</a:t>
            </a:r>
            <a:endParaRPr lang="ko-KR" altLang="en-US" sz="3200" b="1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CC1C0-54A4-4064-9F06-2A79460398E3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1) Learning Uncertain Dynamics to Safely Improve 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45E1B5-86BA-4FE8-A7C6-B08E4082F179}"/>
              </a:ext>
            </a:extLst>
          </p:cNvPr>
          <p:cNvSpPr txBox="1"/>
          <p:nvPr/>
        </p:nvSpPr>
        <p:spPr>
          <a:xfrm>
            <a:off x="537880" y="1839834"/>
            <a:ext cx="11116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latin typeface="times" panose="02020603050405020304" pitchFamily="18" charset="0"/>
                <a:cs typeface="times" panose="02020603050405020304" pitchFamily="18" charset="0"/>
              </a:rPr>
              <a:t>Sec 3. Reducing conservatism in robust MPC with learning and adaptation - 1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08C3C94-0F8E-48B4-A844-93C9340F1D8D}"/>
              </a:ext>
            </a:extLst>
          </p:cNvPr>
          <p:cNvSpPr/>
          <p:nvPr/>
        </p:nvSpPr>
        <p:spPr>
          <a:xfrm>
            <a:off x="537880" y="2911314"/>
            <a:ext cx="9583649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 Learning model predictive control for iterative tasks. a data-driven control framework</a:t>
            </a:r>
            <a:b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(TAC, 2018)</a:t>
            </a:r>
          </a:p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Author:</a:t>
            </a:r>
            <a:r>
              <a:rPr lang="ko-KR" altLang="en-US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Rosolia U, Borrelli F.</a:t>
            </a:r>
          </a:p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Cited by: 376</a:t>
            </a:r>
          </a:p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Code(?, learning</a:t>
            </a:r>
            <a:r>
              <a:rPr lang="ko-KR" altLang="en-US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ko-KR" altLang="en-US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mpc): https://sites.google.com/berkeley.edu/lmpc/home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194F0F-2593-4680-8A51-8DD4DB74C91C}"/>
              </a:ext>
            </a:extLst>
          </p:cNvPr>
          <p:cNvSpPr txBox="1"/>
          <p:nvPr/>
        </p:nvSpPr>
        <p:spPr>
          <a:xfrm>
            <a:off x="537880" y="5213901"/>
            <a:ext cx="111162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코드 관련 형찬 코멘트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</a:p>
          <a:p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- python2.7 </a:t>
            </a:r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사용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호환성 문제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  <a:endParaRPr lang="ko-KR" altLang="en-US" sz="140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- docker </a:t>
            </a:r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환경 제공해줘서 편하긴 하지만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, docker </a:t>
            </a:r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사용법 알아야 함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5944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2. List</a:t>
            </a:r>
            <a:endParaRPr lang="ko-KR" altLang="en-US" sz="3200" b="1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CC1C0-54A4-4064-9F06-2A79460398E3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1) Learning Uncertain Dynamics to Safely Improve 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45E1B5-86BA-4FE8-A7C6-B08E4082F179}"/>
              </a:ext>
            </a:extLst>
          </p:cNvPr>
          <p:cNvSpPr txBox="1"/>
          <p:nvPr/>
        </p:nvSpPr>
        <p:spPr>
          <a:xfrm>
            <a:off x="537880" y="1839834"/>
            <a:ext cx="11116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latin typeface="times" panose="02020603050405020304" pitchFamily="18" charset="0"/>
                <a:cs typeface="times" panose="02020603050405020304" pitchFamily="18" charset="0"/>
              </a:rPr>
              <a:t>Sec 3. Reducing conservatism in robust MPC with learning and adaptation - 2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08C3C94-0F8E-48B4-A844-93C9340F1D8D}"/>
              </a:ext>
            </a:extLst>
          </p:cNvPr>
          <p:cNvSpPr/>
          <p:nvPr/>
        </p:nvSpPr>
        <p:spPr>
          <a:xfrm>
            <a:off x="537880" y="2880164"/>
            <a:ext cx="9697270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 Data-efficient reinforcement learning with probabilistic model predictive control</a:t>
            </a:r>
            <a:b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(AISTATS, 2018)</a:t>
            </a:r>
          </a:p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Author:</a:t>
            </a:r>
            <a:r>
              <a:rPr lang="ko-KR" altLang="en-US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Kamthe S, Deisenroth M.</a:t>
            </a:r>
          </a:p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Cited by: 276</a:t>
            </a:r>
          </a:p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Code(unofficial): https://github.com/SimonRennotte/Data-Efficient-Reinforcement-Learning</a:t>
            </a:r>
            <a:b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-with-Probabilistic-Model-Predictive-Control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E42D96-7E61-480E-B865-6262A40A8A2A}"/>
              </a:ext>
            </a:extLst>
          </p:cNvPr>
          <p:cNvSpPr txBox="1"/>
          <p:nvPr/>
        </p:nvSpPr>
        <p:spPr>
          <a:xfrm>
            <a:off x="537880" y="5459376"/>
            <a:ext cx="11116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코드 관련 형찬 코멘트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</a:p>
          <a:p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- </a:t>
            </a:r>
            <a:r>
              <a:rPr lang="ko-KR" altLang="en-US" sz="1400">
                <a:highlight>
                  <a:srgbClr val="FFFF00"/>
                </a:highlight>
                <a:latin typeface="times" panose="02020603050405020304" pitchFamily="18" charset="0"/>
                <a:cs typeface="times" panose="02020603050405020304" pitchFamily="18" charset="0"/>
              </a:rPr>
              <a:t>실험 분석 툴 많아서 활용성이 좋음</a:t>
            </a:r>
            <a:r>
              <a:rPr lang="en-US" altLang="ko-KR" sz="1400">
                <a:highlight>
                  <a:srgbClr val="FFFF00"/>
                </a:highlight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95353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2. List</a:t>
            </a:r>
            <a:endParaRPr lang="ko-KR" altLang="en-US" sz="3200" b="1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CC1C0-54A4-4064-9F06-2A79460398E3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1) Learning Uncertain Dynamics to Safely Improve 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45E1B5-86BA-4FE8-A7C6-B08E4082F179}"/>
              </a:ext>
            </a:extLst>
          </p:cNvPr>
          <p:cNvSpPr txBox="1"/>
          <p:nvPr/>
        </p:nvSpPr>
        <p:spPr>
          <a:xfrm>
            <a:off x="537880" y="1839834"/>
            <a:ext cx="11116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latin typeface="times" panose="02020603050405020304" pitchFamily="18" charset="0"/>
                <a:cs typeface="times" panose="02020603050405020304" pitchFamily="18" charset="0"/>
              </a:rPr>
              <a:t>Sec 3. Reducing conservatism in robust MPC with learning and adaptation - 3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08C3C94-0F8E-48B4-A844-93C9340F1D8D}"/>
              </a:ext>
            </a:extLst>
          </p:cNvPr>
          <p:cNvSpPr/>
          <p:nvPr/>
        </p:nvSpPr>
        <p:spPr>
          <a:xfrm>
            <a:off x="537880" y="2911314"/>
            <a:ext cx="9868984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 Learning-based model predictive control for safe exploration and reinforcement learning</a:t>
            </a:r>
            <a:b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(CDC, 2018)</a:t>
            </a:r>
          </a:p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Author:</a:t>
            </a:r>
            <a:r>
              <a:rPr lang="ko-KR" altLang="en-US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Koller T, Berkenkamp F, Turchetta M, Boedecker J, </a:t>
            </a:r>
            <a:r>
              <a:rPr lang="de-DE" altLang="ko-KR" sz="2000">
                <a:solidFill>
                  <a:srgbClr val="1F2328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Krause A</a:t>
            </a:r>
            <a:r>
              <a:rPr lang="de-DE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Cited by: 465</a:t>
            </a:r>
          </a:p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Code: https://github.com/befelix/safe-exploration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E8CF13-19FE-41E7-8BE7-38EDDE5503FB}"/>
              </a:ext>
            </a:extLst>
          </p:cNvPr>
          <p:cNvSpPr txBox="1"/>
          <p:nvPr/>
        </p:nvSpPr>
        <p:spPr>
          <a:xfrm>
            <a:off x="537880" y="5213901"/>
            <a:ext cx="111162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코드 관련 형찬 코멘트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</a:p>
          <a:p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- document </a:t>
            </a:r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없어서 코드 분석하기 어려움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  <a:endParaRPr lang="ko-KR" altLang="en-US" sz="140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- docker </a:t>
            </a:r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환경 제공해줘서 편하긴 하지만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, docker </a:t>
            </a:r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사용법 알아야 함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0495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2. List</a:t>
            </a:r>
            <a:endParaRPr lang="ko-KR" altLang="en-US" sz="3200" b="1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CC1C0-54A4-4064-9F06-2A79460398E3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1) Learning Uncertain Dynamics to Safely Improve 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45E1B5-86BA-4FE8-A7C6-B08E4082F179}"/>
              </a:ext>
            </a:extLst>
          </p:cNvPr>
          <p:cNvSpPr txBox="1"/>
          <p:nvPr/>
        </p:nvSpPr>
        <p:spPr>
          <a:xfrm>
            <a:off x="537880" y="1839834"/>
            <a:ext cx="11116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latin typeface="times" panose="02020603050405020304" pitchFamily="18" charset="0"/>
                <a:cs typeface="times" panose="02020603050405020304" pitchFamily="18" charset="0"/>
              </a:rPr>
              <a:t>Sec 4. Safe model-based RL with a priori dynamics - 1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635C536-6972-4958-A1B6-E14BD49658E5}"/>
              </a:ext>
            </a:extLst>
          </p:cNvPr>
          <p:cNvSpPr/>
          <p:nvPr/>
        </p:nvSpPr>
        <p:spPr>
          <a:xfrm>
            <a:off x="537880" y="3065203"/>
            <a:ext cx="9320757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 Safe Model-based Reinforcement Learning with Stability Guarantees (NIPS, 2017)</a:t>
            </a:r>
          </a:p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Author:</a:t>
            </a:r>
            <a:r>
              <a:rPr lang="ko-KR" altLang="en-US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de-DE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Berkenkamp F, Turchetta M, </a:t>
            </a:r>
            <a:r>
              <a:rPr lang="de-DE" altLang="ko-KR" sz="2000">
                <a:solidFill>
                  <a:srgbClr val="1F2328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Schoellig A</a:t>
            </a:r>
            <a:r>
              <a:rPr lang="de-DE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de-DE" altLang="ko-KR" sz="2000">
                <a:solidFill>
                  <a:srgbClr val="1F2328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Krause A</a:t>
            </a:r>
            <a:r>
              <a:rPr lang="de-DE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Cited by: 981</a:t>
            </a:r>
          </a:p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Code: https://github.com/befelix/safe_learning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1DBAF9-135C-4C08-97A1-5FC262AC59FB}"/>
              </a:ext>
            </a:extLst>
          </p:cNvPr>
          <p:cNvSpPr txBox="1"/>
          <p:nvPr/>
        </p:nvSpPr>
        <p:spPr>
          <a:xfrm>
            <a:off x="537880" y="5213901"/>
            <a:ext cx="111162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코드 관련 형찬 코멘트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</a:p>
          <a:p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- example notebook </a:t>
            </a:r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파일 있어서 이해하기 좋음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  <a:endParaRPr lang="ko-KR" altLang="en-US" sz="140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- docker </a:t>
            </a:r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환경 제공해줘서 편하긴 하지만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, docker </a:t>
            </a:r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사용법 알아야 함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5481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2. List</a:t>
            </a:r>
            <a:endParaRPr lang="ko-KR" altLang="en-US" sz="3200" b="1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CC1C0-54A4-4064-9F06-2A79460398E3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2) Encouraging Safety and Robustness in Reinforcement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6E5212-8AB8-4722-8C90-A2D201F752DF}"/>
              </a:ext>
            </a:extLst>
          </p:cNvPr>
          <p:cNvSpPr txBox="1"/>
          <p:nvPr/>
        </p:nvSpPr>
        <p:spPr>
          <a:xfrm>
            <a:off x="537880" y="1839834"/>
            <a:ext cx="111162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atin typeface="times" panose="02020603050405020304" pitchFamily="18" charset="0"/>
                <a:cs typeface="times" panose="02020603050405020304" pitchFamily="18" charset="0"/>
              </a:rPr>
              <a:t>Sec 1. Safe exploration and optimization</a:t>
            </a:r>
          </a:p>
          <a:p>
            <a:r>
              <a:rPr lang="en-US" altLang="ko-KR" sz="2000" strike="sngStrike">
                <a:latin typeface="times" panose="02020603050405020304" pitchFamily="18" charset="0"/>
                <a:cs typeface="times" panose="02020603050405020304" pitchFamily="18" charset="0"/>
              </a:rPr>
              <a:t>Sec 2. Risk-averse RL and uncertainty-aware RL</a:t>
            </a:r>
          </a:p>
          <a:p>
            <a:r>
              <a:rPr lang="en-US" altLang="ko-KR" sz="2000">
                <a:latin typeface="times" panose="02020603050405020304" pitchFamily="18" charset="0"/>
                <a:cs typeface="times" panose="02020603050405020304" pitchFamily="18" charset="0"/>
              </a:rPr>
              <a:t>Sec 3. Constrained MDP and RL</a:t>
            </a:r>
          </a:p>
          <a:p>
            <a:r>
              <a:rPr lang="en-US" altLang="ko-KR" sz="2000">
                <a:latin typeface="times" panose="02020603050405020304" pitchFamily="18" charset="0"/>
                <a:cs typeface="times" panose="02020603050405020304" pitchFamily="18" charset="0"/>
              </a:rPr>
              <a:t>Sec 4. Robust MDP and RL</a:t>
            </a:r>
          </a:p>
        </p:txBody>
      </p:sp>
    </p:spTree>
    <p:extLst>
      <p:ext uri="{BB962C8B-B14F-4D97-AF65-F5344CB8AC3E}">
        <p14:creationId xmlns:p14="http://schemas.microsoft.com/office/powerpoint/2010/main" val="1103592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2. List</a:t>
            </a:r>
            <a:endParaRPr lang="ko-KR" altLang="en-US" sz="3200" b="1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CC1C0-54A4-4064-9F06-2A79460398E3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2) Encouraging Safety and Robustness in Reinforcement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6E5212-8AB8-4722-8C90-A2D201F752DF}"/>
              </a:ext>
            </a:extLst>
          </p:cNvPr>
          <p:cNvSpPr txBox="1"/>
          <p:nvPr/>
        </p:nvSpPr>
        <p:spPr>
          <a:xfrm>
            <a:off x="537880" y="1839834"/>
            <a:ext cx="11116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latin typeface="times" panose="02020603050405020304" pitchFamily="18" charset="0"/>
                <a:cs typeface="times" panose="02020603050405020304" pitchFamily="18" charset="0"/>
              </a:rPr>
              <a:t>Sec 1. Safe exploration and optimization - 1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F04517C-6442-4AAB-8B8C-7695C073444B}"/>
              </a:ext>
            </a:extLst>
          </p:cNvPr>
          <p:cNvSpPr/>
          <p:nvPr/>
        </p:nvSpPr>
        <p:spPr>
          <a:xfrm>
            <a:off x="537880" y="3065203"/>
            <a:ext cx="10179966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 Safe exploration in finite Markov decision processes with Gaussian processes (NIPS, 2016)</a:t>
            </a:r>
          </a:p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Author:</a:t>
            </a:r>
            <a:r>
              <a:rPr lang="ko-KR" altLang="en-US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Turchetta M, Berkenkamp F, </a:t>
            </a:r>
            <a:r>
              <a:rPr lang="it-IT" altLang="ko-KR" sz="2000">
                <a:solidFill>
                  <a:srgbClr val="1F2328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Krause A</a:t>
            </a:r>
            <a:r>
              <a:rPr lang="it-IT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Cited by: 228</a:t>
            </a:r>
          </a:p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Code: https://github.com/befelix/SafeMDP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ADDA74-AC5F-4463-97A5-5032B73E9D1C}"/>
              </a:ext>
            </a:extLst>
          </p:cNvPr>
          <p:cNvSpPr txBox="1"/>
          <p:nvPr/>
        </p:nvSpPr>
        <p:spPr>
          <a:xfrm>
            <a:off x="537880" y="5213901"/>
            <a:ext cx="11116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코드 관련 형찬 코멘트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</a:p>
          <a:p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- document </a:t>
            </a:r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따로 있어서 이해하기 좋음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  <a:endParaRPr lang="ko-KR" altLang="en-US" sz="140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824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2. List</a:t>
            </a:r>
            <a:endParaRPr lang="ko-KR" altLang="en-US" sz="3200" b="1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CC1C0-54A4-4064-9F06-2A79460398E3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2) Encouraging Safety and Robustness in Reinforcement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6E5212-8AB8-4722-8C90-A2D201F752DF}"/>
              </a:ext>
            </a:extLst>
          </p:cNvPr>
          <p:cNvSpPr txBox="1"/>
          <p:nvPr/>
        </p:nvSpPr>
        <p:spPr>
          <a:xfrm>
            <a:off x="537880" y="1839834"/>
            <a:ext cx="11116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latin typeface="times" panose="02020603050405020304" pitchFamily="18" charset="0"/>
                <a:cs typeface="times" panose="02020603050405020304" pitchFamily="18" charset="0"/>
              </a:rPr>
              <a:t>Sec 1. Safe exploration and optimization – 2, 3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F04517C-6442-4AAB-8B8C-7695C073444B}"/>
              </a:ext>
            </a:extLst>
          </p:cNvPr>
          <p:cNvSpPr/>
          <p:nvPr/>
        </p:nvSpPr>
        <p:spPr>
          <a:xfrm>
            <a:off x="537880" y="2449134"/>
            <a:ext cx="10571099" cy="3170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 Safe exploration for optimization with Gaussian processes. (ICML, 2015)</a:t>
            </a:r>
          </a:p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Author:</a:t>
            </a:r>
            <a:r>
              <a:rPr lang="ko-KR" altLang="en-US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 Y, Gotovos A, Burdick J, </a:t>
            </a:r>
            <a:r>
              <a:rPr lang="it-IT" altLang="ko-KR" sz="2000">
                <a:solidFill>
                  <a:srgbClr val="1F2328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Krause A</a:t>
            </a:r>
            <a:r>
              <a:rPr lang="it-IT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Cited by: 416</a:t>
            </a:r>
          </a:p>
          <a:p>
            <a:endParaRPr lang="en-US" altLang="ko-KR" sz="200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 Bayesian optimization with safety constraints: Safe and automatic parameter tuning in robotics.</a:t>
            </a:r>
            <a:b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(Machine Learning, 2023)</a:t>
            </a:r>
          </a:p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Author:</a:t>
            </a:r>
            <a:r>
              <a:rPr lang="ko-KR" altLang="en-US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Berkenkamp F, </a:t>
            </a:r>
            <a:r>
              <a:rPr lang="it-IT" altLang="ko-KR" sz="2000">
                <a:solidFill>
                  <a:srgbClr val="1F2328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Krause A</a:t>
            </a:r>
            <a:r>
              <a:rPr lang="it-IT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altLang="ko-KR" sz="2000">
                <a:solidFill>
                  <a:srgbClr val="1F2328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Schoellig AP</a:t>
            </a:r>
            <a:r>
              <a:rPr lang="it-IT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Cited by: 284</a:t>
            </a:r>
          </a:p>
          <a:p>
            <a:endParaRPr lang="en-US" altLang="ko-KR" sz="200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Code: https://github.com/befelix/SafeOpt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A58B04-FEE8-4AFB-80E5-8B78B8124CA6}"/>
              </a:ext>
            </a:extLst>
          </p:cNvPr>
          <p:cNvSpPr txBox="1"/>
          <p:nvPr/>
        </p:nvSpPr>
        <p:spPr>
          <a:xfrm>
            <a:off x="537880" y="5828423"/>
            <a:ext cx="111162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코드 관련 형찬 코멘트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</a:p>
          <a:p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- document </a:t>
            </a:r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따로 있어서 이해하기 좋음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  <a:endParaRPr lang="ko-KR" altLang="en-US" sz="140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- docker </a:t>
            </a:r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환경 제공해줘서 편하긴 하지만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, docker </a:t>
            </a:r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사용법 알아야 함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  <a:endParaRPr lang="ko-KR" altLang="en-US" sz="140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- </a:t>
            </a:r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코드 유지되지 않고 있음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(</a:t>
            </a:r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옛날 코드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27872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2. List</a:t>
            </a:r>
            <a:endParaRPr lang="ko-KR" altLang="en-US" sz="3200" b="1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CC1C0-54A4-4064-9F06-2A79460398E3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2) Encouraging Safety and Robustness in Reinforcement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6E5212-8AB8-4722-8C90-A2D201F752DF}"/>
              </a:ext>
            </a:extLst>
          </p:cNvPr>
          <p:cNvSpPr txBox="1"/>
          <p:nvPr/>
        </p:nvSpPr>
        <p:spPr>
          <a:xfrm>
            <a:off x="537879" y="1839834"/>
            <a:ext cx="11116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latin typeface="times" panose="02020603050405020304" pitchFamily="18" charset="0"/>
                <a:cs typeface="times" panose="02020603050405020304" pitchFamily="18" charset="0"/>
              </a:rPr>
              <a:t>Sec 1. Safe exploration and optimization - 4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F04517C-6442-4AAB-8B8C-7695C073444B}"/>
              </a:ext>
            </a:extLst>
          </p:cNvPr>
          <p:cNvSpPr/>
          <p:nvPr/>
        </p:nvSpPr>
        <p:spPr>
          <a:xfrm>
            <a:off x="537880" y="3065203"/>
            <a:ext cx="957884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 RL: Safe reinforcement learning with learned recovery zones</a:t>
            </a:r>
            <a:r>
              <a:rPr lang="en-US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(RA-L, 2021)</a:t>
            </a:r>
          </a:p>
          <a:p>
            <a:r>
              <a:rPr lang="en-US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Author:</a:t>
            </a:r>
            <a:r>
              <a:rPr lang="ko-KR" alt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altLang="ko-KR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Thananjeyan</a:t>
            </a:r>
            <a:r>
              <a:rPr lang="it-IT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B, </a:t>
            </a:r>
            <a:r>
              <a:rPr lang="it-IT" altLang="ko-KR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Balakrishna</a:t>
            </a:r>
            <a:r>
              <a:rPr lang="it-IT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A, Nair </a:t>
            </a:r>
            <a:r>
              <a:rPr lang="it-IT" altLang="ko-KR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it-IT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altLang="ko-KR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Luo</a:t>
            </a:r>
            <a:r>
              <a:rPr lang="it-IT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M, </a:t>
            </a:r>
            <a:r>
              <a:rPr lang="it-IT" altLang="ko-KR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Srinivasan</a:t>
            </a:r>
            <a:r>
              <a:rPr lang="it-IT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K, et al.</a:t>
            </a:r>
          </a:p>
          <a:p>
            <a:r>
              <a:rPr lang="en-US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Cited by: 211</a:t>
            </a:r>
          </a:p>
          <a:p>
            <a:r>
              <a:rPr lang="en-US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Code: https://</a:t>
            </a:r>
            <a:r>
              <a:rPr lang="en-US" altLang="ko-KR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github.com</a:t>
            </a:r>
            <a:r>
              <a:rPr lang="en-US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/abalakrishna123/recovery-</a:t>
            </a:r>
            <a:r>
              <a:rPr lang="en-US" altLang="ko-KR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rl</a:t>
            </a:r>
            <a:endParaRPr lang="en-US" altLang="ko-KR" sz="20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BDE17E-6B33-41E4-AECC-5494605C100E}"/>
              </a:ext>
            </a:extLst>
          </p:cNvPr>
          <p:cNvSpPr txBox="1"/>
          <p:nvPr/>
        </p:nvSpPr>
        <p:spPr>
          <a:xfrm>
            <a:off x="537880" y="5213901"/>
            <a:ext cx="11116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코드 관련 형찬 코멘트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</a:p>
          <a:p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- document </a:t>
            </a:r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없어서 코드 분석하기 어려움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  <a:endParaRPr lang="ko-KR" altLang="en-US" sz="140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260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2. List</a:t>
            </a:r>
            <a:endParaRPr lang="ko-KR" altLang="en-US" sz="3200" b="1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CC1C0-54A4-4064-9F06-2A79460398E3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2) Encouraging Safety and Robustness in Reinforcement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6E5212-8AB8-4722-8C90-A2D201F752DF}"/>
              </a:ext>
            </a:extLst>
          </p:cNvPr>
          <p:cNvSpPr txBox="1"/>
          <p:nvPr/>
        </p:nvSpPr>
        <p:spPr>
          <a:xfrm>
            <a:off x="537880" y="1839834"/>
            <a:ext cx="11116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latin typeface="times" panose="02020603050405020304" pitchFamily="18" charset="0"/>
                <a:cs typeface="times" panose="02020603050405020304" pitchFamily="18" charset="0"/>
              </a:rPr>
              <a:t>Sec 1. Safe exploration and optimization - 5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F04517C-6442-4AAB-8B8C-7695C073444B}"/>
              </a:ext>
            </a:extLst>
          </p:cNvPr>
          <p:cNvSpPr/>
          <p:nvPr/>
        </p:nvSpPr>
        <p:spPr>
          <a:xfrm>
            <a:off x="537880" y="3065203"/>
            <a:ext cx="8570744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Conservative Q-Learning for Offline Reinforcement Learning</a:t>
            </a:r>
            <a:r>
              <a:rPr lang="en-US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(NIPS, 2020)</a:t>
            </a:r>
          </a:p>
          <a:p>
            <a:r>
              <a:rPr lang="en-US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Author:</a:t>
            </a:r>
            <a:r>
              <a:rPr lang="ko-KR" alt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Kumar A, Zhou A, Tucker </a:t>
            </a:r>
            <a:r>
              <a:rPr lang="pt-BR" altLang="ko-KR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pt-BR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Levine S.</a:t>
            </a:r>
          </a:p>
          <a:p>
            <a:r>
              <a:rPr lang="en-US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Cited by: 1598</a:t>
            </a:r>
          </a:p>
          <a:p>
            <a:r>
              <a:rPr lang="en-US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Code: https://</a:t>
            </a:r>
            <a:r>
              <a:rPr lang="en-US" altLang="ko-KR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github.com</a:t>
            </a:r>
            <a:r>
              <a:rPr lang="en-US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/aviralkumar2907/CQL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CABDE5-9C6F-4252-8AFD-252DCE926C6F}"/>
              </a:ext>
            </a:extLst>
          </p:cNvPr>
          <p:cNvSpPr txBox="1"/>
          <p:nvPr/>
        </p:nvSpPr>
        <p:spPr>
          <a:xfrm>
            <a:off x="537880" y="5213901"/>
            <a:ext cx="11116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코드 관련 형찬 코멘트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</a:p>
          <a:p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- rlkit, d4rl </a:t>
            </a:r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프레임워크 사용해서 좋음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(</a:t>
            </a:r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잘 알려져서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)</a:t>
            </a:r>
            <a:endParaRPr lang="ko-KR" altLang="en-US" sz="140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80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2. List</a:t>
            </a:r>
            <a:endParaRPr lang="ko-KR" altLang="en-US" sz="3200" b="1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CC1C0-54A4-4064-9F06-2A79460398E3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2) Encouraging Safety and Robustness in Reinforcement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6E5212-8AB8-4722-8C90-A2D201F752DF}"/>
              </a:ext>
            </a:extLst>
          </p:cNvPr>
          <p:cNvSpPr txBox="1"/>
          <p:nvPr/>
        </p:nvSpPr>
        <p:spPr>
          <a:xfrm>
            <a:off x="537880" y="1839834"/>
            <a:ext cx="11116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latin typeface="times" panose="02020603050405020304" pitchFamily="18" charset="0"/>
                <a:cs typeface="times" panose="02020603050405020304" pitchFamily="18" charset="0"/>
              </a:rPr>
              <a:t>Sec 3. Constrained MDP and RL - 1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E2A81FA-036C-4D3A-ADA4-2B74CD65DEE5}"/>
              </a:ext>
            </a:extLst>
          </p:cNvPr>
          <p:cNvSpPr/>
          <p:nvPr/>
        </p:nvSpPr>
        <p:spPr>
          <a:xfrm>
            <a:off x="537880" y="3065203"/>
            <a:ext cx="5678734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 Constrained Policy Optimization (ICML, 2017)</a:t>
            </a:r>
          </a:p>
          <a:p>
            <a:r>
              <a:rPr lang="en-US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Author: </a:t>
            </a:r>
            <a:r>
              <a:rPr lang="en-US" altLang="ko-KR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Achiam</a:t>
            </a:r>
            <a:r>
              <a:rPr lang="en-US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J, Held D, Tamar A, </a:t>
            </a:r>
            <a:r>
              <a:rPr lang="en-US" altLang="ko-KR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Abbeel</a:t>
            </a:r>
            <a:r>
              <a:rPr lang="en-US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P.</a:t>
            </a:r>
          </a:p>
          <a:p>
            <a:r>
              <a:rPr lang="en-US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Cited by: 1422</a:t>
            </a:r>
          </a:p>
          <a:p>
            <a:r>
              <a:rPr lang="en-US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Code: https://</a:t>
            </a:r>
            <a:r>
              <a:rPr lang="en-US" altLang="ko-KR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github.com</a:t>
            </a:r>
            <a:r>
              <a:rPr lang="en-US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jachiam</a:t>
            </a:r>
            <a:r>
              <a:rPr lang="en-US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cpo</a:t>
            </a:r>
            <a:endParaRPr lang="en-US" altLang="ko-KR" sz="20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36CFC6-611E-4A7B-903C-0ED9AC8CE69F}"/>
              </a:ext>
            </a:extLst>
          </p:cNvPr>
          <p:cNvSpPr txBox="1"/>
          <p:nvPr/>
        </p:nvSpPr>
        <p:spPr>
          <a:xfrm>
            <a:off x="537880" y="5213901"/>
            <a:ext cx="11116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코드 관련 형찬 코멘트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</a:p>
          <a:p>
            <a:r>
              <a:rPr lang="en-US" altLang="ko-KR" sz="1400">
                <a:highlight>
                  <a:srgbClr val="FFFF00"/>
                </a:highlight>
                <a:latin typeface="times" panose="02020603050405020304" pitchFamily="18" charset="0"/>
                <a:cs typeface="times" panose="02020603050405020304" pitchFamily="18" charset="0"/>
              </a:rPr>
              <a:t>- rllab </a:t>
            </a:r>
            <a:r>
              <a:rPr lang="ko-KR" altLang="en-US" sz="1400">
                <a:highlight>
                  <a:srgbClr val="FFFF00"/>
                </a:highlight>
                <a:latin typeface="times" panose="02020603050405020304" pitchFamily="18" charset="0"/>
                <a:cs typeface="times" panose="02020603050405020304" pitchFamily="18" charset="0"/>
              </a:rPr>
              <a:t>프레임워크 사용해서 좋음</a:t>
            </a:r>
            <a:r>
              <a:rPr lang="en-US" altLang="ko-KR" sz="1400">
                <a:highlight>
                  <a:srgbClr val="FFFF00"/>
                </a:highlight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  <a:r>
              <a:rPr lang="ko-KR" altLang="en-US" sz="1400">
                <a:highlight>
                  <a:srgbClr val="FFFF00"/>
                </a:highlight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ko-KR" sz="1400">
                <a:highlight>
                  <a:srgbClr val="FFFF00"/>
                </a:highlight>
                <a:latin typeface="times" panose="02020603050405020304" pitchFamily="18" charset="0"/>
                <a:cs typeface="times" panose="02020603050405020304" pitchFamily="18" charset="0"/>
              </a:rPr>
              <a:t>(</a:t>
            </a:r>
            <a:r>
              <a:rPr lang="ko-KR" altLang="en-US" sz="1400">
                <a:highlight>
                  <a:srgbClr val="FFFF00"/>
                </a:highlight>
                <a:latin typeface="times" panose="02020603050405020304" pitchFamily="18" charset="0"/>
                <a:cs typeface="times" panose="02020603050405020304" pitchFamily="18" charset="0"/>
              </a:rPr>
              <a:t>잘 알려져서</a:t>
            </a:r>
            <a:r>
              <a:rPr lang="en-US" altLang="ko-KR" sz="1400">
                <a:highlight>
                  <a:srgbClr val="FFFF00"/>
                </a:highlight>
                <a:latin typeface="times" panose="02020603050405020304" pitchFamily="18" charset="0"/>
                <a:cs typeface="times" panose="02020603050405020304" pitchFamily="18" charset="0"/>
              </a:rPr>
              <a:t>)</a:t>
            </a:r>
            <a:endParaRPr lang="ko-KR" altLang="en-US" sz="1400">
              <a:highlight>
                <a:srgbClr val="FFFF00"/>
              </a:highlight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751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2. List</a:t>
            </a:r>
            <a:endParaRPr lang="ko-KR" altLang="en-US" sz="3200" b="1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CC1C0-54A4-4064-9F06-2A79460398E3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2) Encouraging Safety and Robustness in Reinforcement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6E5212-8AB8-4722-8C90-A2D201F752DF}"/>
              </a:ext>
            </a:extLst>
          </p:cNvPr>
          <p:cNvSpPr txBox="1"/>
          <p:nvPr/>
        </p:nvSpPr>
        <p:spPr>
          <a:xfrm>
            <a:off x="537880" y="1839834"/>
            <a:ext cx="11116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latin typeface="times" panose="02020603050405020304" pitchFamily="18" charset="0"/>
                <a:cs typeface="times" panose="02020603050405020304" pitchFamily="18" charset="0"/>
              </a:rPr>
              <a:t>Sec 4. Robust MDP and RL - 1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43D37E-4BE1-4C6C-BBF1-292C3FF72E73}"/>
              </a:ext>
            </a:extLst>
          </p:cNvPr>
          <p:cNvSpPr/>
          <p:nvPr/>
        </p:nvSpPr>
        <p:spPr>
          <a:xfrm>
            <a:off x="537880" y="3065203"/>
            <a:ext cx="6521337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 Active domain randomization (</a:t>
            </a:r>
            <a:r>
              <a:rPr lang="en-US" altLang="ko-KR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CoRL</a:t>
            </a:r>
            <a:r>
              <a:rPr lang="en-US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2020)</a:t>
            </a:r>
          </a:p>
          <a:p>
            <a:r>
              <a:rPr lang="en-US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Author: Mehta B, Diaz M, </a:t>
            </a:r>
            <a:r>
              <a:rPr lang="en-US" altLang="ko-KR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Golemo</a:t>
            </a:r>
            <a:r>
              <a:rPr lang="en-US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F, Pal CJ, Paull L.</a:t>
            </a:r>
          </a:p>
          <a:p>
            <a:r>
              <a:rPr lang="en-US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Cited by: 244</a:t>
            </a:r>
          </a:p>
          <a:p>
            <a:r>
              <a:rPr lang="en-US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Code: https://</a:t>
            </a:r>
            <a:r>
              <a:rPr lang="en-US" altLang="ko-KR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github.com</a:t>
            </a:r>
            <a:r>
              <a:rPr lang="en-US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montrealrobotics</a:t>
            </a:r>
            <a:r>
              <a:rPr lang="en-US" altLang="ko-KR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/active-</a:t>
            </a:r>
            <a:r>
              <a:rPr lang="en-US" altLang="ko-KR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domainrand</a:t>
            </a:r>
            <a:endParaRPr lang="en-US" altLang="ko-KR" sz="20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99F866-10CD-487D-ACA1-242738415618}"/>
              </a:ext>
            </a:extLst>
          </p:cNvPr>
          <p:cNvSpPr txBox="1"/>
          <p:nvPr/>
        </p:nvSpPr>
        <p:spPr>
          <a:xfrm>
            <a:off x="537880" y="5213901"/>
            <a:ext cx="11116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코드 관련 형찬 코멘트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</a:p>
          <a:p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- </a:t>
            </a:r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설치 안내 문서가 부족해서 환경설정 어려울 수도 있음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  <a:endParaRPr lang="ko-KR" altLang="en-US" sz="140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935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2. List</a:t>
            </a:r>
            <a:endParaRPr lang="ko-KR" altLang="en-US" sz="3200" b="1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CC1C0-54A4-4064-9F06-2A79460398E3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3) Certifying Learning-Based Control Under Dynamics Uncertainty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6E5212-8AB8-4722-8C90-A2D201F752DF}"/>
              </a:ext>
            </a:extLst>
          </p:cNvPr>
          <p:cNvSpPr txBox="1"/>
          <p:nvPr/>
        </p:nvSpPr>
        <p:spPr>
          <a:xfrm>
            <a:off x="537880" y="1839834"/>
            <a:ext cx="11116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atin typeface="times" panose="02020603050405020304" pitchFamily="18" charset="0"/>
                <a:cs typeface="times" panose="02020603050405020304" pitchFamily="18" charset="0"/>
              </a:rPr>
              <a:t>Sec 1. Stability certification</a:t>
            </a:r>
          </a:p>
          <a:p>
            <a:r>
              <a:rPr lang="en-US" altLang="ko-KR" sz="2000">
                <a:latin typeface="times" panose="02020603050405020304" pitchFamily="18" charset="0"/>
                <a:cs typeface="times" panose="02020603050405020304" pitchFamily="18" charset="0"/>
              </a:rPr>
              <a:t>Sec 2. Constraint set certification</a:t>
            </a:r>
          </a:p>
        </p:txBody>
      </p:sp>
    </p:spTree>
    <p:extLst>
      <p:ext uri="{BB962C8B-B14F-4D97-AF65-F5344CB8AC3E}">
        <p14:creationId xmlns:p14="http://schemas.microsoft.com/office/powerpoint/2010/main" val="3906631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2. List</a:t>
            </a:r>
            <a:endParaRPr lang="ko-KR" altLang="en-US" sz="3200" b="1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CC1C0-54A4-4064-9F06-2A79460398E3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3) Certifying Learning-Based Control Under Dynamics Uncertainty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6E5212-8AB8-4722-8C90-A2D201F752DF}"/>
              </a:ext>
            </a:extLst>
          </p:cNvPr>
          <p:cNvSpPr txBox="1"/>
          <p:nvPr/>
        </p:nvSpPr>
        <p:spPr>
          <a:xfrm>
            <a:off x="537880" y="1839834"/>
            <a:ext cx="11116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latin typeface="times" panose="02020603050405020304" pitchFamily="18" charset="0"/>
                <a:cs typeface="times" panose="02020603050405020304" pitchFamily="18" charset="0"/>
              </a:rPr>
              <a:t>Sec 1. Stability certification - 1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E790873-4315-4662-AB42-D0E8E9CEFF86}"/>
              </a:ext>
            </a:extLst>
          </p:cNvPr>
          <p:cNvSpPr/>
          <p:nvPr/>
        </p:nvSpPr>
        <p:spPr>
          <a:xfrm>
            <a:off x="537880" y="2911314"/>
            <a:ext cx="7130157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 The Lyapunov neural network: Adaptive stability certification</a:t>
            </a:r>
          </a:p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for safe learning of dynamical systems(CoRL, 2018)</a:t>
            </a:r>
          </a:p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Author: Richards SM, Berkenkamp F, </a:t>
            </a:r>
            <a:r>
              <a:rPr lang="en-US" altLang="ko-KR" sz="2000">
                <a:solidFill>
                  <a:srgbClr val="1F2328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Krause A</a:t>
            </a:r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Cited by: 262</a:t>
            </a:r>
          </a:p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Code: https://github.com/befelix/safe_learning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C582C7-0523-4611-9A2E-C5E58F81EA97}"/>
              </a:ext>
            </a:extLst>
          </p:cNvPr>
          <p:cNvSpPr txBox="1"/>
          <p:nvPr/>
        </p:nvSpPr>
        <p:spPr>
          <a:xfrm>
            <a:off x="537880" y="5213901"/>
            <a:ext cx="111162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코드 관련 형찬 코멘트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</a:p>
          <a:p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- example notebook </a:t>
            </a:r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파일 있어서 이해하기 좋음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  <a:endParaRPr lang="ko-KR" altLang="en-US" sz="140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- docker </a:t>
            </a:r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환경 제공해줘서 편하긴 하지만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, docker </a:t>
            </a:r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사용법 알아야 함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  <a:endParaRPr lang="ko-KR" altLang="en-US" sz="140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300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2. List</a:t>
            </a:r>
            <a:endParaRPr lang="ko-KR" altLang="en-US" sz="3200" b="1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CC1C0-54A4-4064-9F06-2A79460398E3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3) Certifying Learning-Based Control Under Dynamics Uncertainty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6E5212-8AB8-4722-8C90-A2D201F752DF}"/>
              </a:ext>
            </a:extLst>
          </p:cNvPr>
          <p:cNvSpPr txBox="1"/>
          <p:nvPr/>
        </p:nvSpPr>
        <p:spPr>
          <a:xfrm>
            <a:off x="537880" y="1839834"/>
            <a:ext cx="11116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>
                <a:latin typeface="times" panose="02020603050405020304" pitchFamily="18" charset="0"/>
                <a:cs typeface="times" panose="02020603050405020304" pitchFamily="18" charset="0"/>
              </a:rPr>
              <a:t>Sec 2. Constraint set certification - 2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A5ABDE9-D6AE-451C-A654-395F35DBFFE5}"/>
              </a:ext>
            </a:extLst>
          </p:cNvPr>
          <p:cNvSpPr/>
          <p:nvPr/>
        </p:nvSpPr>
        <p:spPr>
          <a:xfrm>
            <a:off x="537880" y="2911314"/>
            <a:ext cx="7445243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 End-to-end safe reinforcement learning through barrier functions</a:t>
            </a:r>
            <a:b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for safety-critical continuous control tasks (AAAI, 2019)</a:t>
            </a:r>
          </a:p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Author: Cheng R, Orosz G, Murray RM, Burdick JW.</a:t>
            </a:r>
          </a:p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Cited by: 628</a:t>
            </a:r>
          </a:p>
          <a:p>
            <a:r>
              <a:rPr lang="en-US" altLang="ko-KR" sz="200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Code: https://github.com/rcheng805/RL-CBF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394430-0412-446B-B38A-214518ADA76A}"/>
              </a:ext>
            </a:extLst>
          </p:cNvPr>
          <p:cNvSpPr txBox="1"/>
          <p:nvPr/>
        </p:nvSpPr>
        <p:spPr>
          <a:xfrm>
            <a:off x="537880" y="5213901"/>
            <a:ext cx="111162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코드 관련 형찬 코멘트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:</a:t>
            </a:r>
          </a:p>
          <a:p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- matlab </a:t>
            </a:r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코드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  <a:endParaRPr lang="ko-KR" altLang="en-US" sz="140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- </a:t>
            </a:r>
            <a:r>
              <a:rPr lang="ko-KR" altLang="en-US" sz="1400">
                <a:latin typeface="times" panose="02020603050405020304" pitchFamily="18" charset="0"/>
                <a:cs typeface="times" panose="02020603050405020304" pitchFamily="18" charset="0"/>
              </a:rPr>
              <a:t>문서가 불친절해서 환경 구현 어려울 수도 있음</a:t>
            </a:r>
            <a:r>
              <a:rPr lang="en-US" altLang="ko-KR" sz="140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  <a:endParaRPr lang="ko-KR" altLang="en-US" sz="140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408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3835</TotalTime>
  <Words>1319</Words>
  <Application>Microsoft Macintosh PowerPoint</Application>
  <PresentationFormat>와이드스크린</PresentationFormat>
  <Paragraphs>171</Paragraphs>
  <Slides>18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맑은 고딕</vt:lpstr>
      <vt:lpstr>times</vt:lpstr>
      <vt:lpstr>Arial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Cislab</dc:creator>
  <cp:lastModifiedBy>한의석</cp:lastModifiedBy>
  <cp:revision>297</cp:revision>
  <dcterms:created xsi:type="dcterms:W3CDTF">2024-03-20T12:59:50Z</dcterms:created>
  <dcterms:modified xsi:type="dcterms:W3CDTF">2024-07-04T04:27:17Z</dcterms:modified>
</cp:coreProperties>
</file>