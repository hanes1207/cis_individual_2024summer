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6" r:id="rId3"/>
    <p:sldId id="277" r:id="rId4"/>
    <p:sldId id="267" r:id="rId5"/>
    <p:sldId id="278" r:id="rId6"/>
    <p:sldId id="287" r:id="rId7"/>
    <p:sldId id="288" r:id="rId8"/>
    <p:sldId id="289" r:id="rId9"/>
    <p:sldId id="290" r:id="rId10"/>
    <p:sldId id="293" r:id="rId11"/>
    <p:sldId id="294" r:id="rId12"/>
    <p:sldId id="291" r:id="rId13"/>
    <p:sldId id="292" r:id="rId14"/>
    <p:sldId id="284" r:id="rId15"/>
    <p:sldId id="286" r:id="rId16"/>
    <p:sldId id="28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/>
    <p:restoredTop sz="85385"/>
  </p:normalViewPr>
  <p:slideViewPr>
    <p:cSldViewPr snapToGrid="0">
      <p:cViewPr varScale="1">
        <p:scale>
          <a:sx n="95" d="100"/>
          <a:sy n="95" d="100"/>
        </p:scale>
        <p:origin x="1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791A7-645A-A04A-9B50-DC84766CD819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76A18-59B2-AA43-B729-88A3D630DD0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919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5306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policy evaluation 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Q-value maximization term </a:t>
            </a:r>
            <a:r>
              <a:rPr kumimoji="1" lang="ko-KR" altLang="en-US" dirty="0"/>
              <a:t>을 추가함으로써 </a:t>
            </a:r>
            <a:r>
              <a:rPr kumimoji="1" lang="en-US" altLang="ko-KR" dirty="0"/>
              <a:t>true 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tight</a:t>
            </a:r>
            <a:r>
              <a:rPr kumimoji="1" lang="ko-KR" altLang="en-US" dirty="0"/>
              <a:t>하게 </a:t>
            </a:r>
            <a:r>
              <a:rPr kumimoji="1" lang="en-US" altLang="ko-KR" dirty="0"/>
              <a:t>bound</a:t>
            </a:r>
            <a:r>
              <a:rPr kumimoji="1" lang="ko-KR" altLang="en-US" dirty="0"/>
              <a:t>할 수 있음을 보였고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283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여기에 </a:t>
            </a:r>
            <a:r>
              <a:rPr kumimoji="1" lang="en-US" altLang="ko-KR" dirty="0"/>
              <a:t>policy improvement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동시에 진행하면서 </a:t>
            </a:r>
            <a:r>
              <a:rPr kumimoji="1" lang="en-US" altLang="ko-KR" dirty="0" err="1"/>
              <a:t>regularlizer</a:t>
            </a:r>
            <a:r>
              <a:rPr kumimoji="1" lang="ko-KR" altLang="en-US" dirty="0"/>
              <a:t>까지 추가한 게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이었다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6862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이때 </a:t>
            </a:r>
            <a:r>
              <a:rPr kumimoji="1" lang="en-US" altLang="ko-KR" dirty="0"/>
              <a:t>prior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uniform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선택하면 </a:t>
            </a:r>
            <a:r>
              <a:rPr kumimoji="1" lang="en-US" altLang="ko-KR" dirty="0"/>
              <a:t>CQL(H).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9614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previous policy pi^k-1</a:t>
            </a:r>
            <a:r>
              <a:rPr kumimoji="1" lang="ko-KR" altLang="en-US" dirty="0"/>
              <a:t>로 선택하면 </a:t>
            </a:r>
            <a:r>
              <a:rPr kumimoji="1" lang="en-US" altLang="ko-KR" dirty="0"/>
              <a:t>CQL(rho)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불렀다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6698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이제부터 실험 결과를 살펴보겠다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논문에서는 먼저 </a:t>
            </a:r>
            <a:r>
              <a:rPr kumimoji="1" lang="en-US" altLang="ko-KR" dirty="0"/>
              <a:t>gym domain</a:t>
            </a:r>
            <a:r>
              <a:rPr kumimoji="1" lang="ko-KR" altLang="en-US" dirty="0"/>
              <a:t>의 세 </a:t>
            </a:r>
            <a:r>
              <a:rPr kumimoji="1" lang="en-US" altLang="ko-KR" dirty="0"/>
              <a:t>task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실험을 진행하여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기존의 </a:t>
            </a:r>
            <a:r>
              <a:rPr kumimoji="1" lang="en-US" altLang="ko-KR" dirty="0"/>
              <a:t>offline RL method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SAC, BEAR, BRAC, BC</a:t>
            </a:r>
            <a:r>
              <a:rPr kumimoji="1" lang="ko-KR" altLang="en-US" dirty="0"/>
              <a:t>와 결과를 비교하였다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BEAR</a:t>
            </a:r>
            <a:r>
              <a:rPr kumimoji="1" lang="ko-KR" altLang="en-US" dirty="0"/>
              <a:t>은</a:t>
            </a:r>
            <a:r>
              <a:rPr kumimoji="1" lang="en-US" altLang="ko-KR" dirty="0"/>
              <a:t>~</a:t>
            </a:r>
          </a:p>
          <a:p>
            <a:r>
              <a:rPr kumimoji="1" lang="en-US" altLang="ko-KR" dirty="0"/>
              <a:t>BRAC</a:t>
            </a:r>
            <a:r>
              <a:rPr kumimoji="1" lang="ko-KR" altLang="en-US" dirty="0"/>
              <a:t>는</a:t>
            </a:r>
            <a:r>
              <a:rPr kumimoji="1" lang="en-US" altLang="ko-KR" dirty="0"/>
              <a:t>~</a:t>
            </a:r>
          </a:p>
          <a:p>
            <a:r>
              <a:rPr kumimoji="1" lang="en-US" altLang="ko-KR" dirty="0"/>
              <a:t>BC</a:t>
            </a:r>
            <a:r>
              <a:rPr kumimoji="1" lang="ko-KR" altLang="en-US" dirty="0"/>
              <a:t>는</a:t>
            </a:r>
            <a:r>
              <a:rPr kumimoji="1" lang="en-US" altLang="ko-KR" dirty="0"/>
              <a:t>~</a:t>
            </a:r>
          </a:p>
          <a:p>
            <a:r>
              <a:rPr kumimoji="1" lang="en-US" altLang="ko-KR" dirty="0"/>
              <a:t>SAC</a:t>
            </a:r>
            <a:r>
              <a:rPr kumimoji="1" lang="ko-KR" altLang="en-US" dirty="0"/>
              <a:t>는</a:t>
            </a:r>
            <a:r>
              <a:rPr kumimoji="1" lang="en-US" altLang="ko-KR" dirty="0"/>
              <a:t>~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4874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이때 </a:t>
            </a:r>
            <a:r>
              <a:rPr kumimoji="1" lang="en-US" altLang="ko-KR" dirty="0"/>
              <a:t>dataset</a:t>
            </a:r>
            <a:r>
              <a:rPr kumimoji="1" lang="ko-KR" altLang="en-US" dirty="0"/>
              <a:t>을 수집할 때 사용한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이렇게 </a:t>
            </a:r>
            <a:r>
              <a:rPr kumimoji="1" lang="ko-KR" altLang="en-US" dirty="0" err="1"/>
              <a:t>표시해뒀다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이렇게 뒤에 </a:t>
            </a:r>
            <a:r>
              <a:rPr kumimoji="1" lang="ko-KR" altLang="en-US" dirty="0" err="1"/>
              <a:t>한개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달려있는건</a:t>
            </a:r>
            <a:r>
              <a:rPr kumimoji="1" lang="ko-KR" altLang="en-US" dirty="0"/>
              <a:t> </a:t>
            </a:r>
            <a:r>
              <a:rPr kumimoji="1" lang="en-US" altLang="ko-KR" dirty="0"/>
              <a:t>single policy, </a:t>
            </a:r>
            <a:r>
              <a:rPr kumimoji="1" lang="ko-KR" altLang="en-US" dirty="0"/>
              <a:t>두개 </a:t>
            </a:r>
            <a:r>
              <a:rPr kumimoji="1" lang="ko-KR" altLang="en-US" dirty="0" err="1"/>
              <a:t>달려있는건</a:t>
            </a:r>
            <a:r>
              <a:rPr kumimoji="1" lang="ko-KR" altLang="en-US" dirty="0"/>
              <a:t> </a:t>
            </a:r>
            <a:r>
              <a:rPr kumimoji="1" lang="en-US" altLang="ko-KR" dirty="0"/>
              <a:t>multiple policies</a:t>
            </a:r>
            <a:r>
              <a:rPr kumimoji="1" lang="ko-KR" altLang="en-US" dirty="0"/>
              <a:t>가 사용된 경우다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결과를 보면 </a:t>
            </a:r>
            <a:r>
              <a:rPr kumimoji="1" lang="en-US" altLang="ko-KR" dirty="0"/>
              <a:t>multiple policies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이 다른 </a:t>
            </a:r>
            <a:r>
              <a:rPr kumimoji="1" lang="en-US" altLang="ko-KR" dirty="0"/>
              <a:t>method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비해 </a:t>
            </a:r>
            <a:r>
              <a:rPr kumimoji="1" lang="en-US" altLang="ko-KR" dirty="0"/>
              <a:t>2~3</a:t>
            </a:r>
            <a:r>
              <a:rPr kumimoji="1" lang="ko-KR" altLang="en-US" dirty="0"/>
              <a:t>배 더 좋은 </a:t>
            </a:r>
            <a:r>
              <a:rPr kumimoji="1" lang="en-US" altLang="ko-KR" dirty="0"/>
              <a:t>performance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보여줌을 확인할 수 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practical dataset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multiple policy</a:t>
            </a:r>
            <a:r>
              <a:rPr kumimoji="1" lang="ko-KR" altLang="en-US" dirty="0"/>
              <a:t>의 경우가 더 많기 때문에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이 장점을 가진다고 할 수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왜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4625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다음은 </a:t>
            </a:r>
            <a:r>
              <a:rPr kumimoji="1" lang="en-US" altLang="ko-KR" dirty="0"/>
              <a:t>Adroit, </a:t>
            </a:r>
            <a:r>
              <a:rPr kumimoji="1" lang="en-US" altLang="ko-KR" dirty="0" err="1"/>
              <a:t>Antmaze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FrankKitchen</a:t>
            </a:r>
            <a:r>
              <a:rPr kumimoji="1" lang="ko-KR" altLang="en-US" dirty="0"/>
              <a:t> </a:t>
            </a:r>
            <a:r>
              <a:rPr kumimoji="1" lang="en-US" altLang="ko-KR" dirty="0"/>
              <a:t>task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기존의 </a:t>
            </a:r>
            <a:r>
              <a:rPr kumimoji="1" lang="en-US" altLang="ko-KR" dirty="0"/>
              <a:t>method</a:t>
            </a:r>
            <a:r>
              <a:rPr kumimoji="1" lang="ko-KR" altLang="en-US" dirty="0"/>
              <a:t>들과 </a:t>
            </a:r>
            <a:r>
              <a:rPr kumimoji="1" lang="en-US" altLang="ko-KR" dirty="0"/>
              <a:t>CQL(H), </a:t>
            </a:r>
            <a:r>
              <a:rPr kumimoji="1" lang="ko-KR" altLang="en-US" dirty="0"/>
              <a:t>그리고 </a:t>
            </a:r>
            <a:r>
              <a:rPr kumimoji="1" lang="en-US" altLang="ko-KR" dirty="0"/>
              <a:t>CQL(rho)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비교한 표이다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 </a:t>
            </a:r>
            <a:r>
              <a:rPr kumimoji="1" lang="en-US" altLang="ko-KR" dirty="0"/>
              <a:t>task</a:t>
            </a:r>
            <a:r>
              <a:rPr kumimoji="1" lang="ko-KR" altLang="en-US" dirty="0"/>
              <a:t>들은 </a:t>
            </a:r>
            <a:r>
              <a:rPr kumimoji="1" lang="en-US" altLang="ko-KR" dirty="0"/>
              <a:t>gym task </a:t>
            </a:r>
            <a:r>
              <a:rPr kumimoji="1" lang="ko-KR" altLang="en-US" dirty="0"/>
              <a:t>들보다 </a:t>
            </a:r>
            <a:r>
              <a:rPr kumimoji="1" lang="en-US" altLang="ko-KR" dirty="0"/>
              <a:t>dataset</a:t>
            </a:r>
            <a:r>
              <a:rPr kumimoji="1" lang="ko-KR" altLang="en-US" dirty="0"/>
              <a:t>의 구성과 </a:t>
            </a:r>
            <a:r>
              <a:rPr kumimoji="1" lang="en-US" altLang="ko-KR" dirty="0"/>
              <a:t>dimensionality</a:t>
            </a:r>
            <a:r>
              <a:rPr kumimoji="1" lang="ko-KR" altLang="en-US" dirty="0"/>
              <a:t>에서 더 복잡한 </a:t>
            </a:r>
            <a:r>
              <a:rPr kumimoji="1" lang="en-US" altLang="ko-KR" dirty="0"/>
              <a:t>task</a:t>
            </a:r>
            <a:r>
              <a:rPr kumimoji="1" lang="ko-KR" altLang="en-US" dirty="0"/>
              <a:t>들이다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기존의 </a:t>
            </a:r>
            <a:r>
              <a:rPr kumimoji="1" lang="en-US" altLang="ko-KR" dirty="0"/>
              <a:t>offline RL method</a:t>
            </a:r>
            <a:r>
              <a:rPr kumimoji="1" lang="ko-KR" altLang="en-US" dirty="0"/>
              <a:t>들은 </a:t>
            </a:r>
            <a:r>
              <a:rPr kumimoji="1" lang="en-US" altLang="ko-KR" dirty="0"/>
              <a:t>BC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제외하고는 </a:t>
            </a:r>
            <a:r>
              <a:rPr kumimoji="1" lang="en-US" altLang="ko-KR" dirty="0"/>
              <a:t>0</a:t>
            </a:r>
            <a:r>
              <a:rPr kumimoji="1" lang="ko-KR" altLang="en-US" dirty="0"/>
              <a:t>혹은 </a:t>
            </a:r>
            <a:r>
              <a:rPr kumimoji="1" lang="en-US" altLang="ko-KR" dirty="0"/>
              <a:t>0</a:t>
            </a:r>
            <a:r>
              <a:rPr kumimoji="1" lang="ko-KR" altLang="en-US" dirty="0"/>
              <a:t>보다 작은 </a:t>
            </a:r>
            <a:r>
              <a:rPr kumimoji="1" lang="en-US" altLang="ko-KR" dirty="0"/>
              <a:t>return</a:t>
            </a:r>
            <a:r>
              <a:rPr kumimoji="1" lang="ko-KR" altLang="en-US" dirty="0"/>
              <a:t> 등 유의미한 결과를 보여주지 못하지만</a:t>
            </a:r>
            <a:r>
              <a:rPr kumimoji="1" lang="en-US" altLang="ko-KR" dirty="0"/>
              <a:t>, CQL</a:t>
            </a:r>
            <a:r>
              <a:rPr kumimoji="1" lang="ko-KR" altLang="en-US" dirty="0"/>
              <a:t>은 대부분의 </a:t>
            </a:r>
            <a:r>
              <a:rPr kumimoji="1" lang="en-US" altLang="ko-KR" dirty="0"/>
              <a:t>task</a:t>
            </a:r>
            <a:r>
              <a:rPr kumimoji="1" lang="ko-KR" altLang="en-US" dirty="0"/>
              <a:t>에서 유의미한 결과를 보여주고</a:t>
            </a:r>
            <a:r>
              <a:rPr kumimoji="1" lang="en-US" altLang="ko-KR" dirty="0"/>
              <a:t>, BC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능가한 유일한 </a:t>
            </a:r>
            <a:r>
              <a:rPr kumimoji="1" lang="en-US" altLang="ko-KR" dirty="0"/>
              <a:t>method</a:t>
            </a:r>
            <a:r>
              <a:rPr kumimoji="1" lang="ko-KR" altLang="en-US" dirty="0"/>
              <a:t>였다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그리고 </a:t>
            </a:r>
            <a:r>
              <a:rPr kumimoji="1" lang="en-US" altLang="ko-KR" dirty="0"/>
              <a:t>large scale</a:t>
            </a:r>
            <a:r>
              <a:rPr kumimoji="1" lang="ko-KR" altLang="en-US" dirty="0"/>
              <a:t>을 다루는 </a:t>
            </a:r>
            <a:r>
              <a:rPr kumimoji="1" lang="en-US" altLang="ko-KR" dirty="0"/>
              <a:t>Adroit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한해서는 </a:t>
            </a:r>
            <a:r>
              <a:rPr kumimoji="1" lang="en-US" altLang="ko-KR" dirty="0"/>
              <a:t>CQL(rho)</a:t>
            </a:r>
            <a:r>
              <a:rPr kumimoji="1" lang="ko-KR" altLang="en-US" dirty="0"/>
              <a:t>가</a:t>
            </a:r>
            <a:r>
              <a:rPr kumimoji="1" lang="en-US" altLang="ko-KR" dirty="0"/>
              <a:t> CQL(H)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능가하는 성능을 보였다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911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세번째로 </a:t>
            </a:r>
            <a:r>
              <a:rPr kumimoji="1" lang="en-US" altLang="ko-KR" dirty="0"/>
              <a:t>Atari </a:t>
            </a:r>
            <a:r>
              <a:rPr kumimoji="1" lang="ko-KR" altLang="en-US" dirty="0"/>
              <a:t>게임들에 대해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REM, QR-DQN</a:t>
            </a:r>
            <a:r>
              <a:rPr kumimoji="1" lang="ko-KR" altLang="en-US" dirty="0"/>
              <a:t>의 퍼포먼스를 비교하였다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rem</a:t>
            </a:r>
            <a:r>
              <a:rPr kumimoji="1" lang="ko-KR" altLang="en-US" dirty="0"/>
              <a:t>은</a:t>
            </a:r>
            <a:r>
              <a:rPr kumimoji="1" lang="en-US" altLang="ko-KR" dirty="0"/>
              <a:t>~</a:t>
            </a:r>
          </a:p>
          <a:p>
            <a:r>
              <a:rPr kumimoji="1" lang="en-US" altLang="ko-KR" dirty="0" err="1"/>
              <a:t>qr-dqn</a:t>
            </a:r>
            <a:r>
              <a:rPr kumimoji="1" lang="ko-KR" altLang="en-US" dirty="0"/>
              <a:t>은</a:t>
            </a:r>
            <a:r>
              <a:rPr kumimoji="1" lang="en-US" altLang="ko-KR" dirty="0"/>
              <a:t>~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8780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dataset</a:t>
            </a:r>
            <a:r>
              <a:rPr kumimoji="1" lang="ko-KR" altLang="en-US" dirty="0"/>
              <a:t>은 </a:t>
            </a:r>
            <a:r>
              <a:rPr kumimoji="1" lang="en-US" altLang="ko-KR" dirty="0" err="1"/>
              <a:t>dqn</a:t>
            </a:r>
            <a:r>
              <a:rPr kumimoji="1" lang="en-US" altLang="ko-KR" dirty="0"/>
              <a:t> agent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online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행한 </a:t>
            </a:r>
            <a:r>
              <a:rPr kumimoji="1" lang="en-US" altLang="ko-KR" dirty="0"/>
              <a:t>sample </a:t>
            </a:r>
            <a:r>
              <a:rPr kumimoji="1" lang="ko-KR" altLang="en-US" dirty="0"/>
              <a:t>중에서 </a:t>
            </a:r>
            <a:r>
              <a:rPr kumimoji="1" lang="en-US" altLang="ko-KR" dirty="0"/>
              <a:t>20%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갖고 온 것이다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이때 </a:t>
            </a:r>
            <a:r>
              <a:rPr kumimoji="1" lang="en-US" altLang="ko-KR" dirty="0"/>
              <a:t>pong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breakout task</a:t>
            </a:r>
            <a:r>
              <a:rPr kumimoji="1" lang="ko-KR" altLang="en-US" dirty="0"/>
              <a:t>에서 다른 </a:t>
            </a:r>
            <a:r>
              <a:rPr kumimoji="1" lang="en-US" altLang="ko-KR" dirty="0"/>
              <a:t>method</a:t>
            </a:r>
            <a:r>
              <a:rPr kumimoji="1" lang="ko-KR" altLang="en-US" dirty="0"/>
              <a:t>보다 나은 성능을 보여줬고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qbert</a:t>
            </a:r>
            <a:r>
              <a:rPr kumimoji="1" lang="ko-KR" altLang="en-US" dirty="0"/>
              <a:t>에서는 비슷한 성능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seaquest</a:t>
            </a:r>
            <a:r>
              <a:rPr kumimoji="1" lang="ko-KR" altLang="en-US" dirty="0"/>
              <a:t>에서도 대체로 나은 성능을 보이며 </a:t>
            </a:r>
            <a:r>
              <a:rPr kumimoji="1" lang="en-US" altLang="ko-KR" dirty="0" err="1"/>
              <a:t>qr-dqn</a:t>
            </a:r>
            <a:r>
              <a:rPr kumimoji="1" lang="ko-KR" altLang="en-US" dirty="0"/>
              <a:t>보다 덜 가파른 하락을 보여줬다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5457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다음은 </a:t>
            </a:r>
            <a:r>
              <a:rPr kumimoji="1" lang="en-US" altLang="ko-KR" dirty="0"/>
              <a:t>sample</a:t>
            </a:r>
            <a:r>
              <a:rPr kumimoji="1" lang="ko-KR" altLang="en-US" dirty="0"/>
              <a:t> 중에 </a:t>
            </a:r>
            <a:r>
              <a:rPr kumimoji="1" lang="en-US" altLang="ko-KR" dirty="0"/>
              <a:t>1%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10%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가져왔을 때다</a:t>
            </a:r>
            <a:r>
              <a:rPr kumimoji="1" lang="en-US" altLang="ko-KR" dirty="0"/>
              <a:t>. 10%</a:t>
            </a:r>
            <a:r>
              <a:rPr kumimoji="1" lang="ko-KR" altLang="en-US" dirty="0" err="1"/>
              <a:t>일때는</a:t>
            </a:r>
            <a:r>
              <a:rPr kumimoji="1" lang="ko-KR" altLang="en-US" dirty="0"/>
              <a:t> 대체로 더 나은 성능을 보였고</a:t>
            </a:r>
            <a:r>
              <a:rPr kumimoji="1" lang="en-US" altLang="ko-KR" dirty="0"/>
              <a:t>, 1%</a:t>
            </a:r>
            <a:r>
              <a:rPr kumimoji="1" lang="ko-KR" altLang="en-US" dirty="0" err="1"/>
              <a:t>일때</a:t>
            </a:r>
            <a:r>
              <a:rPr kumimoji="1" lang="ko-KR" altLang="en-US" dirty="0"/>
              <a:t> 월등한 성능을 보였다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dataset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en-US" altLang="ko-KR" dirty="0"/>
              <a:t>uncertainty</a:t>
            </a:r>
            <a:r>
              <a:rPr kumimoji="1" lang="ko-KR" altLang="en-US" dirty="0"/>
              <a:t>가 강할</a:t>
            </a:r>
            <a:r>
              <a:rPr kumimoji="1" lang="en-US" altLang="ko-KR" dirty="0"/>
              <a:t> </a:t>
            </a:r>
            <a:r>
              <a:rPr kumimoji="1" lang="ko-KR" altLang="en-US" dirty="0"/>
              <a:t>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</a:t>
            </a:r>
            <a:r>
              <a:rPr kumimoji="1" lang="en-US" altLang="ko-KR" dirty="0"/>
              <a:t>Q value function</a:t>
            </a:r>
            <a:r>
              <a:rPr kumimoji="1" lang="ko-KR" altLang="en-US" dirty="0"/>
              <a:t>의  </a:t>
            </a:r>
            <a:r>
              <a:rPr kumimoji="1" lang="en-US" altLang="ko-KR" dirty="0"/>
              <a:t>overestimation</a:t>
            </a:r>
            <a:r>
              <a:rPr kumimoji="1" lang="ko-KR" altLang="en-US" dirty="0"/>
              <a:t>의 가능성이 높은 상황에서 좋은 </a:t>
            </a:r>
            <a:r>
              <a:rPr kumimoji="1" lang="en-US" altLang="ko-KR" dirty="0"/>
              <a:t>performance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보여줌을 확인할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7243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마지막으로</a:t>
            </a:r>
            <a:r>
              <a:rPr kumimoji="1" lang="en-US" altLang="ko-KR" dirty="0"/>
              <a:t>, learned 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예측한 </a:t>
            </a:r>
            <a:r>
              <a:rPr kumimoji="1" lang="en-US" altLang="ko-KR" dirty="0"/>
              <a:t>average value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true value</a:t>
            </a:r>
            <a:r>
              <a:rPr kumimoji="1" lang="ko-KR" altLang="en-US" dirty="0"/>
              <a:t>의 차를 계산함으로써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이 실제로 </a:t>
            </a:r>
            <a:r>
              <a:rPr kumimoji="1" lang="en-US" altLang="ko-KR" dirty="0"/>
              <a:t>value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lower bound</a:t>
            </a:r>
            <a:r>
              <a:rPr kumimoji="1" lang="ko-KR" altLang="en-US" dirty="0"/>
              <a:t> 하는지 확인할 수 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0</a:t>
            </a:r>
            <a:r>
              <a:rPr kumimoji="1" lang="ko-KR" altLang="en-US" dirty="0"/>
              <a:t>보다 크다면 </a:t>
            </a:r>
            <a:r>
              <a:rPr kumimoji="1" lang="en-US" altLang="ko-KR" dirty="0"/>
              <a:t>overestimation </a:t>
            </a:r>
            <a:r>
              <a:rPr kumimoji="1" lang="ko-KR" altLang="en-US" dirty="0"/>
              <a:t>상황이라고 할 수 있고</a:t>
            </a:r>
            <a:r>
              <a:rPr kumimoji="1" lang="en-US" altLang="ko-KR" dirty="0"/>
              <a:t>, 0</a:t>
            </a:r>
            <a:r>
              <a:rPr kumimoji="1" lang="ko-KR" altLang="en-US" dirty="0"/>
              <a:t>보다 작으면 성공적으로 </a:t>
            </a:r>
            <a:r>
              <a:rPr kumimoji="1" lang="en-US" altLang="ko-KR" dirty="0"/>
              <a:t>lower bound </a:t>
            </a:r>
            <a:r>
              <a:rPr kumimoji="1" lang="ko-KR" altLang="en-US" dirty="0"/>
              <a:t>한다고 할 수 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표를 보면 </a:t>
            </a:r>
            <a:r>
              <a:rPr kumimoji="1" lang="en-US" altLang="ko-KR" dirty="0"/>
              <a:t>q-ensemble 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BEAR</a:t>
            </a:r>
            <a:r>
              <a:rPr kumimoji="1" lang="ko-KR" altLang="en-US" dirty="0"/>
              <a:t>같은 </a:t>
            </a:r>
            <a:r>
              <a:rPr kumimoji="1" lang="en-US" altLang="ko-KR" dirty="0"/>
              <a:t>policy constraint method</a:t>
            </a:r>
            <a:r>
              <a:rPr kumimoji="1" lang="ko-KR" altLang="en-US" dirty="0"/>
              <a:t>는 큰 </a:t>
            </a:r>
            <a:r>
              <a:rPr kumimoji="1" lang="en-US" altLang="ko-KR" dirty="0"/>
              <a:t>overestimation</a:t>
            </a:r>
            <a:r>
              <a:rPr kumimoji="1" lang="ko-KR" altLang="en-US" dirty="0"/>
              <a:t>을 보여주는 한편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만 </a:t>
            </a:r>
            <a:r>
              <a:rPr kumimoji="1" lang="en-US" altLang="ko-KR" dirty="0"/>
              <a:t>0</a:t>
            </a:r>
            <a:r>
              <a:rPr kumimoji="1" lang="ko-KR" altLang="en-US" dirty="0"/>
              <a:t>보다 작은 값을 보여준다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이때 </a:t>
            </a:r>
            <a:r>
              <a:rPr kumimoji="1" lang="en-US" altLang="ko-KR" dirty="0"/>
              <a:t>equation 1</a:t>
            </a:r>
            <a:r>
              <a:rPr kumimoji="1" lang="ko-KR" altLang="en-US" dirty="0"/>
              <a:t>을 사용한 </a:t>
            </a:r>
            <a:r>
              <a:rPr kumimoji="1" lang="en-US" altLang="ko-KR" dirty="0"/>
              <a:t>CQL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비해 </a:t>
            </a:r>
            <a:r>
              <a:rPr kumimoji="1" lang="en-US" altLang="ko-KR" dirty="0"/>
              <a:t>CQL(H)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더 가까운 값을 보여주기 때문에 더 </a:t>
            </a:r>
            <a:r>
              <a:rPr kumimoji="1" lang="en-US" altLang="ko-KR" dirty="0"/>
              <a:t>tight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bound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가진다고 할 수 있다</a:t>
            </a:r>
            <a:r>
              <a:rPr kumimoji="1" lang="en-US" altLang="ko-KR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7331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그리고 이게 </a:t>
            </a:r>
            <a:r>
              <a:rPr kumimoji="1" lang="en-US" altLang="ko-KR" dirty="0"/>
              <a:t>CQL </a:t>
            </a:r>
            <a:r>
              <a:rPr kumimoji="1" lang="ko-KR" altLang="en-US" dirty="0"/>
              <a:t>알고리즘의 수도 코드였다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오늘은 실험 결과와 코드 구현을 더 면밀히 살펴보겠다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6656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642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965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661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85916-3193-65FB-B545-801F655E6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49BE5E-99E6-B324-6E9D-EE9A6D5B6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B493C9-2AF6-D4CE-117C-BC9CA4B7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235393-06D3-08FF-A4E3-2E33C8741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2E97F-244B-FF70-5995-1CB1CB52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B6C7942B-6EF8-41F1-00ED-837A7E4CA9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6000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1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6DABE-9542-8A27-A25F-9A410FFF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1F969-A399-8D6F-BAD4-E0065EE81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5E4CF-9474-1667-9956-5DDD562B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8C46B-A58A-C2C9-6F23-ED99B39A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C9413D-4FE0-E2D6-4573-DF41A48A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D3E5EF28-248D-484F-B499-F124BBD5E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6000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3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ED32A-D0E3-FD5A-EE92-306F34D96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6DE6FB-7179-0B7D-01CD-9F36ACBAD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C1258D-979B-6DB0-E8F8-60337AC2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D73AF-9BA9-49AA-92A8-E1BE5897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D6176-5928-32EA-5F2F-74B7F61D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30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7244B-378E-1681-117E-E9851910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C9949E-42FE-F7EB-66AF-E66064623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E8C449-A50E-04DF-B492-1B6B649A9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70CEF-662A-0728-F111-3DED59C3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19F4F9-2E2F-41A4-68BD-7406A0E6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8A3D0-CB5C-FCEF-B3F7-9D762429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464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EE355-74DB-F4D1-A425-F31DD577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E71830-A094-F47E-E2B3-D18AE28F8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894277-3BAD-622B-0E5A-7AC0FFB2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9F122C-8293-BBEC-6A04-F803DFC81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FB30CB-EB1E-EEF7-60B6-D1C296C4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96ED0A-0C3E-B5C2-D59A-42D72303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8547D3-97DB-8017-7728-C4DB58E5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D72669-E39B-636B-78AC-5E2263DB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629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C4E6B-66AD-946B-A31E-6B023AF0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CA7C67-7871-00E9-0C4D-CB9827D0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1BC2EA-70B5-FA54-6FBC-110D8035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01C58E-F33D-E03E-A413-CA671290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097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C4E79F-E10B-9FAE-1A9E-920CF4CE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C2C943-1E36-22B0-7E3E-F3F3875C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B2A6A-A69D-F9E6-35A8-05A10E74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744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EEA2C-459B-B780-9018-A41B7FA5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9E7FFC-7E10-056D-CE02-A3163574E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E78FDE-A484-5DD7-681B-4DFBA8761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09AE8-3FBC-794C-B0E3-E46251B2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96D21E-BCD7-1BA1-60B4-A3CFAF87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239FED-7102-B0B1-04D5-4C186353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456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24126-8936-DA0F-F7BA-D645E774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16A67E-F6C1-07B5-4495-14CCE45B8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02B10-00DB-68EB-EE11-CFF273BE5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5BBFD9-8E4E-B51C-EC6B-6E2AF621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BC1D88-FA7E-FA84-FE24-B0B68067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24C244-5979-55C1-F8D1-87A7BB9B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944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260F4-159E-274B-6A3C-63E7DF9C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7E2482-287B-CCFA-8883-678405F7D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5C992C-7733-8996-9041-55FCAC99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362FA-923E-D427-75D5-26FC4D54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CB21C-947F-0C22-BF44-377F852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81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969847-FEF8-9FB4-DE17-F0EF01096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F760B-FC02-4F91-369B-A4BD466D3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07778-73DD-C6BD-703E-7F00C3A6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D3153-B2EA-BBBB-76E1-8351F869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29ED6-6908-C53D-FF20-C6D0AB22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613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A8EC5A-A5F5-9462-A4D7-2FEA949F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367E91-197E-810F-44D8-53D49D0AD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6E5EC-8E9F-4F65-0D7A-59B48BDA2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B2A81-54E1-1D4C-B8C7-F19CE256C383}" type="datetimeFigureOut">
              <a:rPr kumimoji="1" lang="ko-KR" altLang="en-US" smtClean="0"/>
              <a:t>2024. 7. 30.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E5CF34-7811-7A28-CF43-77BBA4352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4A8B7-CF86-C54B-C26A-D04975519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C19EB-FC3B-C740-BBF1-466716D686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681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C6F5-F72D-8B0A-8DA6-156A2D873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Lab Meeting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69C6E-31EA-E4F7-4EB8-5B0000913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07/31/2024, </a:t>
            </a:r>
            <a:r>
              <a:rPr kumimoji="1" lang="ko-KR" altLang="en-US" dirty="0"/>
              <a:t>최준명</a:t>
            </a:r>
          </a:p>
        </p:txBody>
      </p:sp>
    </p:spTree>
    <p:extLst>
      <p:ext uri="{BB962C8B-B14F-4D97-AF65-F5344CB8AC3E}">
        <p14:creationId xmlns:p14="http://schemas.microsoft.com/office/powerpoint/2010/main" val="1059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94431-54FD-5D4E-9733-985B27F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0. Conservative Off-Policy Evaluation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To minimize ‘blue’, we have to maximize second expectation(red one)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maximize Q for actions in</a:t>
                </a:r>
                <a14:m>
                  <m:oMath xmlns:m="http://schemas.openxmlformats.org/officeDocument/2006/math"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(in-distribution, seen actions)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penalizes penalties of overestimation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However,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might not lower-bound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pointwise in this method.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친필, 서예이(가) 표시된 사진&#10;&#10;자동 생성된 설명">
            <a:extLst>
              <a:ext uri="{FF2B5EF4-FFF2-40B4-BE49-F238E27FC236}">
                <a16:creationId xmlns:a16="http://schemas.microsoft.com/office/drawing/2014/main" id="{1EA0824A-61F9-7332-0810-8AB3719766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11"/>
          <a:stretch/>
        </p:blipFill>
        <p:spPr>
          <a:xfrm>
            <a:off x="838200" y="1977065"/>
            <a:ext cx="8612542" cy="1131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D5EFC3-66B8-46B0-D773-004C069267C8}"/>
              </a:ext>
            </a:extLst>
          </p:cNvPr>
          <p:cNvSpPr txBox="1"/>
          <p:nvPr/>
        </p:nvSpPr>
        <p:spPr>
          <a:xfrm>
            <a:off x="5144471" y="1506022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Q-value maximization term</a:t>
            </a:r>
            <a:endParaRPr kumimoji="1" lang="ko-KR" altLang="en-US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921E2FF7-E35D-180C-9895-E25D3C976CDB}"/>
              </a:ext>
            </a:extLst>
          </p:cNvPr>
          <p:cNvSpPr/>
          <p:nvPr/>
        </p:nvSpPr>
        <p:spPr>
          <a:xfrm>
            <a:off x="2865120" y="1977065"/>
            <a:ext cx="4949952" cy="558871"/>
          </a:xfrm>
          <a:prstGeom prst="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9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0. Conservative Q-Learning for Offline RL</a:t>
            </a:r>
            <a:endParaRPr kumimoji="1" lang="ko-KR" altLang="en-US" sz="3600" dirty="0"/>
          </a:p>
        </p:txBody>
      </p:sp>
      <p:pic>
        <p:nvPicPr>
          <p:cNvPr id="6" name="내용 개체 틀 5" descr="텍스트, 폰트, 라인, 화이트이(가) 표시된 사진&#10;&#10;자동 생성된 설명">
            <a:extLst>
              <a:ext uri="{FF2B5EF4-FFF2-40B4-BE49-F238E27FC236}">
                <a16:creationId xmlns:a16="http://schemas.microsoft.com/office/drawing/2014/main" id="{27A58F33-58E1-4686-B846-913B51B12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852928"/>
            <a:ext cx="9525000" cy="1346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Alternating between policy evaluation and improvement is computationally expensive.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Instead,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approximate the policy that maximize Q-function iterate.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4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+ Added </a:t>
                </a:r>
                <a:r>
                  <a:rPr kumimoji="1" lang="en-US" altLang="ko-KR" sz="1800" b="0" dirty="0" err="1">
                    <a:sym typeface="Wingdings" pitchFamily="2" charset="2"/>
                  </a:rPr>
                  <a:t>regularizer</a:t>
                </a:r>
                <a:r>
                  <a:rPr kumimoji="1" lang="en-US" altLang="ko-KR" sz="1800" b="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and denoted by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Property of CQL varies depending on this </a:t>
                </a:r>
                <a:r>
                  <a:rPr kumimoji="1" lang="en-US" altLang="ko-KR" sz="1800" dirty="0" err="1">
                    <a:sym typeface="Wingdings" pitchFamily="2" charset="2"/>
                  </a:rPr>
                  <a:t>regularizer</a:t>
                </a: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  <a:blipFill>
                <a:blip r:embed="rId5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83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0. Conservative Q-Learning for Offline RL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If we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be KL-divergence against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we get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∝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func>
                      <m:func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,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</m:oMath>
                </a14:m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First, if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unif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a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, equation (3) becomes,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u="sng" dirty="0">
                    <a:sym typeface="Wingdings" pitchFamily="2" charset="2"/>
                  </a:rPr>
                  <a:t>This is called </a:t>
                </a:r>
                <a14:m>
                  <m:oMath xmlns:m="http://schemas.openxmlformats.org/officeDocument/2006/math"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ℋ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u="sng" dirty="0">
                    <a:sym typeface="Wingdings" pitchFamily="2" charset="2"/>
                  </a:rPr>
                  <a:t>.  </a:t>
                </a:r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  <a:blipFill>
                <a:blip r:embed="rId4"/>
                <a:stretch>
                  <a:fillRect l="-603" t="-1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F97BE1A6-182A-B62D-CF07-E7AA8F0D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166461"/>
            <a:ext cx="10345812" cy="95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7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0. Conservative Q-Learning for Offline RL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If we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be KL-divergence against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we get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∝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func>
                      <m:func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,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</m:oMath>
                </a14:m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Second, if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(previous policy),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u="sng" dirty="0">
                    <a:sym typeface="Wingdings" pitchFamily="2" charset="2"/>
                  </a:rPr>
                  <a:t>This is called </a:t>
                </a:r>
                <a14:m>
                  <m:oMath xmlns:m="http://schemas.openxmlformats.org/officeDocument/2006/math"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u="sng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  <a:blipFill>
                <a:blip r:embed="rId4"/>
                <a:stretch>
                  <a:fillRect l="-603" t="-1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39F113D7-1E46-5D5A-C93E-2854FE582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78" y="3389164"/>
            <a:ext cx="9332934" cy="783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2A6984-0B45-4DD9-420A-ACA2F9F86341}"/>
              </a:ext>
            </a:extLst>
          </p:cNvPr>
          <p:cNvSpPr txBox="1"/>
          <p:nvPr/>
        </p:nvSpPr>
        <p:spPr>
          <a:xfrm>
            <a:off x="10208712" y="3519814"/>
            <a:ext cx="185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 Appendix A.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58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1-1. Experimental Evaluation – Gym domain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FAABE4-EB17-E30F-2481-5BC6270DFD9E}"/>
                  </a:ext>
                </a:extLst>
              </p:cNvPr>
              <p:cNvSpPr txBox="1"/>
              <p:nvPr/>
            </p:nvSpPr>
            <p:spPr>
              <a:xfrm>
                <a:off x="491262" y="4711237"/>
                <a:ext cx="10036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Compared CQL(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kumimoji="1" lang="en-US" altLang="ko-KR" dirty="0"/>
                  <a:t>) with prior offline-RL methods: SAC, BEAR, BRAC, BC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FAABE4-EB17-E30F-2481-5BC6270DF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62" y="4711237"/>
                <a:ext cx="10036369" cy="369332"/>
              </a:xfrm>
              <a:prstGeom prst="rect">
                <a:avLst/>
              </a:prstGeom>
              <a:blipFill>
                <a:blip r:embed="rId3"/>
                <a:stretch>
                  <a:fillRect l="-506" t="-10345" b="-3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alf Cheetah - Gym Documentation">
            <a:extLst>
              <a:ext uri="{FF2B5EF4-FFF2-40B4-BE49-F238E27FC236}">
                <a16:creationId xmlns:a16="http://schemas.microsoft.com/office/drawing/2014/main" id="{4B6E0629-DF0A-1E80-0ECA-8FD7A2CF8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2346159" cy="234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lker2D - Gym Documentation">
            <a:extLst>
              <a:ext uri="{FF2B5EF4-FFF2-40B4-BE49-F238E27FC236}">
                <a16:creationId xmlns:a16="http://schemas.microsoft.com/office/drawing/2014/main" id="{BDC26410-4649-2998-A60B-8589620B2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316" y="1690688"/>
            <a:ext cx="2346159" cy="234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pper - Gymnasium Documentation">
            <a:extLst>
              <a:ext uri="{FF2B5EF4-FFF2-40B4-BE49-F238E27FC236}">
                <a16:creationId xmlns:a16="http://schemas.microsoft.com/office/drawing/2014/main" id="{BBF0F473-0A92-FBAE-8319-C51F5A99E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695" y="1690688"/>
            <a:ext cx="2346159" cy="234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A87C9B-07F7-EEFF-CD86-A825414BBD6A}"/>
              </a:ext>
            </a:extLst>
          </p:cNvPr>
          <p:cNvSpPr txBox="1"/>
          <p:nvPr/>
        </p:nvSpPr>
        <p:spPr>
          <a:xfrm>
            <a:off x="288758" y="6521116"/>
            <a:ext cx="8554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images: https://</a:t>
            </a:r>
            <a:r>
              <a:rPr kumimoji="1" lang="en-US" altLang="ko-KR" sz="1100" dirty="0" err="1"/>
              <a:t>gymnasium.farama.org</a:t>
            </a:r>
            <a:r>
              <a:rPr kumimoji="1" lang="en-US" altLang="ko-KR" sz="1100" dirty="0"/>
              <a:t>/environments/</a:t>
            </a:r>
            <a:r>
              <a:rPr kumimoji="1" lang="en-US" altLang="ko-KR" sz="1100" dirty="0" err="1"/>
              <a:t>mujoco</a:t>
            </a:r>
            <a:r>
              <a:rPr kumimoji="1" lang="en-US" altLang="ko-KR" sz="1100" dirty="0"/>
              <a:t>/</a:t>
            </a:r>
            <a:endParaRPr kumimoji="1"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E2A9A-DFD5-4703-408D-1F10CEEAD873}"/>
              </a:ext>
            </a:extLst>
          </p:cNvPr>
          <p:cNvSpPr txBox="1"/>
          <p:nvPr/>
        </p:nvSpPr>
        <p:spPr>
          <a:xfrm>
            <a:off x="1211180" y="4174957"/>
            <a:ext cx="160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Half Cheetah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28853-197B-847E-70DB-6CB164FB14FB}"/>
              </a:ext>
            </a:extLst>
          </p:cNvPr>
          <p:cNvSpPr txBox="1"/>
          <p:nvPr/>
        </p:nvSpPr>
        <p:spPr>
          <a:xfrm>
            <a:off x="4758489" y="4174957"/>
            <a:ext cx="160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Walker2D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84AB2-3131-DCC2-CEF4-0E38810486BF}"/>
              </a:ext>
            </a:extLst>
          </p:cNvPr>
          <p:cNvSpPr txBox="1"/>
          <p:nvPr/>
        </p:nvSpPr>
        <p:spPr>
          <a:xfrm>
            <a:off x="8472236" y="4174957"/>
            <a:ext cx="160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Hopper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F0DAC-A492-8702-B135-3B76835B28A1}"/>
              </a:ext>
            </a:extLst>
          </p:cNvPr>
          <p:cNvSpPr txBox="1"/>
          <p:nvPr/>
        </p:nvSpPr>
        <p:spPr>
          <a:xfrm>
            <a:off x="288757" y="5538768"/>
            <a:ext cx="117909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BEAR: </a:t>
            </a:r>
            <a:r>
              <a:rPr kumimoji="1" lang="en" altLang="ko-KR" sz="1400" dirty="0">
                <a:solidFill>
                  <a:srgbClr val="000000"/>
                </a:solidFill>
                <a:highlight>
                  <a:srgbClr val="FFFFFF"/>
                </a:highlight>
              </a:rPr>
              <a:t>B</a:t>
            </a:r>
            <a:r>
              <a:rPr lang="en" altLang="ko-KR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ootstrapping </a:t>
            </a:r>
            <a:r>
              <a:rPr lang="en" altLang="ko-KR" sz="1400" dirty="0">
                <a:solidFill>
                  <a:srgbClr val="000000"/>
                </a:solidFill>
                <a:highlight>
                  <a:srgbClr val="FFFFFF"/>
                </a:highlight>
              </a:rPr>
              <a:t>E</a:t>
            </a:r>
            <a:r>
              <a:rPr lang="en" altLang="ko-KR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rror </a:t>
            </a:r>
            <a:r>
              <a:rPr lang="en" altLang="ko-KR" sz="1400" dirty="0">
                <a:solidFill>
                  <a:srgbClr val="000000"/>
                </a:solidFill>
                <a:highlight>
                  <a:srgbClr val="FFFFFF"/>
                </a:highlight>
              </a:rPr>
              <a:t>A</a:t>
            </a:r>
            <a:r>
              <a:rPr lang="en" altLang="ko-KR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ccumulation </a:t>
            </a:r>
            <a:r>
              <a:rPr lang="en" altLang="ko-KR" sz="1400" dirty="0">
                <a:solidFill>
                  <a:srgbClr val="000000"/>
                </a:solidFill>
                <a:highlight>
                  <a:srgbClr val="FFFFFF"/>
                </a:highlight>
              </a:rPr>
              <a:t>R</a:t>
            </a:r>
            <a:r>
              <a:rPr lang="en" altLang="ko-KR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eduction - Stabilizing Off-Policy Q-Learning via Bootstrapping Error Reduction, Kumar et el.</a:t>
            </a:r>
            <a:endParaRPr kumimoji="1" lang="en-US" altLang="ko-KR" sz="1400" dirty="0"/>
          </a:p>
          <a:p>
            <a:r>
              <a:rPr kumimoji="1" lang="en-US" altLang="ko-KR" sz="1400" dirty="0"/>
              <a:t>BRAC: Behavior Regularized Actor Critic - Behavior Regularized Offline Reinforcement Learning, </a:t>
            </a:r>
            <a:r>
              <a:rPr kumimoji="1" lang="en-US" altLang="ko-KR" sz="1400" dirty="0" err="1"/>
              <a:t>Yifan</a:t>
            </a:r>
            <a:r>
              <a:rPr kumimoji="1" lang="en-US" altLang="ko-KR" sz="1400" dirty="0"/>
              <a:t> Wu et el.</a:t>
            </a:r>
          </a:p>
          <a:p>
            <a:r>
              <a:rPr kumimoji="1" lang="en-US" altLang="ko-KR" sz="1400" dirty="0"/>
              <a:t>BC: Behavioral Cloning</a:t>
            </a:r>
          </a:p>
          <a:p>
            <a:r>
              <a:rPr kumimoji="1" lang="en-US" altLang="ko-KR" sz="1400" dirty="0"/>
              <a:t>SAC: Soft Actor Critic - Reinforcement Learning with Deep Energy-Based Policies, T. </a:t>
            </a:r>
            <a:r>
              <a:rPr kumimoji="1" lang="en-US" altLang="ko-KR" sz="1400" dirty="0" err="1"/>
              <a:t>Haarnoja</a:t>
            </a:r>
            <a:r>
              <a:rPr kumimoji="1" lang="en-US" altLang="ko-KR" sz="1400" dirty="0"/>
              <a:t> et el. </a:t>
            </a:r>
          </a:p>
          <a:p>
            <a:r>
              <a:rPr kumimoji="1" lang="en-US" altLang="ko-KR" sz="1400" dirty="0"/>
              <a:t> </a:t>
            </a:r>
          </a:p>
          <a:p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939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1-1. Experimental Evaluation – Gym domain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41367" y="2043052"/>
            <a:ext cx="5386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Denoted policy used to generate dataset.</a:t>
            </a:r>
          </a:p>
          <a:p>
            <a:r>
              <a:rPr kumimoji="1" lang="en-US" altLang="ko-KR" dirty="0"/>
              <a:t>ex. hopper</a:t>
            </a:r>
            <a:r>
              <a:rPr kumimoji="1" lang="en-US" altLang="ko-KR" u="sng" dirty="0"/>
              <a:t>-random</a:t>
            </a:r>
            <a:r>
              <a:rPr kumimoji="1" lang="en-US" altLang="ko-KR" dirty="0"/>
              <a:t>: single policy</a:t>
            </a:r>
          </a:p>
          <a:p>
            <a:r>
              <a:rPr kumimoji="1" lang="en-US" altLang="ko-KR" dirty="0"/>
              <a:t>     hopper</a:t>
            </a:r>
            <a:r>
              <a:rPr kumimoji="1" lang="en-US" altLang="ko-KR" u="sng" dirty="0"/>
              <a:t>-medium-expert</a:t>
            </a:r>
            <a:r>
              <a:rPr kumimoji="1" lang="en-US" altLang="ko-KR" dirty="0"/>
              <a:t>: multiple policies</a:t>
            </a:r>
            <a:endParaRPr kumimoji="1" lang="en-US" altLang="ko-KR" u="sng" dirty="0"/>
          </a:p>
          <a:p>
            <a:endParaRPr kumimoji="1" lang="en-US" altLang="ko-KR" dirty="0"/>
          </a:p>
        </p:txBody>
      </p:sp>
      <p:pic>
        <p:nvPicPr>
          <p:cNvPr id="4" name="그림 3" descr="텍스트, 번호, 폰트, 메뉴이(가) 표시된 사진&#10;&#10;자동 생성된 설명">
            <a:extLst>
              <a:ext uri="{FF2B5EF4-FFF2-40B4-BE49-F238E27FC236}">
                <a16:creationId xmlns:a16="http://schemas.microsoft.com/office/drawing/2014/main" id="{19452851-D7B3-C030-AC7A-7B7658B2A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8801"/>
            <a:ext cx="5727086" cy="2829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FDF5C3-4A1A-9A6C-8545-C0E586601582}"/>
              </a:ext>
            </a:extLst>
          </p:cNvPr>
          <p:cNvSpPr txBox="1"/>
          <p:nvPr/>
        </p:nvSpPr>
        <p:spPr>
          <a:xfrm>
            <a:off x="541367" y="4896853"/>
            <a:ext cx="934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CQL outperforms by large margin in datasets with multiple policies (practical)</a:t>
            </a:r>
            <a:endParaRPr kumimoji="1" lang="ko-KR" altLang="en-US" dirty="0"/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794AD080-B564-11D9-A0D4-12B002484F76}"/>
              </a:ext>
            </a:extLst>
          </p:cNvPr>
          <p:cNvSpPr/>
          <p:nvPr/>
        </p:nvSpPr>
        <p:spPr>
          <a:xfrm>
            <a:off x="6125676" y="3308064"/>
            <a:ext cx="5637250" cy="1313802"/>
          </a:xfrm>
          <a:prstGeom prst="frame">
            <a:avLst>
              <a:gd name="adj1" fmla="val 25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98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1-2. Adroit, </a:t>
            </a:r>
            <a:r>
              <a:rPr kumimoji="1" lang="en-US" altLang="ko-KR" sz="3600" dirty="0" err="1"/>
              <a:t>Antmaze</a:t>
            </a:r>
            <a:r>
              <a:rPr kumimoji="1" lang="en-US" altLang="ko-KR" sz="3600" dirty="0"/>
              <a:t>, Kitchen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7" y="5036508"/>
            <a:ext cx="9774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CQL showed meaningful(nonzero) results on most tasks, </a:t>
            </a:r>
          </a:p>
          <a:p>
            <a:r>
              <a:rPr kumimoji="1" lang="en-US" altLang="ko-KR" dirty="0"/>
              <a:t>even outperformed BC.</a:t>
            </a:r>
          </a:p>
        </p:txBody>
      </p:sp>
      <p:pic>
        <p:nvPicPr>
          <p:cNvPr id="9" name="그림 8" descr="텍스트, 영수증, 번호, 폰트이(가) 표시된 사진&#10;&#10;자동 생성된 설명">
            <a:extLst>
              <a:ext uri="{FF2B5EF4-FFF2-40B4-BE49-F238E27FC236}">
                <a16:creationId xmlns:a16="http://schemas.microsoft.com/office/drawing/2014/main" id="{3C759C9E-5FCE-FE0C-CD3D-E5F64F2DCD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23"/>
          <a:stretch/>
        </p:blipFill>
        <p:spPr>
          <a:xfrm>
            <a:off x="4402412" y="1690688"/>
            <a:ext cx="7530014" cy="282555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503F30-E8A0-CB78-4D73-5FBE81297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48" y="1690688"/>
            <a:ext cx="1662179" cy="143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07A337F-8656-AD3D-2599-9663171F2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389" y="1690688"/>
            <a:ext cx="1804461" cy="143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47E1F1-0E88-9CBD-D5CB-991AA843EF5F}"/>
              </a:ext>
            </a:extLst>
          </p:cNvPr>
          <p:cNvSpPr txBox="1"/>
          <p:nvPr/>
        </p:nvSpPr>
        <p:spPr>
          <a:xfrm>
            <a:off x="689451" y="3222031"/>
            <a:ext cx="920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Adroit</a:t>
            </a:r>
            <a:endParaRPr kumimoji="1"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46A5D-D51B-93C2-5814-EFB9A1A1296F}"/>
              </a:ext>
            </a:extLst>
          </p:cNvPr>
          <p:cNvSpPr txBox="1"/>
          <p:nvPr/>
        </p:nvSpPr>
        <p:spPr>
          <a:xfrm>
            <a:off x="2425366" y="3222031"/>
            <a:ext cx="1438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 err="1"/>
              <a:t>FrankKitchen</a:t>
            </a:r>
            <a:endParaRPr kumimoji="1"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C1A46-CA41-58C0-2AC3-857FA4C854BF}"/>
              </a:ext>
            </a:extLst>
          </p:cNvPr>
          <p:cNvSpPr txBox="1"/>
          <p:nvPr/>
        </p:nvSpPr>
        <p:spPr>
          <a:xfrm>
            <a:off x="259574" y="3603912"/>
            <a:ext cx="3357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1100" dirty="0"/>
              <a:t>https://</a:t>
            </a:r>
            <a:r>
              <a:rPr kumimoji="1" lang="en" altLang="ko-KR" sz="1100" dirty="0" err="1"/>
              <a:t>sites.google.com</a:t>
            </a:r>
            <a:r>
              <a:rPr kumimoji="1" lang="en" altLang="ko-KR" sz="1100" dirty="0"/>
              <a:t>/view/d4rl-anonymous/</a:t>
            </a:r>
            <a:endParaRPr kumimoji="1"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9102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1-3. Atari games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8" y="5292546"/>
            <a:ext cx="1036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Compared results on Atari games to REM and QR-DQN </a:t>
            </a:r>
          </a:p>
        </p:txBody>
      </p:sp>
      <p:pic>
        <p:nvPicPr>
          <p:cNvPr id="2050" name="Picture 2" descr="Why does a 5431 character story about Atari's 2 KB game Pong need a 3.08 MB  download to be read? An environmental plea for readability, and for more  static web sites |">
            <a:extLst>
              <a:ext uri="{FF2B5EF4-FFF2-40B4-BE49-F238E27FC236}">
                <a16:creationId xmlns:a16="http://schemas.microsoft.com/office/drawing/2014/main" id="{6CD5FEC6-6B50-D437-8F67-ACE05686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61" y="1493973"/>
            <a:ext cx="220744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lay Google Atari Breakout Game - elgooG">
            <a:extLst>
              <a:ext uri="{FF2B5EF4-FFF2-40B4-BE49-F238E27FC236}">
                <a16:creationId xmlns:a16="http://schemas.microsoft.com/office/drawing/2014/main" id="{A83EF5B6-A8AF-A22E-57AF-BD27524A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473728"/>
            <a:ext cx="1615068" cy="161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*bert - Wikipedia">
            <a:extLst>
              <a:ext uri="{FF2B5EF4-FFF2-40B4-BE49-F238E27FC236}">
                <a16:creationId xmlns:a16="http://schemas.microsoft.com/office/drawing/2014/main" id="{C32F7B8E-F1B5-EEE3-3AAC-B402C27CE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532" y="1476011"/>
            <a:ext cx="1615068" cy="161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aquest (video game) - Wikipedia">
            <a:extLst>
              <a:ext uri="{FF2B5EF4-FFF2-40B4-BE49-F238E27FC236}">
                <a16:creationId xmlns:a16="http://schemas.microsoft.com/office/drawing/2014/main" id="{F57F80EC-2919-36FC-57AC-97E037A6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210" y="1473729"/>
            <a:ext cx="2224101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stérix / Taz (Atari 2600) – Hardcore Gaming 101">
            <a:extLst>
              <a:ext uri="{FF2B5EF4-FFF2-40B4-BE49-F238E27FC236}">
                <a16:creationId xmlns:a16="http://schemas.microsoft.com/office/drawing/2014/main" id="{F1F5BACB-2878-DCC4-994E-7910B26B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866" y="3429000"/>
            <a:ext cx="2207445" cy="137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2242B-11BC-DDBC-483D-6F51C14C3C97}"/>
              </a:ext>
            </a:extLst>
          </p:cNvPr>
          <p:cNvSpPr txBox="1"/>
          <p:nvPr/>
        </p:nvSpPr>
        <p:spPr>
          <a:xfrm>
            <a:off x="584548" y="5783355"/>
            <a:ext cx="10934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REM: Random Ensemble Mixture - An optimistic perspective on offline reinforcement learning. Rishabh Agarwal et </a:t>
            </a:r>
            <a:r>
              <a:rPr kumimoji="1" lang="en-US" altLang="ko-KR" sz="1400" dirty="0" err="1"/>
              <a:t>el</a:t>
            </a:r>
            <a:r>
              <a:rPr kumimoji="1" lang="en-US" altLang="ko-KR" sz="1400" dirty="0"/>
              <a:t>, 2019.</a:t>
            </a:r>
          </a:p>
          <a:p>
            <a:r>
              <a:rPr kumimoji="1" lang="en-US" altLang="ko-KR" sz="1400" dirty="0"/>
              <a:t>QR-DQN: Quantile Regression-DQN - Distributional Reinforcement Learning with Quantile Regression. Will Dabney et el.</a:t>
            </a:r>
          </a:p>
          <a:p>
            <a:endParaRPr kumimoji="1" lang="en-US" altLang="ko-KR" sz="1400" dirty="0"/>
          </a:p>
          <a:p>
            <a:r>
              <a:rPr kumimoji="1" lang="en-US" altLang="ko-KR" sz="1400" dirty="0"/>
              <a:t> </a:t>
            </a:r>
            <a:endParaRPr kumimoji="1"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624BF-6B8D-A39D-EC98-0B1F84F65A8A}"/>
              </a:ext>
            </a:extLst>
          </p:cNvPr>
          <p:cNvSpPr txBox="1"/>
          <p:nvPr/>
        </p:nvSpPr>
        <p:spPr>
          <a:xfrm>
            <a:off x="6404742" y="2941013"/>
            <a:ext cx="142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Pong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02C22-FC3A-237C-15B5-B225AEC98B70}"/>
              </a:ext>
            </a:extLst>
          </p:cNvPr>
          <p:cNvSpPr txBox="1"/>
          <p:nvPr/>
        </p:nvSpPr>
        <p:spPr>
          <a:xfrm>
            <a:off x="1107689" y="3168543"/>
            <a:ext cx="12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Breakout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9D15E-2D66-46D9-1855-2BA8C0BD0929}"/>
              </a:ext>
            </a:extLst>
          </p:cNvPr>
          <p:cNvSpPr txBox="1"/>
          <p:nvPr/>
        </p:nvSpPr>
        <p:spPr>
          <a:xfrm>
            <a:off x="3552568" y="3136712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Qbert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527F6-0499-B5C2-E2A9-63ECFDF7A242}"/>
              </a:ext>
            </a:extLst>
          </p:cNvPr>
          <p:cNvSpPr txBox="1"/>
          <p:nvPr/>
        </p:nvSpPr>
        <p:spPr>
          <a:xfrm>
            <a:off x="9438149" y="2904130"/>
            <a:ext cx="170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Seaquest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C6DB0-FE1D-8137-F0CB-9D6852706D66}"/>
              </a:ext>
            </a:extLst>
          </p:cNvPr>
          <p:cNvSpPr txBox="1"/>
          <p:nvPr/>
        </p:nvSpPr>
        <p:spPr>
          <a:xfrm>
            <a:off x="9561717" y="4902971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Asterix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81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1-3. Atari games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8" y="5292546"/>
            <a:ext cx="10769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Dataset: 20% of samples from an online DQN agent</a:t>
            </a:r>
          </a:p>
          <a:p>
            <a:r>
              <a:rPr kumimoji="1" lang="en-US" altLang="ko-KR" dirty="0"/>
              <a:t>CQL outperform on Pong and Breakout, showed less steep degrade than QR-DQN on </a:t>
            </a:r>
            <a:r>
              <a:rPr kumimoji="1" lang="en-US" altLang="ko-KR" dirty="0" err="1"/>
              <a:t>Seaquest</a:t>
            </a:r>
            <a:r>
              <a:rPr kumimoji="1" lang="en-US" altLang="ko-KR" dirty="0"/>
              <a:t> task.</a:t>
            </a:r>
          </a:p>
        </p:txBody>
      </p:sp>
      <p:pic>
        <p:nvPicPr>
          <p:cNvPr id="5" name="그림 4" descr="라인, 그래프, 도표, 스크린샷이(가) 표시된 사진&#10;&#10;자동 생성된 설명">
            <a:extLst>
              <a:ext uri="{FF2B5EF4-FFF2-40B4-BE49-F238E27FC236}">
                <a16:creationId xmlns:a16="http://schemas.microsoft.com/office/drawing/2014/main" id="{A86BD27E-0299-DF69-A5EE-34ACA1E991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47"/>
          <a:stretch/>
        </p:blipFill>
        <p:spPr>
          <a:xfrm>
            <a:off x="215437" y="2021427"/>
            <a:ext cx="11761126" cy="222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7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1-3. Atari games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8" y="5304903"/>
            <a:ext cx="10769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Dataset: 1% and 10% of samples from an online DQN agent</a:t>
            </a:r>
          </a:p>
          <a:p>
            <a:r>
              <a:rPr kumimoji="1" lang="en-US" altLang="ko-KR" dirty="0"/>
              <a:t>CQL outperformed in harder 1% condition, usually attains better performance with 10% condition</a:t>
            </a:r>
          </a:p>
        </p:txBody>
      </p:sp>
      <p:pic>
        <p:nvPicPr>
          <p:cNvPr id="4" name="그림 3" descr="텍스트, 폰트, 번호, 스크린샷이(가) 표시된 사진&#10;&#10;자동 생성된 설명">
            <a:extLst>
              <a:ext uri="{FF2B5EF4-FFF2-40B4-BE49-F238E27FC236}">
                <a16:creationId xmlns:a16="http://schemas.microsoft.com/office/drawing/2014/main" id="{3A1E5FF3-971A-0BF9-BD35-E5B24347F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172" y="2175040"/>
            <a:ext cx="4630004" cy="250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4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1-4. Analysis of CQL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498049" y="5146538"/>
            <a:ext cx="10621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Only CQL lower bounds the actual return,</a:t>
            </a:r>
          </a:p>
          <a:p>
            <a:r>
              <a:rPr kumimoji="1" lang="en-US" altLang="ko-KR" dirty="0"/>
              <a:t>while CQL(H) is tighter than CQL with equation 1.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DA1911-A140-80C1-F267-4EC50744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4" y="3776628"/>
            <a:ext cx="10442173" cy="1005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7D7A7D-CCFC-7541-FAFE-541D10456AAA}"/>
                  </a:ext>
                </a:extLst>
              </p:cNvPr>
              <p:cNvSpPr txBox="1"/>
              <p:nvPr/>
            </p:nvSpPr>
            <p:spPr>
              <a:xfrm>
                <a:off x="677074" y="1690688"/>
                <a:ext cx="1023394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Difference between policy value predicted by each algorithm and the true policy value</a:t>
                </a:r>
              </a:p>
              <a:p>
                <a:r>
                  <a:rPr kumimoji="1" lang="en-US" altLang="ko-KR" dirty="0">
                    <a:sym typeface="Wingdings" pitchFamily="2" charset="2"/>
                  </a:rPr>
                  <a:t> 		    -	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ko-KR" dirty="0"/>
                  <a:t> = overestimation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ko-KR" dirty="0"/>
                  <a:t> = lower bound</a:t>
                </a:r>
              </a:p>
              <a:p>
                <a:endParaRPr kumimoji="1"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7D7A7D-CCFC-7541-FAFE-541D1045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74" y="1690688"/>
                <a:ext cx="10233942" cy="1477328"/>
              </a:xfrm>
              <a:prstGeom prst="rect">
                <a:avLst/>
              </a:prstGeom>
              <a:blipFill>
                <a:blip r:embed="rId4"/>
                <a:stretch>
                  <a:fillRect l="-496" t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폰트, 텍스트, 친필, 타이포그래피이(가) 표시된 사진&#10;&#10;자동 생성된 설명">
            <a:extLst>
              <a:ext uri="{FF2B5EF4-FFF2-40B4-BE49-F238E27FC236}">
                <a16:creationId xmlns:a16="http://schemas.microsoft.com/office/drawing/2014/main" id="{9E2B01C7-76EF-7DFD-7F60-238D923CA7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262" r="35778" b="12859"/>
          <a:stretch/>
        </p:blipFill>
        <p:spPr>
          <a:xfrm>
            <a:off x="1018072" y="1985003"/>
            <a:ext cx="1861052" cy="325854"/>
          </a:xfrm>
          <a:prstGeom prst="rect">
            <a:avLst/>
          </a:prstGeom>
        </p:spPr>
      </p:pic>
      <p:pic>
        <p:nvPicPr>
          <p:cNvPr id="10" name="그림 9" descr="폰트, 텍스트, 친필, 타이포그래피이(가) 표시된 사진&#10;&#10;자동 생성된 설명">
            <a:extLst>
              <a:ext uri="{FF2B5EF4-FFF2-40B4-BE49-F238E27FC236}">
                <a16:creationId xmlns:a16="http://schemas.microsoft.com/office/drawing/2014/main" id="{53DD2F2E-F306-CF30-B701-29CCD6029F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6258" t="11287" r="-11967" b="10834"/>
          <a:stretch/>
        </p:blipFill>
        <p:spPr>
          <a:xfrm>
            <a:off x="3058787" y="1985003"/>
            <a:ext cx="1127443" cy="355028"/>
          </a:xfrm>
          <a:prstGeom prst="rect">
            <a:avLst/>
          </a:prstGeom>
        </p:spPr>
      </p:pic>
      <p:pic>
        <p:nvPicPr>
          <p:cNvPr id="11" name="내용 개체 틀 4">
            <a:extLst>
              <a:ext uri="{FF2B5EF4-FFF2-40B4-BE49-F238E27FC236}">
                <a16:creationId xmlns:a16="http://schemas.microsoft.com/office/drawing/2014/main" id="{770C316C-9116-B017-A19B-CB5ABC814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943600" y="5390676"/>
            <a:ext cx="5750351" cy="426920"/>
          </a:xfrm>
        </p:spPr>
      </p:pic>
    </p:spTree>
    <p:extLst>
      <p:ext uri="{BB962C8B-B14F-4D97-AF65-F5344CB8AC3E}">
        <p14:creationId xmlns:p14="http://schemas.microsoft.com/office/powerpoint/2010/main" val="218999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0. Practical Algorithms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8" y="2403338"/>
            <a:ext cx="5386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Based on</a:t>
            </a:r>
          </a:p>
          <a:p>
            <a:r>
              <a:rPr kumimoji="1" lang="en-US" altLang="ko-KR" dirty="0"/>
              <a:t>SAC, for continuous control experiments and</a:t>
            </a:r>
          </a:p>
          <a:p>
            <a:r>
              <a:rPr kumimoji="1" lang="en-US" altLang="ko-KR" dirty="0"/>
              <a:t>DQN, for discrete control experiments.</a:t>
            </a:r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792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Ⅰ. CQL-</a:t>
            </a:r>
            <a:r>
              <a:rPr kumimoji="1" lang="en-US" altLang="ko-KR" sz="3600" dirty="0" err="1"/>
              <a:t>Antmaze</a:t>
            </a:r>
            <a:endParaRPr kumimoji="1" lang="ko-KR" alt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6D7B1-BAA7-387E-ACFF-B637CFE6937C}"/>
              </a:ext>
            </a:extLst>
          </p:cNvPr>
          <p:cNvSpPr txBox="1"/>
          <p:nvPr/>
        </p:nvSpPr>
        <p:spPr>
          <a:xfrm>
            <a:off x="585216" y="1695565"/>
            <a:ext cx="10768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Installed </a:t>
            </a:r>
            <a:r>
              <a:rPr kumimoji="1" lang="en-US" altLang="ko-KR" dirty="0" err="1"/>
              <a:t>MuJoCo</a:t>
            </a:r>
            <a:r>
              <a:rPr kumimoji="1" lang="en-US" altLang="ko-KR" dirty="0"/>
              <a:t>, and tried to implement ‘</a:t>
            </a:r>
            <a:r>
              <a:rPr kumimoji="1" lang="en-US" altLang="ko-KR" dirty="0" err="1"/>
              <a:t>Antmaze</a:t>
            </a:r>
            <a:r>
              <a:rPr kumimoji="1" lang="en-US" altLang="ko-KR" dirty="0"/>
              <a:t>’ task like the paper..</a:t>
            </a:r>
          </a:p>
          <a:p>
            <a:r>
              <a:rPr kumimoji="1" lang="en-US" altLang="ko-KR" dirty="0"/>
              <a:t>However, using </a:t>
            </a:r>
            <a:r>
              <a:rPr kumimoji="1" lang="en-US" altLang="ko-KR" dirty="0" err="1"/>
              <a:t>cpu</a:t>
            </a:r>
            <a:r>
              <a:rPr kumimoji="1" lang="en-US" altLang="ko-KR" dirty="0"/>
              <a:t>, it was too slow to learn(1,000s per 1 epoch).</a:t>
            </a:r>
          </a:p>
          <a:p>
            <a:r>
              <a:rPr kumimoji="1" lang="en-US" altLang="ko-KR" dirty="0"/>
              <a:t>So, adjusting </a:t>
            </a:r>
            <a:r>
              <a:rPr kumimoji="1" lang="en-US" altLang="ko-KR" dirty="0" err="1"/>
              <a:t>n_epoch</a:t>
            </a:r>
            <a:r>
              <a:rPr kumimoji="1" lang="en-US" altLang="ko-KR" dirty="0"/>
              <a:t> &amp; </a:t>
            </a:r>
            <a:r>
              <a:rPr kumimoji="1" lang="en-US" altLang="ko-KR" dirty="0" err="1"/>
              <a:t>n_trains_per_train_loop</a:t>
            </a:r>
            <a:r>
              <a:rPr kumimoji="1" lang="en-US" altLang="ko-KR" dirty="0"/>
              <a:t> was necessary.</a:t>
            </a:r>
            <a:endParaRPr kumimoji="1" lang="ko-KR" altLang="en-US" dirty="0"/>
          </a:p>
        </p:txBody>
      </p:sp>
      <p:pic>
        <p:nvPicPr>
          <p:cNvPr id="4" name="그림 3" descr="스크린샷, 3D 모델링, 비디오 게임 소프트웨어, 디자인이(가) 표시된 사진&#10;&#10;자동 생성된 설명">
            <a:extLst>
              <a:ext uri="{FF2B5EF4-FFF2-40B4-BE49-F238E27FC236}">
                <a16:creationId xmlns:a16="http://schemas.microsoft.com/office/drawing/2014/main" id="{04DB73AB-1237-F80A-405B-FC8465A29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014242"/>
            <a:ext cx="5377249" cy="3387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11EC8-223C-6907-A56D-01F2B1CE0D09}"/>
              </a:ext>
            </a:extLst>
          </p:cNvPr>
          <p:cNvSpPr txBox="1"/>
          <p:nvPr/>
        </p:nvSpPr>
        <p:spPr>
          <a:xfrm>
            <a:off x="6495864" y="3429000"/>
            <a:ext cx="4958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n_epoch</a:t>
            </a:r>
            <a:r>
              <a:rPr kumimoji="1" lang="en-US" altLang="ko-KR" dirty="0"/>
              <a:t>: 3000 </a:t>
            </a:r>
            <a:r>
              <a:rPr kumimoji="1" lang="en-US" altLang="ko-KR" dirty="0">
                <a:sym typeface="Wingdings" pitchFamily="2" charset="2"/>
              </a:rPr>
              <a:t> 30</a:t>
            </a:r>
          </a:p>
          <a:p>
            <a:r>
              <a:rPr kumimoji="1" lang="en-US" altLang="ko-KR" dirty="0" err="1"/>
              <a:t>n_trains_per_train_loop</a:t>
            </a:r>
            <a:r>
              <a:rPr kumimoji="1" lang="en-US" altLang="ko-KR" dirty="0"/>
              <a:t>: 1000 </a:t>
            </a:r>
            <a:r>
              <a:rPr kumimoji="1" lang="en-US" altLang="ko-KR" dirty="0">
                <a:sym typeface="Wingdings" pitchFamily="2" charset="2"/>
              </a:rPr>
              <a:t> 10</a:t>
            </a:r>
          </a:p>
          <a:p>
            <a:endParaRPr kumimoji="1" lang="en-US" altLang="ko-KR" dirty="0">
              <a:sym typeface="Wingdings" pitchFamily="2" charset="2"/>
            </a:endParaRPr>
          </a:p>
          <a:p>
            <a:endParaRPr kumimoji="1" lang="en-US" altLang="ko-KR" dirty="0">
              <a:sym typeface="Wingdings" pitchFamily="2" charset="2"/>
            </a:endParaRPr>
          </a:p>
          <a:p>
            <a:r>
              <a:rPr kumimoji="1" lang="en-US" altLang="ko-KR" dirty="0">
                <a:sym typeface="Wingdings" pitchFamily="2" charset="2"/>
              </a:rPr>
              <a:t>Cannot get meaningful results..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614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Ⅱ. CQL-Maze2D</a:t>
            </a:r>
            <a:endParaRPr kumimoji="1" lang="ko-KR" altLang="en-US" sz="3600" dirty="0"/>
          </a:p>
        </p:txBody>
      </p:sp>
      <p:pic>
        <p:nvPicPr>
          <p:cNvPr id="4" name="그림 3" descr="스크린샷, 텍스트, 그래픽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5E778CCC-2B14-2317-3B5A-98D3353F2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769692"/>
            <a:ext cx="4508157" cy="2840139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2A5366C-67CD-110F-A310-9FACB7FE658B}"/>
              </a:ext>
            </a:extLst>
          </p:cNvPr>
          <p:cNvCxnSpPr/>
          <p:nvPr/>
        </p:nvCxnSpPr>
        <p:spPr>
          <a:xfrm>
            <a:off x="5447270" y="3233010"/>
            <a:ext cx="12974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스크린샷, 텍스트, 그래픽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119D3D50-C4E0-7652-DA88-F5D1F0372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445" y="1769692"/>
            <a:ext cx="4508156" cy="2840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E5BCFF-B5D1-D470-9F24-517CFF940797}"/>
              </a:ext>
            </a:extLst>
          </p:cNvPr>
          <p:cNvSpPr txBox="1"/>
          <p:nvPr/>
        </p:nvSpPr>
        <p:spPr>
          <a:xfrm>
            <a:off x="926756" y="4757351"/>
            <a:ext cx="3262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n_epoch</a:t>
            </a:r>
            <a:r>
              <a:rPr kumimoji="1" lang="en-US" altLang="ko-KR" dirty="0"/>
              <a:t> =</a:t>
            </a:r>
            <a:r>
              <a:rPr kumimoji="1" lang="en-US" altLang="ko-KR" dirty="0">
                <a:sym typeface="Wingdings" pitchFamily="2" charset="2"/>
              </a:rPr>
              <a:t> 30</a:t>
            </a:r>
          </a:p>
          <a:p>
            <a:r>
              <a:rPr kumimoji="1" lang="en-US" altLang="ko-KR" dirty="0" err="1"/>
              <a:t>n_trains_per_train_loop</a:t>
            </a:r>
            <a:r>
              <a:rPr kumimoji="1" lang="en-US" altLang="ko-KR" dirty="0"/>
              <a:t> = </a:t>
            </a:r>
            <a:r>
              <a:rPr kumimoji="1" lang="en-US" altLang="ko-KR" dirty="0">
                <a:sym typeface="Wingdings" pitchFamily="2" charset="2"/>
              </a:rPr>
              <a:t>10</a:t>
            </a:r>
          </a:p>
          <a:p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B0BCB-E497-DB2C-F375-42B88CE4AE77}"/>
              </a:ext>
            </a:extLst>
          </p:cNvPr>
          <p:cNvSpPr txBox="1"/>
          <p:nvPr/>
        </p:nvSpPr>
        <p:spPr>
          <a:xfrm>
            <a:off x="7773430" y="4757351"/>
            <a:ext cx="3262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n_epoch</a:t>
            </a:r>
            <a:r>
              <a:rPr kumimoji="1" lang="en-US" altLang="ko-KR" dirty="0"/>
              <a:t> =</a:t>
            </a:r>
            <a:r>
              <a:rPr kumimoji="1" lang="en-US" altLang="ko-KR" dirty="0">
                <a:sym typeface="Wingdings" pitchFamily="2" charset="2"/>
              </a:rPr>
              <a:t> 50</a:t>
            </a:r>
          </a:p>
          <a:p>
            <a:r>
              <a:rPr kumimoji="1" lang="en-US" altLang="ko-KR" dirty="0" err="1"/>
              <a:t>n_trains_per_train_loop</a:t>
            </a:r>
            <a:r>
              <a:rPr kumimoji="1" lang="en-US" altLang="ko-KR" dirty="0"/>
              <a:t> = </a:t>
            </a:r>
            <a:r>
              <a:rPr kumimoji="1" lang="en-US" altLang="ko-KR" dirty="0">
                <a:sym typeface="Wingdings" pitchFamily="2" charset="2"/>
              </a:rPr>
              <a:t>30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79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Ⅲ. Difficulties &amp; Plan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1B1BC-D537-3BE4-4C7A-281085C5F689}"/>
              </a:ext>
            </a:extLst>
          </p:cNvPr>
          <p:cNvSpPr txBox="1"/>
          <p:nvPr/>
        </p:nvSpPr>
        <p:spPr>
          <a:xfrm>
            <a:off x="630195" y="1915298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Facing computational limits while </a:t>
            </a:r>
            <a:r>
              <a:rPr kumimoji="1" lang="en-US" altLang="ko-KR" dirty="0" err="1"/>
              <a:t>cpu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searching methods to use </a:t>
            </a:r>
            <a:r>
              <a:rPr kumimoji="1" lang="en-US" altLang="ko-KR" dirty="0" err="1"/>
              <a:t>gpu</a:t>
            </a:r>
            <a:r>
              <a:rPr kumimoji="1" lang="en-US" altLang="ko-KR" dirty="0"/>
              <a:t> in docker.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If it gets possible, comparing experiment results with paper and observing changes in return with changes of algorithm would be possible.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So, next:</a:t>
            </a:r>
          </a:p>
          <a:p>
            <a:r>
              <a:rPr kumimoji="1" lang="en-US" altLang="ko-KR" dirty="0"/>
              <a:t>Experiment using </a:t>
            </a:r>
            <a:r>
              <a:rPr kumimoji="1" lang="en-US" altLang="ko-KR" dirty="0" err="1"/>
              <a:t>gpu</a:t>
            </a:r>
            <a:r>
              <a:rPr kumimoji="1" lang="en-US" altLang="ko-KR" dirty="0"/>
              <a:t> + Analysis and understanding of implementation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34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1280</Words>
  <Application>Microsoft Macintosh PowerPoint</Application>
  <PresentationFormat>와이드스크린</PresentationFormat>
  <Paragraphs>157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Cambria Math</vt:lpstr>
      <vt:lpstr>Wingdings</vt:lpstr>
      <vt:lpstr>Office 테마</vt:lpstr>
      <vt:lpstr>Lab Meeting</vt:lpstr>
      <vt:lpstr>0. Conservative Off-Policy Evaluation</vt:lpstr>
      <vt:lpstr>0. Conservative Q-Learning for Offline RL</vt:lpstr>
      <vt:lpstr>0. Conservative Q-Learning for Offline RL</vt:lpstr>
      <vt:lpstr>0. Conservative Q-Learning for Offline RL</vt:lpstr>
      <vt:lpstr>1-1. Experimental Evaluation – Gym domain</vt:lpstr>
      <vt:lpstr>1-1. Experimental Evaluation – Gym domain</vt:lpstr>
      <vt:lpstr>1-2. Adroit, Antmaze, Kitchen</vt:lpstr>
      <vt:lpstr>1-3. Atari games</vt:lpstr>
      <vt:lpstr>1-3. Atari games</vt:lpstr>
      <vt:lpstr>1-3. Atari games</vt:lpstr>
      <vt:lpstr>1-4. Analysis of CQL</vt:lpstr>
      <vt:lpstr>0. Practical Algorithms</vt:lpstr>
      <vt:lpstr>Ⅰ. CQL-Antmaze</vt:lpstr>
      <vt:lpstr>Ⅱ. CQL-Maze2D</vt:lpstr>
      <vt:lpstr>Ⅲ. Difficulties &amp;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최준명</dc:creator>
  <cp:lastModifiedBy>최준명</cp:lastModifiedBy>
  <cp:revision>69</cp:revision>
  <dcterms:created xsi:type="dcterms:W3CDTF">2024-07-29T07:45:27Z</dcterms:created>
  <dcterms:modified xsi:type="dcterms:W3CDTF">2024-07-30T15:01:12Z</dcterms:modified>
</cp:coreProperties>
</file>