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60" r:id="rId3"/>
    <p:sldId id="262" r:id="rId4"/>
    <p:sldId id="265" r:id="rId5"/>
    <p:sldId id="274" r:id="rId6"/>
    <p:sldId id="275" r:id="rId7"/>
    <p:sldId id="276" r:id="rId8"/>
    <p:sldId id="277" r:id="rId9"/>
    <p:sldId id="267" r:id="rId10"/>
    <p:sldId id="278" r:id="rId11"/>
    <p:sldId id="279" r:id="rId12"/>
    <p:sldId id="280" r:id="rId13"/>
    <p:sldId id="281" r:id="rId14"/>
    <p:sldId id="273" r:id="rId15"/>
    <p:sldId id="28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3669"/>
  </p:normalViewPr>
  <p:slideViewPr>
    <p:cSldViewPr snapToGrid="0">
      <p:cViewPr varScale="1">
        <p:scale>
          <a:sx n="92" d="100"/>
          <a:sy n="92" d="100"/>
        </p:scale>
        <p:origin x="1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575E5-FD72-CD4C-9DCD-1A9501E88B4C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9AFC6-5112-3045-8985-0C59BCC964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9544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Environment</a:t>
            </a:r>
            <a:r>
              <a:rPr kumimoji="1" lang="ko-KR" altLang="en-US" dirty="0" err="1"/>
              <a:t>와의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interaction </a:t>
            </a:r>
            <a:r>
              <a:rPr kumimoji="1" lang="ko-KR" altLang="en-US" dirty="0"/>
              <a:t>없이</a:t>
            </a:r>
            <a:r>
              <a:rPr kumimoji="1" lang="en-US" altLang="ko-KR" dirty="0"/>
              <a:t> learning 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offline RL.</a:t>
            </a:r>
          </a:p>
          <a:p>
            <a:r>
              <a:rPr kumimoji="1" lang="ko-KR" altLang="en-US" dirty="0"/>
              <a:t>이때 </a:t>
            </a:r>
            <a:r>
              <a:rPr kumimoji="1" lang="en-US" altLang="ko-KR" dirty="0"/>
              <a:t>dataset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collect</a:t>
            </a:r>
            <a:r>
              <a:rPr kumimoji="1" lang="ko-KR" altLang="en-US" dirty="0"/>
              <a:t>하는데 쓰이는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learning</a:t>
            </a:r>
            <a:r>
              <a:rPr kumimoji="1" lang="ko-KR" altLang="en-US" dirty="0" err="1"/>
              <a:t>해야하는</a:t>
            </a:r>
            <a:r>
              <a:rPr kumimoji="1" lang="ko-KR" altLang="en-US" dirty="0"/>
              <a:t>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가 다를 수 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3821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여기서 </a:t>
            </a:r>
            <a:r>
              <a:rPr kumimoji="1" lang="en-US" altLang="ko-KR" dirty="0"/>
              <a:t>distributional shift</a:t>
            </a:r>
            <a:r>
              <a:rPr kumimoji="1" lang="ko-KR" altLang="en-US" dirty="0"/>
              <a:t>가 기인하는데</a:t>
            </a:r>
            <a:r>
              <a:rPr kumimoji="1" lang="en-US" altLang="ko-KR" dirty="0"/>
              <a:t>, unseen action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en-US" altLang="ko-KR" dirty="0"/>
              <a:t>value function Q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overestimate</a:t>
            </a:r>
            <a:r>
              <a:rPr kumimoji="1" lang="ko-KR" altLang="en-US" dirty="0"/>
              <a:t> 될 수 있다는 뜻이다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3398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문제의 해결책으로 저자가 제시한 것이 </a:t>
            </a:r>
            <a:r>
              <a:rPr kumimoji="1" lang="en-US" altLang="ko-KR" dirty="0"/>
              <a:t>CQL, conservative Q-learning </a:t>
            </a:r>
            <a:r>
              <a:rPr kumimoji="1" lang="ko-KR" altLang="en-US" dirty="0"/>
              <a:t>이고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어떻게 구현되는지 알아보자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548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먼저 기존의 </a:t>
            </a:r>
            <a:r>
              <a:rPr kumimoji="1" lang="en-US" altLang="ko-KR" dirty="0"/>
              <a:t>policy evaluation process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Q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expectation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minimize</a:t>
            </a:r>
            <a:r>
              <a:rPr kumimoji="1" lang="ko-KR" altLang="en-US" dirty="0"/>
              <a:t>하는 값을 추가합니다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이때 </a:t>
            </a:r>
            <a:r>
              <a:rPr kumimoji="1" lang="en-US" altLang="ko-KR" dirty="0"/>
              <a:t>expectation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mu </a:t>
            </a:r>
            <a:r>
              <a:rPr kumimoji="1" lang="ko-KR" altLang="en-US" dirty="0"/>
              <a:t>아래에 있는데</a:t>
            </a:r>
            <a:r>
              <a:rPr kumimoji="1" lang="en-US" altLang="ko-KR" dirty="0"/>
              <a:t>, mu</a:t>
            </a:r>
            <a:r>
              <a:rPr kumimoji="1" lang="ko-KR" altLang="en-US" dirty="0"/>
              <a:t>는 임의의 </a:t>
            </a:r>
            <a:r>
              <a:rPr kumimoji="1" lang="en-US" altLang="ko-KR" dirty="0"/>
              <a:t>state-action pair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의미 하고</a:t>
            </a:r>
            <a:r>
              <a:rPr kumimoji="1" lang="en-US" altLang="ko-KR" dirty="0"/>
              <a:t>, mu a given s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dataset</a:t>
            </a:r>
            <a:r>
              <a:rPr kumimoji="1" lang="ko-KR" altLang="en-US" dirty="0" err="1"/>
              <a:t>으로부터의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state marginal</a:t>
            </a:r>
            <a:r>
              <a:rPr kumimoji="1" lang="ko-KR" altLang="en-US" dirty="0"/>
              <a:t>을 의미합니다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Q 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dataset</a:t>
            </a:r>
            <a:r>
              <a:rPr kumimoji="1" lang="ko-KR" altLang="en-US" dirty="0"/>
              <a:t>내의 </a:t>
            </a:r>
            <a:r>
              <a:rPr kumimoji="1" lang="en-US" altLang="ko-KR" dirty="0"/>
              <a:t>state s </a:t>
            </a:r>
            <a:r>
              <a:rPr kumimoji="1" lang="ko-KR" altLang="en-US" dirty="0" err="1"/>
              <a:t>로부터의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unseen action 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포함할 수 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이로 인한 </a:t>
            </a:r>
            <a:r>
              <a:rPr kumimoji="1" lang="en-US" altLang="ko-KR" dirty="0"/>
              <a:t>large Q value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야기할 수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이걸 </a:t>
            </a:r>
            <a:r>
              <a:rPr kumimoji="1" lang="en-US" altLang="ko-KR" dirty="0"/>
              <a:t>minimize </a:t>
            </a:r>
            <a:r>
              <a:rPr kumimoji="1" lang="ko-KR" altLang="en-US" dirty="0"/>
              <a:t>하는 것입니다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본문에서 이 식이 큰 </a:t>
            </a:r>
            <a:r>
              <a:rPr kumimoji="1" lang="en-US" altLang="ko-KR" dirty="0"/>
              <a:t>alpha</a:t>
            </a:r>
            <a:r>
              <a:rPr kumimoji="1" lang="ko-KR" altLang="en-US" dirty="0"/>
              <a:t>값에 대해 </a:t>
            </a:r>
            <a:r>
              <a:rPr kumimoji="1" lang="en-US" altLang="ko-KR" dirty="0"/>
              <a:t>iteration</a:t>
            </a:r>
            <a:r>
              <a:rPr kumimoji="1" lang="ko-KR" altLang="en-US" dirty="0"/>
              <a:t>의 결과인 </a:t>
            </a:r>
            <a:r>
              <a:rPr kumimoji="1" lang="en-US" altLang="ko-KR" dirty="0" err="1"/>
              <a:t>Q^pi</a:t>
            </a:r>
            <a:r>
              <a:rPr kumimoji="1" lang="en-US" altLang="ko-KR" dirty="0"/>
              <a:t> 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true Q 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lower bound </a:t>
            </a:r>
            <a:r>
              <a:rPr kumimoji="1" lang="ko-KR" altLang="en-US" dirty="0"/>
              <a:t>함이 증명되어 있습니다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6481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Value function Q</a:t>
            </a:r>
            <a:r>
              <a:rPr kumimoji="1" lang="ko-KR" altLang="en-US" dirty="0"/>
              <a:t>가 아닌 </a:t>
            </a:r>
            <a:r>
              <a:rPr kumimoji="1" lang="en-US" altLang="ko-KR" dirty="0"/>
              <a:t>Value V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집중한다면 이</a:t>
            </a:r>
            <a:r>
              <a:rPr kumimoji="1" lang="en-US" altLang="ko-KR" dirty="0"/>
              <a:t> bound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좀더 </a:t>
            </a:r>
            <a:r>
              <a:rPr kumimoji="1" lang="en-US" altLang="ko-KR" dirty="0"/>
              <a:t>tighten</a:t>
            </a:r>
            <a:r>
              <a:rPr kumimoji="1" lang="ko-KR" altLang="en-US" dirty="0" err="1"/>
              <a:t>할수도</a:t>
            </a:r>
            <a:r>
              <a:rPr kumimoji="1" lang="ko-KR" altLang="en-US" dirty="0"/>
              <a:t> 있다</a:t>
            </a:r>
            <a:r>
              <a:rPr kumimoji="1" lang="en-US" altLang="ko-KR" dirty="0"/>
              <a:t>. </a:t>
            </a:r>
            <a:r>
              <a:rPr kumimoji="1" lang="ko-KR" altLang="en-US" dirty="0" err="1"/>
              <a:t>방금전</a:t>
            </a:r>
            <a:r>
              <a:rPr kumimoji="1" lang="ko-KR" altLang="en-US" dirty="0"/>
              <a:t> </a:t>
            </a:r>
            <a:r>
              <a:rPr kumimoji="1" lang="en-US" altLang="ko-KR" dirty="0"/>
              <a:t>equation 1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Q-value maximization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term</a:t>
            </a:r>
            <a:r>
              <a:rPr kumimoji="1" lang="ko-KR" altLang="en-US" dirty="0"/>
              <a:t>을 추가한다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 </a:t>
            </a:r>
            <a:r>
              <a:rPr kumimoji="1" lang="en-US" altLang="ko-KR" dirty="0"/>
              <a:t>term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expectation of Q under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앞의 모든 </a:t>
            </a:r>
            <a:r>
              <a:rPr kumimoji="1" lang="en-US" altLang="ko-KR" dirty="0"/>
              <a:t>action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구했던 값에서 </a:t>
            </a:r>
            <a:r>
              <a:rPr kumimoji="1" lang="en-US" altLang="ko-KR" dirty="0"/>
              <a:t>pi beta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in-distribution action</a:t>
            </a:r>
            <a:r>
              <a:rPr kumimoji="1" lang="ko-KR" altLang="en-US" dirty="0"/>
              <a:t>의 값들은 </a:t>
            </a:r>
            <a:r>
              <a:rPr kumimoji="1" lang="ko-KR" altLang="en-US" dirty="0" err="1"/>
              <a:t>빼주는</a:t>
            </a:r>
            <a:r>
              <a:rPr kumimoji="1" lang="ko-KR" altLang="en-US" dirty="0"/>
              <a:t> 것이다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3928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파란색 부분에 대해 </a:t>
            </a:r>
            <a:r>
              <a:rPr kumimoji="1" lang="en-US" altLang="ko-KR" dirty="0" err="1"/>
              <a:t>arg</a:t>
            </a:r>
            <a:r>
              <a:rPr kumimoji="1" lang="en-US" altLang="ko-KR" dirty="0"/>
              <a:t> min</a:t>
            </a:r>
            <a:r>
              <a:rPr kumimoji="1" lang="ko-KR" altLang="en-US" dirty="0"/>
              <a:t>이기 때문에 이 </a:t>
            </a:r>
            <a:r>
              <a:rPr kumimoji="1" lang="en-US" altLang="ko-KR" dirty="0"/>
              <a:t>expectation</a:t>
            </a:r>
            <a:r>
              <a:rPr kumimoji="1" lang="ko-KR" altLang="en-US" dirty="0"/>
              <a:t>은 커지는 방향으로 가게 된다 즉</a:t>
            </a:r>
            <a:r>
              <a:rPr kumimoji="1" lang="en-US" altLang="ko-KR" dirty="0"/>
              <a:t>, action</a:t>
            </a:r>
            <a:r>
              <a:rPr kumimoji="1" lang="ko-KR" altLang="en-US" dirty="0"/>
              <a:t>들에 대해 </a:t>
            </a:r>
            <a:r>
              <a:rPr kumimoji="1" lang="en-US" altLang="ko-KR" dirty="0"/>
              <a:t>penalty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주면서도 </a:t>
            </a:r>
            <a:r>
              <a:rPr kumimoji="1" lang="en-US" altLang="ko-KR" dirty="0"/>
              <a:t>in-</a:t>
            </a:r>
            <a:r>
              <a:rPr kumimoji="1" lang="en-US" altLang="ko-KR" dirty="0" err="1"/>
              <a:t>distributuion</a:t>
            </a:r>
            <a:r>
              <a:rPr kumimoji="1" lang="en-US" altLang="ko-KR" dirty="0"/>
              <a:t> action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대해서는 </a:t>
            </a:r>
            <a:r>
              <a:rPr kumimoji="1" lang="en-US" altLang="ko-KR" dirty="0"/>
              <a:t>maximize </a:t>
            </a:r>
            <a:r>
              <a:rPr kumimoji="1" lang="ko-KR" altLang="en-US" dirty="0"/>
              <a:t>하면서 </a:t>
            </a:r>
            <a:r>
              <a:rPr kumimoji="1" lang="en-US" altLang="ko-KR" dirty="0"/>
              <a:t>bound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tighten</a:t>
            </a:r>
            <a:r>
              <a:rPr kumimoji="1" lang="ko-KR" altLang="en-US" dirty="0"/>
              <a:t>하겠다는 뜻이다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이것 또한 </a:t>
            </a:r>
            <a:r>
              <a:rPr kumimoji="1" lang="en-US" altLang="ko-KR" dirty="0"/>
              <a:t>mu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pi(</a:t>
            </a:r>
            <a:r>
              <a:rPr kumimoji="1" lang="en-US" altLang="ko-KR" dirty="0" err="1"/>
              <a:t>als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일때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V pi 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true V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lower bound</a:t>
            </a:r>
            <a:r>
              <a:rPr kumimoji="1" lang="ko-KR" altLang="en-US" dirty="0"/>
              <a:t>함이 증명되어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다만 이 경우엔 </a:t>
            </a:r>
            <a:r>
              <a:rPr kumimoji="1" lang="en-US" altLang="ko-KR" dirty="0"/>
              <a:t>Q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en-US" altLang="ko-KR" dirty="0"/>
              <a:t>overestimation</a:t>
            </a:r>
            <a:r>
              <a:rPr kumimoji="1" lang="ko-KR" altLang="en-US" dirty="0"/>
              <a:t>이 포함될 수 있어서 </a:t>
            </a:r>
            <a:r>
              <a:rPr kumimoji="1" lang="en-US" altLang="ko-KR" dirty="0"/>
              <a:t>Q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lower bound</a:t>
            </a:r>
            <a:r>
              <a:rPr kumimoji="1" lang="ko-KR" altLang="en-US" dirty="0"/>
              <a:t>하지 </a:t>
            </a:r>
            <a:r>
              <a:rPr kumimoji="1" lang="ko-KR" altLang="en-US" dirty="0" err="1"/>
              <a:t>못할수도</a:t>
            </a:r>
            <a:r>
              <a:rPr kumimoji="1" lang="ko-KR" altLang="en-US" dirty="0"/>
              <a:t> 있다고 한다</a:t>
            </a:r>
            <a:r>
              <a:rPr kumimoji="1" lang="en-US" altLang="ko-KR" dirty="0"/>
              <a:t>.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283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지금까지 </a:t>
            </a:r>
            <a:r>
              <a:rPr kumimoji="1" lang="en-US" altLang="ko-KR" dirty="0"/>
              <a:t>policy evaluation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conservative</a:t>
            </a:r>
            <a:r>
              <a:rPr kumimoji="1" lang="ko-KR" altLang="en-US" dirty="0"/>
              <a:t>하게 하는 방법을 알아보았고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이제 </a:t>
            </a:r>
            <a:r>
              <a:rPr kumimoji="1" lang="en-US" altLang="ko-KR" dirty="0"/>
              <a:t>policy improvement</a:t>
            </a:r>
            <a:r>
              <a:rPr kumimoji="1" lang="ko-KR" altLang="en-US" dirty="0" err="1"/>
              <a:t>에까지</a:t>
            </a:r>
            <a:r>
              <a:rPr kumimoji="1" lang="ko-KR" altLang="en-US" dirty="0"/>
              <a:t> 적용하는 방법을 알아보겠다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policy evaluation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improvement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번갈아가며</a:t>
            </a:r>
            <a:r>
              <a:rPr kumimoji="1" lang="ko-KR" altLang="en-US" dirty="0"/>
              <a:t> 진행하는 방법이 있지만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방법은 너무 </a:t>
            </a:r>
            <a:r>
              <a:rPr kumimoji="1" lang="ko-KR" altLang="en-US" dirty="0" err="1"/>
              <a:t>연산량이</a:t>
            </a:r>
            <a:r>
              <a:rPr kumimoji="1" lang="ko-KR" altLang="en-US" dirty="0"/>
              <a:t> 크다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대신에 </a:t>
            </a:r>
            <a:r>
              <a:rPr kumimoji="1" lang="en-US" altLang="ko-KR" dirty="0"/>
              <a:t>policy evaluation</a:t>
            </a:r>
            <a:r>
              <a:rPr kumimoji="1" lang="ko-KR" altLang="en-US" dirty="0"/>
              <a:t>과정에서 현재 </a:t>
            </a:r>
            <a:r>
              <a:rPr kumimoji="1" lang="en-US" altLang="ko-KR" dirty="0"/>
              <a:t>Q-function iterate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maximize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mu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선택함으로써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추정한다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</a:t>
            </a:r>
            <a:r>
              <a:rPr kumimoji="1" lang="en-US" altLang="ko-KR" dirty="0"/>
              <a:t>CQL(R)</a:t>
            </a:r>
            <a:r>
              <a:rPr kumimoji="1" lang="ko-KR" altLang="en-US" dirty="0"/>
              <a:t>이라 불리는 </a:t>
            </a:r>
            <a:r>
              <a:rPr kumimoji="1" lang="en-US" altLang="ko-KR" dirty="0"/>
              <a:t>family of optimization </a:t>
            </a:r>
            <a:r>
              <a:rPr kumimoji="1" lang="ko-KR" altLang="en-US" dirty="0"/>
              <a:t>을 정의하고 이를 </a:t>
            </a:r>
            <a:r>
              <a:rPr kumimoji="1" lang="en-US" altLang="ko-KR" dirty="0" err="1"/>
              <a:t>regularizer</a:t>
            </a:r>
            <a:r>
              <a:rPr kumimoji="1" lang="en-US" altLang="ko-KR" dirty="0"/>
              <a:t> R(mu)</a:t>
            </a:r>
            <a:r>
              <a:rPr kumimoji="1" lang="ko-KR" altLang="en-US" dirty="0" err="1"/>
              <a:t>로써</a:t>
            </a:r>
            <a:r>
              <a:rPr kumimoji="1" lang="ko-KR" altLang="en-US" dirty="0"/>
              <a:t> 추가한다고 하는데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</a:t>
            </a:r>
            <a:r>
              <a:rPr kumimoji="1" lang="en-US" altLang="ko-KR" dirty="0" err="1"/>
              <a:t>regularlizer</a:t>
            </a:r>
            <a:r>
              <a:rPr kumimoji="1" lang="ko-KR" altLang="en-US" dirty="0"/>
              <a:t>의 종류에 따라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의 특성이 변한다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6862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</a:t>
            </a:r>
            <a:r>
              <a:rPr kumimoji="1" lang="en-US" altLang="ko-KR" dirty="0" err="1"/>
              <a:t>regularizer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prior rho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en-US" altLang="ko-KR" dirty="0"/>
              <a:t>KL-divergence</a:t>
            </a:r>
            <a:r>
              <a:rPr kumimoji="1" lang="ko-KR" altLang="en-US" dirty="0"/>
              <a:t>로 선택하면</a:t>
            </a:r>
            <a:r>
              <a:rPr kumimoji="1" lang="en-US" altLang="ko-KR" dirty="0"/>
              <a:t>, mu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rho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Q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exponential</a:t>
            </a:r>
            <a:r>
              <a:rPr kumimoji="1" lang="ko-KR" altLang="en-US" dirty="0"/>
              <a:t>의 곱에 비례함을 얻을 수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</a:t>
            </a:r>
            <a:r>
              <a:rPr kumimoji="1" lang="en-US" altLang="ko-KR" dirty="0"/>
              <a:t>rho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unifom</a:t>
            </a:r>
            <a:r>
              <a:rPr kumimoji="1" lang="en-US" altLang="ko-KR" dirty="0"/>
              <a:t> distribution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선택하면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</a:t>
            </a:r>
            <a:r>
              <a:rPr kumimoji="1" lang="en-US" altLang="ko-KR" dirty="0"/>
              <a:t>random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action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보면 앞의 </a:t>
            </a:r>
            <a:r>
              <a:rPr kumimoji="1" lang="en-US" altLang="ko-KR" dirty="0"/>
              <a:t>equation 3</a:t>
            </a:r>
            <a:r>
              <a:rPr kumimoji="1" lang="ko-KR" altLang="en-US" dirty="0"/>
              <a:t>가 이런 </a:t>
            </a:r>
            <a:r>
              <a:rPr kumimoji="1" lang="en-US" altLang="ko-KR" dirty="0"/>
              <a:t>sigma </a:t>
            </a:r>
            <a:r>
              <a:rPr kumimoji="1" lang="ko-KR" altLang="en-US" dirty="0"/>
              <a:t>형태로 바뀌게 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</a:t>
            </a:r>
            <a:r>
              <a:rPr kumimoji="1" lang="en-US" altLang="ko-KR" dirty="0"/>
              <a:t> family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CQL(H)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부른다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9614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둘째로 </a:t>
            </a:r>
            <a:r>
              <a:rPr kumimoji="1" lang="en-US" altLang="ko-KR" dirty="0"/>
              <a:t>rho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직전의 </a:t>
            </a:r>
            <a:r>
              <a:rPr kumimoji="1" lang="en-US" altLang="ko-KR" dirty="0"/>
              <a:t>policy pi^k-1</a:t>
            </a:r>
            <a:r>
              <a:rPr kumimoji="1" lang="ko-KR" altLang="en-US" dirty="0"/>
              <a:t>로 선택하면 </a:t>
            </a:r>
            <a:r>
              <a:rPr kumimoji="1" lang="en-US" altLang="ko-KR" dirty="0"/>
              <a:t>equation</a:t>
            </a:r>
            <a:r>
              <a:rPr kumimoji="1" lang="ko-KR" altLang="en-US" dirty="0"/>
              <a:t>은 이러한 </a:t>
            </a:r>
            <a:r>
              <a:rPr kumimoji="1" lang="en-US" altLang="ko-KR" dirty="0"/>
              <a:t>exponential weighted average</a:t>
            </a:r>
            <a:r>
              <a:rPr kumimoji="1" lang="ko-KR" altLang="en-US" dirty="0"/>
              <a:t>의 형태가 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이를 </a:t>
            </a:r>
            <a:r>
              <a:rPr kumimoji="1" lang="en-US" altLang="ko-KR" dirty="0"/>
              <a:t>CQL(rho)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6698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CQL</a:t>
            </a:r>
            <a:r>
              <a:rPr kumimoji="1" lang="ko-KR" altLang="en-US" dirty="0"/>
              <a:t> 알고리즘은 </a:t>
            </a:r>
            <a:r>
              <a:rPr kumimoji="1" lang="en-US" altLang="ko-KR" dirty="0"/>
              <a:t>Q-learning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actor-critic</a:t>
            </a:r>
            <a:r>
              <a:rPr kumimoji="1" lang="ko-KR" altLang="en-US" dirty="0"/>
              <a:t>의 두 유형을 기반으로 만들었다고 한다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이때 </a:t>
            </a:r>
            <a:r>
              <a:rPr kumimoji="1" lang="en-US" altLang="ko-KR" dirty="0"/>
              <a:t>discrete</a:t>
            </a:r>
            <a:r>
              <a:rPr kumimoji="1" lang="ko-KR" altLang="en-US" dirty="0"/>
              <a:t>한 경우는 </a:t>
            </a:r>
            <a:r>
              <a:rPr kumimoji="1" lang="en-US" altLang="ko-KR" dirty="0"/>
              <a:t>DQN, continuous</a:t>
            </a:r>
            <a:r>
              <a:rPr kumimoji="1" lang="ko-KR" altLang="en-US" dirty="0"/>
              <a:t>한 경우는 </a:t>
            </a:r>
            <a:r>
              <a:rPr kumimoji="1" lang="en-US" altLang="ko-KR" dirty="0"/>
              <a:t>SAC</a:t>
            </a:r>
            <a:r>
              <a:rPr kumimoji="1" lang="ko-KR" altLang="en-US" dirty="0"/>
              <a:t>을 쓴다고 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Theta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Q function model</a:t>
            </a:r>
            <a:r>
              <a:rPr kumimoji="1" lang="ko-KR" altLang="en-US" dirty="0"/>
              <a:t>의 매개변수</a:t>
            </a:r>
            <a:r>
              <a:rPr kumimoji="1" lang="en-US" altLang="ko-KR" dirty="0"/>
              <a:t>, phi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모델의 매개변수를 나타낸다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각 매개변수를 초기화한 이후에</a:t>
            </a:r>
            <a:r>
              <a:rPr kumimoji="1" lang="en-US" altLang="ko-KR" dirty="0"/>
              <a:t>, GQ gradient step </a:t>
            </a:r>
            <a:r>
              <a:rPr kumimoji="1" lang="ko-KR" altLang="en-US" dirty="0"/>
              <a:t>만큼 </a:t>
            </a:r>
            <a:r>
              <a:rPr kumimoji="1" lang="en-US" altLang="ko-KR" dirty="0"/>
              <a:t>CQL objective function </a:t>
            </a:r>
            <a:r>
              <a:rPr kumimoji="1" lang="ko-KR" altLang="en-US" dirty="0"/>
              <a:t>을 적용한 </a:t>
            </a:r>
            <a:r>
              <a:rPr kumimoji="1" lang="en-US" altLang="ko-KR" dirty="0"/>
              <a:t>Q </a:t>
            </a:r>
            <a:r>
              <a:rPr kumimoji="1" lang="ko-KR" altLang="en-US" dirty="0"/>
              <a:t>학습을 진행한다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그리고 </a:t>
            </a:r>
            <a:r>
              <a:rPr kumimoji="1" lang="en-US" altLang="ko-KR" dirty="0"/>
              <a:t>actor critic method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쓸때는</a:t>
            </a:r>
            <a:r>
              <a:rPr kumimoji="1" lang="ko-KR" altLang="en-US" dirty="0"/>
              <a:t> </a:t>
            </a:r>
            <a:r>
              <a:rPr kumimoji="1" lang="en-US" altLang="ko-KR" dirty="0"/>
              <a:t>g phi gradient step</a:t>
            </a:r>
            <a:r>
              <a:rPr kumimoji="1" lang="ko-KR" altLang="en-US" dirty="0"/>
              <a:t>만큼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모델에 대한 학습을 진행한다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이때 </a:t>
            </a:r>
            <a:r>
              <a:rPr kumimoji="1" lang="en-US" altLang="ko-KR" dirty="0"/>
              <a:t>SAC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entropy regularization</a:t>
            </a:r>
            <a:r>
              <a:rPr kumimoji="1" lang="ko-KR" altLang="en-US" dirty="0"/>
              <a:t>을 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7223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앞서 말했던 </a:t>
            </a:r>
            <a:r>
              <a:rPr kumimoji="1" lang="en-US" altLang="ko-KR" dirty="0"/>
              <a:t>CQL(R) 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prior</a:t>
            </a:r>
            <a:r>
              <a:rPr kumimoji="1" lang="ko-KR" altLang="en-US" dirty="0"/>
              <a:t>의 선택에 대해서는</a:t>
            </a:r>
            <a:r>
              <a:rPr kumimoji="1" lang="en-US" altLang="ko-KR" dirty="0"/>
              <a:t>, CQL(H),</a:t>
            </a:r>
            <a:r>
              <a:rPr kumimoji="1" lang="ko-KR" altLang="en-US" dirty="0"/>
              <a:t> 즉 </a:t>
            </a:r>
            <a:r>
              <a:rPr kumimoji="1" lang="en-US" altLang="ko-KR" dirty="0"/>
              <a:t>uniform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prior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대부분 더 좋은 성능을 나타냈지만</a:t>
            </a:r>
            <a:r>
              <a:rPr kumimoji="1" lang="en-US" altLang="ko-KR" dirty="0"/>
              <a:t>, large action space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대해서는 높은 </a:t>
            </a:r>
            <a:r>
              <a:rPr kumimoji="1" lang="en-US" altLang="ko-KR" dirty="0"/>
              <a:t>variance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cost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나타냈기 때문에</a:t>
            </a:r>
            <a:endParaRPr kumimoji="1" lang="en-US" altLang="ko-KR" dirty="0"/>
          </a:p>
          <a:p>
            <a:r>
              <a:rPr kumimoji="1" lang="ko-KR" altLang="en-US" dirty="0"/>
              <a:t>두 </a:t>
            </a:r>
            <a:r>
              <a:rPr kumimoji="1" lang="en-US" altLang="ko-KR" dirty="0"/>
              <a:t>prior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action sample</a:t>
            </a:r>
            <a:r>
              <a:rPr kumimoji="1" lang="ko-KR" altLang="en-US" dirty="0"/>
              <a:t>의 평균을 사용해서 </a:t>
            </a:r>
            <a:r>
              <a:rPr kumimoji="1" lang="en-US" altLang="ko-KR" dirty="0"/>
              <a:t>implement </a:t>
            </a:r>
            <a:r>
              <a:rPr kumimoji="1" lang="ko-KR" altLang="en-US" dirty="0"/>
              <a:t>했다고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7838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894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RL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safety </a:t>
            </a:r>
            <a:r>
              <a:rPr kumimoji="1" lang="ko-KR" altLang="en-US" dirty="0"/>
              <a:t>문제를 해결하는 기존의 방법인 </a:t>
            </a:r>
            <a:r>
              <a:rPr kumimoji="1" lang="en-US" altLang="ko-KR" dirty="0"/>
              <a:t>objective function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변화를 주는 것과 </a:t>
            </a:r>
            <a:r>
              <a:rPr kumimoji="1" lang="en-US" altLang="ko-KR" dirty="0"/>
              <a:t>exploration process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improve</a:t>
            </a:r>
            <a:r>
              <a:rPr kumimoji="1" lang="ko-KR" altLang="en-US" dirty="0"/>
              <a:t>하는 것은 근본적인 해결법이 </a:t>
            </a:r>
            <a:r>
              <a:rPr kumimoji="1" lang="ko-KR" altLang="en-US" dirty="0" err="1"/>
              <a:t>아니라서</a:t>
            </a:r>
            <a:r>
              <a:rPr kumimoji="1" lang="ko-KR" altLang="en-US" dirty="0"/>
              <a:t> 위험할 수 있다고 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CMDP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기반을 둔 </a:t>
            </a:r>
            <a:r>
              <a:rPr kumimoji="1" lang="en-US" altLang="ko-KR" dirty="0"/>
              <a:t>safe Q-learning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이 문제를 해결하겠다고 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방법은 </a:t>
            </a:r>
            <a:r>
              <a:rPr kumimoji="1" lang="en-US" altLang="ko-KR" dirty="0"/>
              <a:t>constrained Markov decision process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사용해서 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action space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safety constraints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적용한다고 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</a:t>
            </a:r>
            <a:r>
              <a:rPr kumimoji="1" lang="en-US" altLang="ko-KR" dirty="0" err="1"/>
              <a:t>lagrange</a:t>
            </a:r>
            <a:r>
              <a:rPr kumimoji="1" lang="en-US" altLang="ko-KR" dirty="0"/>
              <a:t> multiplier method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적용하여 이 </a:t>
            </a:r>
            <a:r>
              <a:rPr kumimoji="1" lang="en-US" altLang="ko-KR" dirty="0" err="1"/>
              <a:t>constaint</a:t>
            </a:r>
            <a:r>
              <a:rPr kumimoji="1" lang="en-US" altLang="ko-KR" dirty="0"/>
              <a:t> function</a:t>
            </a:r>
            <a:r>
              <a:rPr kumimoji="1" lang="ko-KR" altLang="en-US" dirty="0"/>
              <a:t>을 </a:t>
            </a:r>
            <a:r>
              <a:rPr kumimoji="1" lang="en-US" altLang="ko-KR" dirty="0" err="1"/>
              <a:t>linearlize</a:t>
            </a:r>
            <a:r>
              <a:rPr kumimoji="1" lang="en-US" altLang="ko-KR" dirty="0"/>
              <a:t> </a:t>
            </a:r>
            <a:r>
              <a:rPr kumimoji="1" lang="ko-KR" altLang="en-US" dirty="0"/>
              <a:t>할 수 있고 이를 통해 </a:t>
            </a:r>
            <a:r>
              <a:rPr kumimoji="1" lang="en-US" altLang="ko-KR" dirty="0"/>
              <a:t>global optimum solution</a:t>
            </a:r>
            <a:r>
              <a:rPr kumimoji="1" lang="ko-KR" altLang="en-US" dirty="0"/>
              <a:t>을 보장할 수 있다고 함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1668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E32C2-AAF9-3B2A-5049-D1C91FC61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AB757B-0672-3D6A-3BF0-C48255938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36C83-4DFD-A64F-EAB1-0DB5B56E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6CF34-2C5A-4B18-822D-59ADC0C5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EA71DE-94E6-F5D1-4530-F004A893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2C1A9584-BD9D-5790-758A-5FAB37131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3422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4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F4A48-9164-C996-98C7-01DCE898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4F8B5-1FA5-581B-6146-AE0A00F3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799A89-181F-0AC9-9921-789A4157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5EB3B-0BF9-BE7B-EB1D-0167278E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0D0304-E77A-333D-FC95-7093AAA1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317D299C-AB96-2F4C-2530-E3138168D4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3422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5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34206-FE66-597D-75F5-DDF39DC6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E85C5-11D2-D49D-C7BA-554F22CF2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BBCEF9-768F-AC17-94D5-E19504ED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D9FDD-2FE7-4767-ED78-9561404E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F0FDCD-9976-B0F1-CAF6-46E2FE8E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999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C609D-D8DF-3742-9689-4B15C2B4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F96F2-4D14-EC02-FCFA-31D2B0376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E877CE-ADF8-03C0-807E-954A32C41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45C3B-FADB-505A-DAFC-88C56EC6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E0FA1C-64B8-A10B-386C-34B017B6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D78015-1244-77EB-C0CB-1F1BC7A6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24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D928A-D65F-C642-1E73-6270DA17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4F807-AB6D-9488-B8BD-22E3B60B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8F4172-FE66-2490-28FA-BFC97F5D0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6E473A-D973-DB3F-DE1D-47DF76F53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9640BEB-10FE-2879-219E-2D9A4D45E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E97CC5-385C-6AF8-9009-255B6E91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9A8A0E-1D56-D008-F14A-76C6E5EA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0B00FF-4C8A-338E-C97D-3106F103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041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FBA27-2E08-CCFC-DDE6-76E0A281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D1289-AC13-497A-1A74-EA4C8AEE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C5B82E-6596-4789-C0B2-8E25250E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1E2110-1366-349B-F660-00D1797B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109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5B869A-324C-CA90-2163-C375D3A9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1A5CA0-C5D3-01F6-7278-F6CFA5CB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680B2-825B-D037-A3A8-1321CEB7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455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D09F1-8A2C-D4C6-BD92-543A74CF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B076A-97C7-61D1-7C88-363A18510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FA8577-8629-C908-4426-43BA39A27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BE200B-0BAB-4C11-300D-C9EC4901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5BA0D2-2D61-FA41-AC99-6A55D2FB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FA60B3-156A-22DE-943B-82A1F864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433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61BC1-919B-111A-0869-B7D3BE3A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9CACD0-ABA3-DE43-358E-E757B8659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CDC323-479F-D10D-6B14-E0C65AD2C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56A0DB-A2A7-71EA-D94A-8DEA4388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6D7E6-3E4E-BB95-3C0F-FF39C9A7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94865E-FDAE-EFC2-E9D9-F94F35B0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091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14F2B-97CD-20ED-1BF4-FF7FB3CF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C1C0D4-1D51-0555-47C3-FCFE9A130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63643-A323-FF22-55C3-50911495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8BAE3-193D-9B4B-97EB-D53C21C7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00C3F7-28D1-0B15-D29D-8116B2D3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782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E8591F-6099-6B35-55C9-F42ED95D5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034B63-0974-2D86-1B65-D9FC1FDFA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A4C12-8D4C-8345-33B5-F2D74832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26055-A6D6-39B1-B019-31892B74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84424-EC3C-B230-822D-D77A127E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54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4C9248-103E-E2FF-AD99-ED07A8AF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C74A2F-1789-08D0-E98E-18CF987DE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AE032-B31B-509F-D7BB-251D6FCB2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2CB08-D5E3-A44B-82B0-6B585945D594}" type="datetimeFigureOut">
              <a:rPr kumimoji="1" lang="ko-KR" altLang="en-US" smtClean="0"/>
              <a:t>2024. 7. 13.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C0F99C-58C4-EF1B-6235-9FDD1B6B2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ED761-B251-A4A3-74E0-FFCFE26D2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FF8CE-37AF-0C49-99E9-C0AD6373457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369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0.png"/><Relationship Id="rId4" Type="http://schemas.openxmlformats.org/officeDocument/2006/relationships/hyperlink" Target="https://towardsdatascience.com/the-power-of-offline-reinforcement-learning-5e3d3942421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xhere.com/ko/photo/945907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C6F5-F72D-8B0A-8DA6-156A2D873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Lab Meeting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69C6E-31EA-E4F7-4EB8-5B0000913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07/17/2024, </a:t>
            </a:r>
            <a:r>
              <a:rPr kumimoji="1" lang="ko-KR" altLang="en-US" dirty="0"/>
              <a:t>최준명</a:t>
            </a:r>
          </a:p>
        </p:txBody>
      </p:sp>
    </p:spTree>
    <p:extLst>
      <p:ext uri="{BB962C8B-B14F-4D97-AF65-F5344CB8AC3E}">
        <p14:creationId xmlns:p14="http://schemas.microsoft.com/office/powerpoint/2010/main" val="1059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8634C-6FF0-AE22-EF34-B998547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Offline RL</a:t>
            </a:r>
            <a:endParaRPr kumimoji="1" lang="ko-KR" altLang="en-US" sz="3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032B82-F8AB-1ABD-48AE-38F04E2E3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5450"/>
            <a:ext cx="5940552" cy="259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EF4A0-C569-E475-B504-04F5FFC5EB27}"/>
              </a:ext>
            </a:extLst>
          </p:cNvPr>
          <p:cNvSpPr txBox="1"/>
          <p:nvPr/>
        </p:nvSpPr>
        <p:spPr>
          <a:xfrm>
            <a:off x="838200" y="6338986"/>
            <a:ext cx="8802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image: </a:t>
            </a:r>
            <a:r>
              <a:rPr kumimoji="1" lang="en-US" altLang="ko-KR" sz="1400" dirty="0">
                <a:hlinkClick r:id="rId4"/>
              </a:rPr>
              <a:t>https://towardsdatascience.com/the-power-of-offline-reinforcement-learning-5e3d3942421c</a:t>
            </a:r>
            <a:endParaRPr kumimoji="1"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/>
              <p:nvPr/>
            </p:nvSpPr>
            <p:spPr>
              <a:xfrm>
                <a:off x="1011936" y="4632960"/>
                <a:ext cx="10341864" cy="122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No interaction with environment, learn from (large)fixed dataset.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dirty="0"/>
                  <a:t>: policy used in collecting data from environment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ko-KR" dirty="0"/>
                  <a:t>: policy used in calculating target value Q</a:t>
                </a: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6" y="4632960"/>
                <a:ext cx="10341864" cy="1225079"/>
              </a:xfrm>
              <a:prstGeom prst="rect">
                <a:avLst/>
              </a:prstGeom>
              <a:blipFill>
                <a:blip r:embed="rId5"/>
                <a:stretch>
                  <a:fillRect l="-490" t="-20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6B6446E2-BAAE-B1BB-AE72-E559D6804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119" y="5245498"/>
            <a:ext cx="6195215" cy="8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4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EB1-6107-E2A3-35E1-C93CB2A4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Distributional Shift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ko-KR" sz="1800" dirty="0"/>
              </a:p>
              <a:p>
                <a:pPr marL="0" indent="0">
                  <a:buNone/>
                </a:pPr>
                <a:r>
                  <a:rPr kumimoji="1" lang="en-US" altLang="ko-KR" sz="1800" dirty="0"/>
                  <a:t>Policy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sz="1800" dirty="0"/>
                  <a:t> is learned to maximize Q-value 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u="sng" dirty="0">
                    <a:solidFill>
                      <a:srgbClr val="FF0000"/>
                    </a:solidFill>
                    <a:sym typeface="Wingdings" pitchFamily="2" charset="2"/>
                  </a:rPr>
                  <a:t>can be biased to out-of-distribution actions</a:t>
                </a:r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(unseen in datasets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)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F6B8246D-9D97-632E-287C-7FD964D3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10242996" cy="1325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11A189-F1AE-A1E2-EC5A-CEC4D0EA2DA3}"/>
              </a:ext>
            </a:extLst>
          </p:cNvPr>
          <p:cNvSpPr txBox="1"/>
          <p:nvPr/>
        </p:nvSpPr>
        <p:spPr>
          <a:xfrm>
            <a:off x="838200" y="6338986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400" b="0" dirty="0">
                <a:effectLst/>
              </a:rPr>
              <a:t>Offline Reinforcement Learning: Tutorial, Review, and Perspectives on Open Problems – Sergey Levine et el. (2020) </a:t>
            </a:r>
            <a:endParaRPr lang="en" altLang="ko-KR" sz="1400" dirty="0"/>
          </a:p>
          <a:p>
            <a:endParaRPr kumimoji="1" lang="ko-KR" altLang="en-US" sz="1400" dirty="0"/>
          </a:p>
        </p:txBody>
      </p:sp>
      <p:pic>
        <p:nvPicPr>
          <p:cNvPr id="13" name="그림 12" descr="야외, 나무, 트랙, 기차이(가) 표시된 사진&#10;&#10;자동 생성된 설명">
            <a:extLst>
              <a:ext uri="{FF2B5EF4-FFF2-40B4-BE49-F238E27FC236}">
                <a16:creationId xmlns:a16="http://schemas.microsoft.com/office/drawing/2014/main" id="{D4F82B62-030C-A576-7773-4EDDBF1A1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15437" y="4029075"/>
            <a:ext cx="2715417" cy="203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9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139E5-3D87-3254-12BE-80751A46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Solution</a:t>
            </a:r>
            <a:endParaRPr kumimoji="1"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54080-219C-ADF6-1C24-F3486F25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b="1" dirty="0"/>
              <a:t>Conservative Q-Learning(CQL)</a:t>
            </a:r>
          </a:p>
          <a:p>
            <a:pPr marL="0" indent="0">
              <a:buNone/>
            </a:pPr>
            <a:endParaRPr kumimoji="1"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5C4622-A3DB-D104-CAAA-704AC1167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47578"/>
            <a:ext cx="10045098" cy="118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9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94431-54FD-5D4E-9733-985B27F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2-1. Conservative Off-Policy Evaluation</a:t>
            </a:r>
            <a:endParaRPr kumimoji="1" lang="ko-KR" altLang="en-US" sz="36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62D348-7E55-F41C-6BDD-2CD3FB556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19872"/>
            <a:ext cx="9414348" cy="69894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i="1" dirty="0">
                  <a:latin typeface="Cambria Math" panose="02040503050406030204" pitchFamily="18" charset="0"/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𝑎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):</m:t>
                    </m:r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any state-action pair, which can contain unseen </a:t>
                </a:r>
                <a:r>
                  <a:rPr kumimoji="1" lang="en-US" altLang="ko-KR" sz="1800" dirty="0" err="1">
                    <a:sym typeface="Wingdings" pitchFamily="2" charset="2"/>
                  </a:rPr>
                  <a:t>states&amp;actions</a:t>
                </a: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:</m:t>
                    </m:r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state marginal from dataset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Obtain Q-</a:t>
                </a:r>
                <a:r>
                  <a:rPr kumimoji="1" lang="en-US" altLang="ko-KR" sz="1800" dirty="0" err="1">
                    <a:sym typeface="Wingdings" pitchFamily="2" charset="2"/>
                  </a:rPr>
                  <a:t>fuction</a:t>
                </a:r>
                <a:r>
                  <a:rPr kumimoji="1" lang="en-US" altLang="ko-KR" sz="1800" dirty="0">
                    <a:sym typeface="Wingdings" pitchFamily="2" charset="2"/>
                  </a:rPr>
                  <a:t> from unobserved actions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Prevent overestimated, large Q </a:t>
                </a: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  <a:blipFill>
                <a:blip r:embed="rId4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0CE0AB3-A281-D041-A5DB-DB1BF1EAE8DE}"/>
              </a:ext>
            </a:extLst>
          </p:cNvPr>
          <p:cNvSpPr txBox="1"/>
          <p:nvPr/>
        </p:nvSpPr>
        <p:spPr>
          <a:xfrm>
            <a:off x="2023872" y="1690688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minimize large Q-value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A0FD1-DCF0-A204-11CF-42D486D512C1}"/>
              </a:ext>
            </a:extLst>
          </p:cNvPr>
          <p:cNvSpPr txBox="1"/>
          <p:nvPr/>
        </p:nvSpPr>
        <p:spPr>
          <a:xfrm>
            <a:off x="6138210" y="1650540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standard Bellman error</a:t>
            </a:r>
            <a:endParaRPr kumimoji="1" lang="ko-KR" altLang="en-US" dirty="0"/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A47122A-F952-052B-D5DD-9F84A637799B}"/>
              </a:ext>
            </a:extLst>
          </p:cNvPr>
          <p:cNvSpPr/>
          <p:nvPr/>
        </p:nvSpPr>
        <p:spPr>
          <a:xfrm>
            <a:off x="1857294" y="2170176"/>
            <a:ext cx="3434034" cy="548640"/>
          </a:xfrm>
          <a:prstGeom prst="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D6A414-5721-1847-052B-E6C79AFC86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2656"/>
          <a:stretch/>
        </p:blipFill>
        <p:spPr>
          <a:xfrm>
            <a:off x="838200" y="6086475"/>
            <a:ext cx="689610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58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94431-54FD-5D4E-9733-985B27F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2-1. Conservative Off-Policy Evaluation</a:t>
            </a:r>
            <a:endParaRPr kumimoji="1" lang="ko-KR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Introducing ‘Q-value maximization term’(red one) to previous equation,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we ca</a:t>
                </a:r>
                <a:r>
                  <a:rPr kumimoji="1" lang="en-US" altLang="ko-KR" sz="1800" dirty="0">
                    <a:sym typeface="Wingdings" pitchFamily="2" charset="2"/>
                  </a:rPr>
                  <a:t>n obtain that ‘expected value of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𝑄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under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𝜋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lower bounds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𝑉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’.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 Tighten the bound</a:t>
                </a: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친필, 서예이(가) 표시된 사진&#10;&#10;자동 생성된 설명">
            <a:extLst>
              <a:ext uri="{FF2B5EF4-FFF2-40B4-BE49-F238E27FC236}">
                <a16:creationId xmlns:a16="http://schemas.microsoft.com/office/drawing/2014/main" id="{1EA0824A-61F9-7332-0810-8AB3719766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11"/>
          <a:stretch/>
        </p:blipFill>
        <p:spPr>
          <a:xfrm>
            <a:off x="838200" y="1977065"/>
            <a:ext cx="8612542" cy="1131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D5EFC3-66B8-46B0-D773-004C069267C8}"/>
              </a:ext>
            </a:extLst>
          </p:cNvPr>
          <p:cNvSpPr txBox="1"/>
          <p:nvPr/>
        </p:nvSpPr>
        <p:spPr>
          <a:xfrm>
            <a:off x="5144471" y="1506022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Q-value maximization term</a:t>
            </a:r>
            <a:endParaRPr kumimoji="1"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48C76F0-F7CA-71E6-BB17-4F13C5D542DE}"/>
              </a:ext>
            </a:extLst>
          </p:cNvPr>
          <p:cNvCxnSpPr/>
          <p:nvPr/>
        </p:nvCxnSpPr>
        <p:spPr>
          <a:xfrm>
            <a:off x="6486144" y="1875354"/>
            <a:ext cx="0" cy="233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87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94431-54FD-5D4E-9733-985B27F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2-1. Conservative Off-Policy Evaluation</a:t>
            </a:r>
            <a:endParaRPr kumimoji="1" lang="ko-KR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To minimize ‘blue’, we have to maximize second expectation(red one)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maximize Q for actions in</a:t>
                </a:r>
                <a14:m>
                  <m:oMath xmlns:m="http://schemas.openxmlformats.org/officeDocument/2006/math"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(in-distribution, seen actions)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penalizes penalties of overestimation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However,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might not lower-bound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pointwise in this method.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친필, 서예이(가) 표시된 사진&#10;&#10;자동 생성된 설명">
            <a:extLst>
              <a:ext uri="{FF2B5EF4-FFF2-40B4-BE49-F238E27FC236}">
                <a16:creationId xmlns:a16="http://schemas.microsoft.com/office/drawing/2014/main" id="{1EA0824A-61F9-7332-0810-8AB3719766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11"/>
          <a:stretch/>
        </p:blipFill>
        <p:spPr>
          <a:xfrm>
            <a:off x="838200" y="1977065"/>
            <a:ext cx="8612542" cy="1131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D5EFC3-66B8-46B0-D773-004C069267C8}"/>
              </a:ext>
            </a:extLst>
          </p:cNvPr>
          <p:cNvSpPr txBox="1"/>
          <p:nvPr/>
        </p:nvSpPr>
        <p:spPr>
          <a:xfrm>
            <a:off x="5144471" y="1506022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Q-value maximization term</a:t>
            </a:r>
            <a:endParaRPr kumimoji="1" lang="ko-KR" altLang="en-US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921E2FF7-E35D-180C-9895-E25D3C976CDB}"/>
              </a:ext>
            </a:extLst>
          </p:cNvPr>
          <p:cNvSpPr/>
          <p:nvPr/>
        </p:nvSpPr>
        <p:spPr>
          <a:xfrm>
            <a:off x="2865120" y="1977065"/>
            <a:ext cx="4949952" cy="558871"/>
          </a:xfrm>
          <a:prstGeom prst="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9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2-2. Conservative Q-Learning for Offline RL</a:t>
            </a:r>
            <a:endParaRPr kumimoji="1" lang="ko-KR" altLang="en-US" sz="3600" dirty="0"/>
          </a:p>
        </p:txBody>
      </p:sp>
      <p:pic>
        <p:nvPicPr>
          <p:cNvPr id="6" name="내용 개체 틀 5" descr="텍스트, 폰트, 라인, 화이트이(가) 표시된 사진&#10;&#10;자동 생성된 설명">
            <a:extLst>
              <a:ext uri="{FF2B5EF4-FFF2-40B4-BE49-F238E27FC236}">
                <a16:creationId xmlns:a16="http://schemas.microsoft.com/office/drawing/2014/main" id="{27A58F33-58E1-4686-B846-913B51B12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852928"/>
            <a:ext cx="9525000" cy="13462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Alternating between policy evaluation and improvement is computationally expensive.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Instead,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approximate the policy that maximize Q-function iterate.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4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+ Added </a:t>
                </a:r>
                <a:r>
                  <a:rPr kumimoji="1" lang="en-US" altLang="ko-KR" sz="1800" b="0" dirty="0" err="1">
                    <a:sym typeface="Wingdings" pitchFamily="2" charset="2"/>
                  </a:rPr>
                  <a:t>regularizer</a:t>
                </a:r>
                <a:r>
                  <a:rPr kumimoji="1" lang="en-US" altLang="ko-KR" sz="1800" b="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and denoted by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Property of CQL varies depending on this </a:t>
                </a:r>
                <a:r>
                  <a:rPr kumimoji="1" lang="en-US" altLang="ko-KR" sz="1800" dirty="0" err="1">
                    <a:sym typeface="Wingdings" pitchFamily="2" charset="2"/>
                  </a:rPr>
                  <a:t>regularizer</a:t>
                </a: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  <a:blipFill>
                <a:blip r:embed="rId5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83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2-2. Conservative Q-Learning for Offline RL</a:t>
            </a:r>
            <a:endParaRPr kumimoji="1" lang="ko-KR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If we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be KL-divergence against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we get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∝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func>
                      <m:func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,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</m:oMath>
                </a14:m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First, if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unif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a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, equation (3) becomes,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u="sng" dirty="0">
                    <a:sym typeface="Wingdings" pitchFamily="2" charset="2"/>
                  </a:rPr>
                  <a:t>This is called </a:t>
                </a:r>
                <a14:m>
                  <m:oMath xmlns:m="http://schemas.openxmlformats.org/officeDocument/2006/math"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ℋ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u="sng" dirty="0">
                    <a:sym typeface="Wingdings" pitchFamily="2" charset="2"/>
                  </a:rPr>
                  <a:t>.  </a:t>
                </a:r>
              </a:p>
            </p:txBody>
          </p:sp>
        </mc:Choice>
        <mc:Fallback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  <a:blipFill>
                <a:blip r:embed="rId4"/>
                <a:stretch>
                  <a:fillRect l="-603" t="-1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F97BE1A6-182A-B62D-CF07-E7AA8F0D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166461"/>
            <a:ext cx="10345812" cy="95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7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2-2. Conservative Q-Learning for Offline RL</a:t>
            </a:r>
            <a:endParaRPr kumimoji="1" lang="ko-KR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If we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be KL-divergence against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we get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∝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func>
                      <m:func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,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</m:oMath>
                </a14:m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Second, if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(previous policy),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u="sng" dirty="0">
                    <a:sym typeface="Wingdings" pitchFamily="2" charset="2"/>
                  </a:rPr>
                  <a:t>This is called </a:t>
                </a:r>
                <a14:m>
                  <m:oMath xmlns:m="http://schemas.openxmlformats.org/officeDocument/2006/math"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u="sng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  <a:blipFill>
                <a:blip r:embed="rId4"/>
                <a:stretch>
                  <a:fillRect l="-603" t="-1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39F113D7-1E46-5D5A-C93E-2854FE582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78" y="3389164"/>
            <a:ext cx="9332934" cy="783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2A6984-0B45-4DD9-420A-ACA2F9F86341}"/>
              </a:ext>
            </a:extLst>
          </p:cNvPr>
          <p:cNvSpPr txBox="1"/>
          <p:nvPr/>
        </p:nvSpPr>
        <p:spPr>
          <a:xfrm>
            <a:off x="10208712" y="3519814"/>
            <a:ext cx="185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 Appendix A.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58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Practical Algorithms</a:t>
            </a:r>
            <a:endParaRPr kumimoji="1" lang="ko-KR" altLang="en-US" sz="3600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D01D63F-49D6-F60F-45AA-31415F35E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70740" y="1943100"/>
            <a:ext cx="5905500" cy="2971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BB3F0-F3F5-F39C-7158-69A30D154BF7}"/>
              </a:ext>
            </a:extLst>
          </p:cNvPr>
          <p:cNvSpPr txBox="1"/>
          <p:nvPr/>
        </p:nvSpPr>
        <p:spPr>
          <a:xfrm>
            <a:off x="6375748" y="1503123"/>
            <a:ext cx="33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Pseudo code: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AABE4-EB17-E30F-2481-5BC6270DFD9E}"/>
              </a:ext>
            </a:extLst>
          </p:cNvPr>
          <p:cNvSpPr txBox="1"/>
          <p:nvPr/>
        </p:nvSpPr>
        <p:spPr>
          <a:xfrm>
            <a:off x="584548" y="2403338"/>
            <a:ext cx="5386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Based on</a:t>
            </a:r>
          </a:p>
          <a:p>
            <a:r>
              <a:rPr kumimoji="1" lang="en-US" altLang="ko-KR" dirty="0"/>
              <a:t>SAC, for continuous control experiments and</a:t>
            </a:r>
          </a:p>
          <a:p>
            <a:r>
              <a:rPr kumimoji="1" lang="en-US" altLang="ko-KR" dirty="0"/>
              <a:t>DQN, for discrete control experiments.</a:t>
            </a:r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5288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Practical Algorithms</a:t>
            </a:r>
            <a:endParaRPr kumimoji="1" lang="ko-KR" altLang="en-US" sz="3600" dirty="0"/>
          </a:p>
        </p:txBody>
      </p:sp>
      <p:pic>
        <p:nvPicPr>
          <p:cNvPr id="9" name="그림 8" descr="텍스트, 폰트, 친필, 화이트이(가) 표시된 사진&#10;&#10;자동 생성된 설명">
            <a:extLst>
              <a:ext uri="{FF2B5EF4-FFF2-40B4-BE49-F238E27FC236}">
                <a16:creationId xmlns:a16="http://schemas.microsoft.com/office/drawing/2014/main" id="{F7B7FED3-2757-98CA-F83F-8AFE628E7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92" y="4449097"/>
            <a:ext cx="7772400" cy="20437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9E8CD9-678C-7312-0B7B-933595312D0D}"/>
              </a:ext>
            </a:extLst>
          </p:cNvPr>
          <p:cNvSpPr txBox="1"/>
          <p:nvPr/>
        </p:nvSpPr>
        <p:spPr>
          <a:xfrm>
            <a:off x="8818323" y="5899759"/>
            <a:ext cx="2805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 Appendix F.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8A0D6-AE59-374D-AD06-EC656551F60E}"/>
                  </a:ext>
                </a:extLst>
              </p:cNvPr>
              <p:cNvSpPr txBox="1"/>
              <p:nvPr/>
            </p:nvSpPr>
            <p:spPr>
              <a:xfrm>
                <a:off x="737992" y="1782773"/>
                <a:ext cx="6466372" cy="175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In terms of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𝐶𝑄𝐿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kumimoji="1" lang="en-US" altLang="ko-KR" dirty="0"/>
                  <a:t>, the algorithm is implemented using the average of action samples from both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𝑢𝑛𝑖𝑓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Since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𝐶𝑄𝐿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ℋ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/>
                  <a:t> showed high variance and computational cost for large action spaces.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8A0D6-AE59-374D-AD06-EC656551F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2" y="1782773"/>
                <a:ext cx="6466372" cy="1759264"/>
              </a:xfrm>
              <a:prstGeom prst="rect">
                <a:avLst/>
              </a:prstGeom>
              <a:blipFill>
                <a:blip r:embed="rId4"/>
                <a:stretch>
                  <a:fillRect l="-784" t="-1439" r="-196" b="-50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번호, 폰트, 영수증이(가) 표시된 사진&#10;&#10;자동 생성된 설명">
            <a:extLst>
              <a:ext uri="{FF2B5EF4-FFF2-40B4-BE49-F238E27FC236}">
                <a16:creationId xmlns:a16="http://schemas.microsoft.com/office/drawing/2014/main" id="{C33065B8-701F-9E41-9840-56BB8144F6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" r="65193"/>
          <a:stretch/>
        </p:blipFill>
        <p:spPr>
          <a:xfrm>
            <a:off x="7386418" y="1397598"/>
            <a:ext cx="2701637" cy="2948510"/>
          </a:xfrm>
          <a:prstGeom prst="rect">
            <a:avLst/>
          </a:prstGeom>
        </p:spPr>
      </p:pic>
      <p:pic>
        <p:nvPicPr>
          <p:cNvPr id="14" name="그림 13" descr="텍스트, 번호, 폰트, 영수증이(가) 표시된 사진&#10;&#10;자동 생성된 설명">
            <a:extLst>
              <a:ext uri="{FF2B5EF4-FFF2-40B4-BE49-F238E27FC236}">
                <a16:creationId xmlns:a16="http://schemas.microsoft.com/office/drawing/2014/main" id="{80C98F5E-70DD-6711-D090-64031999FA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766"/>
          <a:stretch/>
        </p:blipFill>
        <p:spPr>
          <a:xfrm>
            <a:off x="10088055" y="1397598"/>
            <a:ext cx="1728117" cy="29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20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Ⅰ. Coding</a:t>
            </a:r>
            <a:endParaRPr kumimoji="1"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02A9F5-4AA9-B934-9C80-4CE72ADB23C7}"/>
              </a:ext>
            </a:extLst>
          </p:cNvPr>
          <p:cNvSpPr txBox="1"/>
          <p:nvPr/>
        </p:nvSpPr>
        <p:spPr>
          <a:xfrm>
            <a:off x="1011936" y="1690688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Tried to install MuJoCo-2.1.1 in aarch-64..</a:t>
            </a:r>
            <a:endParaRPr kumimoji="1" lang="ko-KR" altLang="en-US" dirty="0"/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057ACC4-EEE7-6A9A-09DC-F4112B9338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318"/>
          <a:stretch/>
        </p:blipFill>
        <p:spPr>
          <a:xfrm>
            <a:off x="838200" y="2273604"/>
            <a:ext cx="7772400" cy="382785"/>
          </a:xfrm>
          <a:prstGeom prst="rect">
            <a:avLst/>
          </a:prstGeom>
        </p:spPr>
      </p:pic>
      <p:pic>
        <p:nvPicPr>
          <p:cNvPr id="11" name="그림 10" descr="텍스트, 스크린샷, 폰트, 흑백이(가) 표시된 사진&#10;&#10;자동 생성된 설명">
            <a:extLst>
              <a:ext uri="{FF2B5EF4-FFF2-40B4-BE49-F238E27FC236}">
                <a16:creationId xmlns:a16="http://schemas.microsoft.com/office/drawing/2014/main" id="{4660DDFE-06C7-7370-AC8A-327701E8F8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976"/>
          <a:stretch/>
        </p:blipFill>
        <p:spPr>
          <a:xfrm>
            <a:off x="838200" y="3891903"/>
            <a:ext cx="7772400" cy="6194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04E7CA-D3AC-FAF1-7092-C2F828B0D1E9}"/>
              </a:ext>
            </a:extLst>
          </p:cNvPr>
          <p:cNvSpPr txBox="1"/>
          <p:nvPr/>
        </p:nvSpPr>
        <p:spPr>
          <a:xfrm>
            <a:off x="1011936" y="3383735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Tried to run other examples with </a:t>
            </a:r>
            <a:r>
              <a:rPr kumimoji="1" lang="en-US" altLang="ko-KR" dirty="0" err="1"/>
              <a:t>rlkit</a:t>
            </a:r>
            <a:r>
              <a:rPr kumimoji="1" lang="en-US" altLang="ko-KR" dirty="0"/>
              <a:t>..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397D9-2935-A1D0-FBED-C5DF39CBE189}"/>
              </a:ext>
            </a:extLst>
          </p:cNvPr>
          <p:cNvSpPr txBox="1"/>
          <p:nvPr/>
        </p:nvSpPr>
        <p:spPr>
          <a:xfrm>
            <a:off x="1011936" y="5054108"/>
            <a:ext cx="7474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Keep facing similar errors, cannot find solutions yet </a:t>
            </a:r>
            <a:r>
              <a:rPr kumimoji="1" lang="en-US" altLang="ko-KR" sz="2000" dirty="0"/>
              <a:t>😢</a:t>
            </a:r>
            <a:r>
              <a:rPr kumimoji="1" lang="en-US" altLang="ko-KR" dirty="0"/>
              <a:t>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04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A8C7-5DC8-DB9A-6797-B37A59B9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+</a:t>
            </a:r>
            <a:endParaRPr kumimoji="1" lang="ko-KR" altLang="en-US" dirty="0"/>
          </a:p>
        </p:txBody>
      </p:sp>
      <p:pic>
        <p:nvPicPr>
          <p:cNvPr id="5" name="그림 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ACECD284-07D0-841F-0D5B-48E212130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8331268" cy="3280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89E64C-CE18-9124-241E-B97131FE14DA}"/>
              </a:ext>
            </a:extLst>
          </p:cNvPr>
          <p:cNvSpPr txBox="1"/>
          <p:nvPr/>
        </p:nvSpPr>
        <p:spPr>
          <a:xfrm>
            <a:off x="8783782" y="3934691"/>
            <a:ext cx="313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- 2019, IEEE</a:t>
            </a:r>
          </a:p>
          <a:p>
            <a:r>
              <a:rPr kumimoji="1" lang="en-US" altLang="ko-KR" dirty="0"/>
              <a:t>- cited by: 37</a:t>
            </a:r>
          </a:p>
        </p:txBody>
      </p:sp>
    </p:spTree>
    <p:extLst>
      <p:ext uri="{BB962C8B-B14F-4D97-AF65-F5344CB8AC3E}">
        <p14:creationId xmlns:p14="http://schemas.microsoft.com/office/powerpoint/2010/main" val="1790119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A8C7-5DC8-DB9A-6797-B37A59B9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+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9E64C-CE18-9124-241E-B97131FE14DA}"/>
              </a:ext>
            </a:extLst>
          </p:cNvPr>
          <p:cNvSpPr txBox="1"/>
          <p:nvPr/>
        </p:nvSpPr>
        <p:spPr>
          <a:xfrm>
            <a:off x="1039091" y="1690688"/>
            <a:ext cx="82573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</a:rPr>
              <a:t>Modifying objective functions and the exploration process is dangerous</a:t>
            </a: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r>
              <a:rPr lang="en" altLang="ko-KR" b="0" i="0" u="none" strike="noStrike" dirty="0">
                <a:solidFill>
                  <a:srgbClr val="000000"/>
                </a:solidFill>
                <a:effectLst/>
              </a:rPr>
              <a:t>Safe Q-learning (SQL) method based on CMDPs</a:t>
            </a:r>
          </a:p>
          <a:p>
            <a:pPr marL="285750" indent="-285750">
              <a:buFontTx/>
              <a:buChar char="-"/>
            </a:pP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r>
              <a:rPr lang="en" altLang="ko-KR" b="0" i="0" u="none" strike="noStrike" dirty="0">
                <a:solidFill>
                  <a:srgbClr val="000000"/>
                </a:solidFill>
                <a:effectLst/>
              </a:rPr>
              <a:t>CMDPs add safety constraints to the state and action spaces of the agent</a:t>
            </a:r>
          </a:p>
          <a:p>
            <a:pPr marL="285750" indent="-285750">
              <a:buFontTx/>
              <a:buChar char="-"/>
            </a:pPr>
            <a:r>
              <a:rPr lang="en" altLang="ko-KR" b="0" i="0" u="none" strike="noStrike" dirty="0">
                <a:solidFill>
                  <a:srgbClr val="000000"/>
                </a:solidFill>
                <a:effectLst/>
              </a:rPr>
              <a:t>The traditional Q-learning algorithm is enhanced using the Lagrange multiplier method to handle the added constraints efficiently.</a:t>
            </a:r>
          </a:p>
          <a:p>
            <a:pPr marL="285750" indent="-285750">
              <a:buFontTx/>
              <a:buChar char="-"/>
            </a:pPr>
            <a:endParaRPr lang="en" altLang="ko-K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endParaRPr lang="en" altLang="ko-K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 cannot find official code..</a:t>
            </a:r>
            <a:endParaRPr kumimoji="1" lang="ko-KR" altLang="en-US" dirty="0"/>
          </a:p>
          <a:p>
            <a:pPr marL="285750" indent="-285750">
              <a:buFontTx/>
              <a:buChar char="-"/>
            </a:pPr>
            <a:endParaRPr lang="en" altLang="ko-KR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Tx/>
              <a:buChar char="-"/>
            </a:pPr>
            <a:endParaRPr kumimoji="1" lang="ko-KR" altLang="en-US" dirty="0"/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E48426C-9912-85BA-F792-47D4F936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429000"/>
            <a:ext cx="277705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16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1266</Words>
  <Application>Microsoft Macintosh PowerPoint</Application>
  <PresentationFormat>와이드스크린</PresentationFormat>
  <Paragraphs>138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Cambria Math</vt:lpstr>
      <vt:lpstr>Wingdings</vt:lpstr>
      <vt:lpstr>Office 테마</vt:lpstr>
      <vt:lpstr>Lab Meeting</vt:lpstr>
      <vt:lpstr>1. Offline RL</vt:lpstr>
      <vt:lpstr>1. Distributional Shift</vt:lpstr>
      <vt:lpstr>1. Solution</vt:lpstr>
      <vt:lpstr>2-1. Conservative Off-Policy Evaluation</vt:lpstr>
      <vt:lpstr>2-1. Conservative Off-Policy Evaluation</vt:lpstr>
      <vt:lpstr>2-1. Conservative Off-Policy Evaluation</vt:lpstr>
      <vt:lpstr>2-2. Conservative Q-Learning for Offline RL</vt:lpstr>
      <vt:lpstr>2-2. Conservative Q-Learning for Offline RL</vt:lpstr>
      <vt:lpstr>2-2. Conservative Q-Learning for Offline RL</vt:lpstr>
      <vt:lpstr>3. Practical Algorithms</vt:lpstr>
      <vt:lpstr>3. Practical Algorithms</vt:lpstr>
      <vt:lpstr>Ⅰ. Coding</vt:lpstr>
      <vt:lpstr>+</vt:lpstr>
      <vt:lpstr>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최준명</dc:creator>
  <cp:lastModifiedBy>최준명</cp:lastModifiedBy>
  <cp:revision>99</cp:revision>
  <dcterms:created xsi:type="dcterms:W3CDTF">2024-07-13T11:13:56Z</dcterms:created>
  <dcterms:modified xsi:type="dcterms:W3CDTF">2024-07-16T08:01:22Z</dcterms:modified>
</cp:coreProperties>
</file>