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1" r:id="rId4"/>
    <p:sldId id="258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96"/>
    <p:restoredTop sz="94775"/>
  </p:normalViewPr>
  <p:slideViewPr>
    <p:cSldViewPr snapToGrid="0">
      <p:cViewPr varScale="1">
        <p:scale>
          <a:sx n="148" d="100"/>
          <a:sy n="148" d="100"/>
        </p:scale>
        <p:origin x="1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85D5A-7664-6249-8B12-CA32F71F1522}" type="datetimeFigureOut">
              <a:rPr kumimoji="1" lang="ko-KR" altLang="en-US" smtClean="0"/>
              <a:t>2024. 7. 17.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3DFBD-C804-874C-9D20-5746AC1D834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1238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ko-KR" dirty="0"/>
              <a:t>https://norman3.github.io/</a:t>
            </a:r>
            <a:r>
              <a:rPr kumimoji="1" lang="en" altLang="ko-KR" dirty="0" err="1"/>
              <a:t>rl</a:t>
            </a:r>
            <a:r>
              <a:rPr kumimoji="1" lang="en" altLang="ko-KR" dirty="0"/>
              <a:t>/docs/chapter02 : DP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3DFBD-C804-874C-9D20-5746AC1D834D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55840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B18847-4766-2528-CEE0-D38EB25FD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22EA78-7067-F249-1095-5B66315ED4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CEF1C1-33B5-EA18-8625-428DC1A19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F63A-836B-094A-809E-0DCA5EF37B42}" type="datetimeFigureOut">
              <a:rPr kumimoji="1" lang="ko-KR" altLang="en-US" smtClean="0"/>
              <a:t>2024. 7. 17.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85B11E-CBF5-097A-5E8C-525A5D7F8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9BD9EF-DC15-6382-B164-C6E90F51A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1DCB-32FC-1243-9E05-4E8B155D3A3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38493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D02688-E766-05DE-D80D-F17CF617C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D60441-FD26-F6A3-71CE-7F2C51EF1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7A59D6-1AB1-8A3C-8B8C-C22F2E76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F63A-836B-094A-809E-0DCA5EF37B42}" type="datetimeFigureOut">
              <a:rPr kumimoji="1" lang="ko-KR" altLang="en-US" smtClean="0"/>
              <a:t>2024. 7. 17.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154029-C30D-0734-93A5-F02E4F5E7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59E4B4-3DE0-F28F-ED0B-4D09E4507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1DCB-32FC-1243-9E05-4E8B155D3A3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30514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DE075F-A117-4DE3-AFE2-2BCFABA43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9956EE-04CC-0E98-5A2E-172AF68E1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26787F-D2B6-6BF4-3C7F-8072B1ABC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F63A-836B-094A-809E-0DCA5EF37B42}" type="datetimeFigureOut">
              <a:rPr kumimoji="1" lang="ko-KR" altLang="en-US" smtClean="0"/>
              <a:t>2024. 7. 17.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BDB265-E6F9-6106-C3B7-215A0E56E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7DA70E-C2AA-33CF-EEBD-933A51090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1DCB-32FC-1243-9E05-4E8B155D3A3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7435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D81857-D704-D252-D9BE-BFB89BD06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82F563-E06F-2C68-D41C-0FCCD31E6D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129D5D-460C-183D-4086-DAA7904B3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9C1B8A-3288-6DCA-AF1C-AAC09AF03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F63A-836B-094A-809E-0DCA5EF37B42}" type="datetimeFigureOut">
              <a:rPr kumimoji="1" lang="ko-KR" altLang="en-US" smtClean="0"/>
              <a:t>2024. 7. 17.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FCFE6C-1D53-E1C9-0B72-9850A623A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0FA0CC-50EB-0360-A661-A1D7C71D3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1DCB-32FC-1243-9E05-4E8B155D3A3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79269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A0EB15-8536-F027-E501-1DE24F3E5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A0EACF-BF83-6FCF-F948-9A0666146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262A11-8F29-EA6A-DCA4-0B91634BB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43333C-2B01-E674-2524-0E06CC503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E3F97F3-B737-88B4-A470-C6EA4F370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DBABC16-F579-5348-C807-032F4BB9F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F63A-836B-094A-809E-0DCA5EF37B42}" type="datetimeFigureOut">
              <a:rPr kumimoji="1" lang="ko-KR" altLang="en-US" smtClean="0"/>
              <a:t>2024. 7. 17.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F3FFE6C-7D1C-FF15-E2D0-8D3F8C4D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540F368-16BD-2686-C16E-6AAE5D45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1DCB-32FC-1243-9E05-4E8B155D3A3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5749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667F8-8372-BA26-1318-AA0414053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D6710B-7139-CA6C-AEC8-D01A7185E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F63A-836B-094A-809E-0DCA5EF37B42}" type="datetimeFigureOut">
              <a:rPr kumimoji="1" lang="ko-KR" altLang="en-US" smtClean="0"/>
              <a:t>2024. 7. 17.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EABAF8-A68F-FA9E-E7BE-705C67460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166667-E980-84D5-BDC1-6A52C78E3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1DCB-32FC-1243-9E05-4E8B155D3A3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18154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C82465-DA4D-A159-4E8F-1B4F87538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F63A-836B-094A-809E-0DCA5EF37B42}" type="datetimeFigureOut">
              <a:rPr kumimoji="1" lang="ko-KR" altLang="en-US" smtClean="0"/>
              <a:t>2024. 7. 17.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D3A6251-F97E-AA77-D704-41849F7C5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D88A7B-136B-5CD4-453D-8BF2FE7C8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1DCB-32FC-1243-9E05-4E8B155D3A3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40648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92315B-9B0F-92BC-A479-B423ABFF3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75BA19-5866-1576-A87A-A072B361E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4A8895-3775-F2AC-C5CB-ADF573637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567C0A-7FAE-9AE9-092E-058B28F53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F63A-836B-094A-809E-0DCA5EF37B42}" type="datetimeFigureOut">
              <a:rPr kumimoji="1" lang="ko-KR" altLang="en-US" smtClean="0"/>
              <a:t>2024. 7. 17.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332C84-D2B8-5B6B-D386-5E4F2B976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557B9C-0B89-3188-E2A6-CBC563126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1DCB-32FC-1243-9E05-4E8B155D3A3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59244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055C3F-9944-7D7E-F3A3-525BFE94C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488CFC-2856-E57A-F223-EAD73C00D3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4308BA-3EC4-07A3-358D-F62478BC5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0966AB-B7C8-5B66-B8EA-B1A95AA64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F63A-836B-094A-809E-0DCA5EF37B42}" type="datetimeFigureOut">
              <a:rPr kumimoji="1" lang="ko-KR" altLang="en-US" smtClean="0"/>
              <a:t>2024. 7. 17.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158920-CB25-5E33-AF83-BB9E87ED6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14A5B7-B5DD-4594-7B87-B9975C82D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1DCB-32FC-1243-9E05-4E8B155D3A3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5513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6056E-CBA1-62BD-5590-32C4B18B0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F94F12-1EDB-5E49-2717-E65E2A329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E473AD-45B4-C995-14E3-94E91D42F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F63A-836B-094A-809E-0DCA5EF37B42}" type="datetimeFigureOut">
              <a:rPr kumimoji="1" lang="ko-KR" altLang="en-US" smtClean="0"/>
              <a:t>2024. 7. 17.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BE442B-51E5-2ADD-0235-C7C7B87F0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FA04C9-D81D-2C0E-6F73-26AF4EF76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1DCB-32FC-1243-9E05-4E8B155D3A3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80286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267636B-5F00-40A5-C63A-A55994DE02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BF4683-3B11-A185-ADDE-6670526BD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6AA706-8C77-630F-BDFE-EDB3E9354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F63A-836B-094A-809E-0DCA5EF37B42}" type="datetimeFigureOut">
              <a:rPr kumimoji="1" lang="ko-KR" altLang="en-US" smtClean="0"/>
              <a:t>2024. 7. 17.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697D13-30A6-5680-506D-DD5597E41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F86BF5-875E-8D52-F58B-CBEA896CB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1DCB-32FC-1243-9E05-4E8B155D3A3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10650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C39A464-4B3A-7CEE-1E7E-91B0DC599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AC3A9B-1CF0-1B46-B9D5-FE5622DE5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518D31-CC78-4CD7-CB2A-7B63434CC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5CF63A-836B-094A-809E-0DCA5EF37B42}" type="datetimeFigureOut">
              <a:rPr kumimoji="1" lang="ko-KR" altLang="en-US" smtClean="0"/>
              <a:t>2024. 7. 17.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51DA12-44D6-F16B-F1FF-C9D4A5593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883B57-224E-0A2A-4401-83E96EF9FC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DF1DCB-32FC-1243-9E05-4E8B155D3A3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77348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51C408-CD54-DC4D-E5A9-14D4DCE78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Policy Optimization</a:t>
            </a:r>
            <a:endParaRPr kumimoji="1"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6B6307-AD1C-B802-FE0A-9B32C50B54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07/17/24</a:t>
            </a:r>
            <a:b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Euiseok</a:t>
            </a:r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</a:t>
            </a:r>
          </a:p>
        </p:txBody>
      </p:sp>
    </p:spTree>
    <p:extLst>
      <p:ext uri="{BB962C8B-B14F-4D97-AF65-F5344CB8AC3E}">
        <p14:creationId xmlns:p14="http://schemas.microsoft.com/office/powerpoint/2010/main" val="3800362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91567-F62B-4AFB-D1B2-277275A75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/>
              <a:t>Constrained Policy Optimization</a:t>
            </a:r>
            <a:endParaRPr kumimoji="1" lang="ko-KR" altLang="en-US" sz="4000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27DF504-6DBF-5C04-F1BE-AFE0697B2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36824"/>
            <a:ext cx="10515600" cy="78435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1" lang="en-US" altLang="ko-KR" sz="1800" b="1" dirty="0"/>
              <a:t>CPO = trust region method + gradient ??</a:t>
            </a:r>
          </a:p>
        </p:txBody>
      </p:sp>
    </p:spTree>
    <p:extLst>
      <p:ext uri="{BB962C8B-B14F-4D97-AF65-F5344CB8AC3E}">
        <p14:creationId xmlns:p14="http://schemas.microsoft.com/office/powerpoint/2010/main" val="1999156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91567-F62B-4AFB-D1B2-277275A75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/>
              <a:t>Markov Decision Process</a:t>
            </a:r>
            <a:endParaRPr kumimoji="1" lang="ko-KR" altLang="en-US" sz="4000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F4D87C3-3BBD-EAEA-6DBB-742957429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2483"/>
            <a:ext cx="3358351" cy="26607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F55869F-3A5D-F89A-BF68-F55041BD1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85" y="2330630"/>
            <a:ext cx="4753293" cy="2760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5F64F87-03CA-55FE-A7A3-38FC43029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85" y="2677649"/>
            <a:ext cx="907969" cy="2812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4B3D95-AD19-62D1-CF8B-27CBA8A1F162}"/>
              </a:ext>
            </a:extLst>
          </p:cNvPr>
          <p:cNvSpPr txBox="1"/>
          <p:nvPr/>
        </p:nvSpPr>
        <p:spPr>
          <a:xfrm>
            <a:off x="1839710" y="2670022"/>
            <a:ext cx="60017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: probability of transition to state s’ given that</a:t>
            </a:r>
            <a:br>
              <a:rPr kumimoji="1" lang="en-US" altLang="ko-KR" sz="1400" dirty="0"/>
            </a:br>
            <a:r>
              <a:rPr kumimoji="1" lang="en-US" altLang="ko-KR" sz="1400" dirty="0"/>
              <a:t>previous state s</a:t>
            </a:r>
            <a:br>
              <a:rPr kumimoji="1" lang="en-US" altLang="ko-KR" sz="1400" dirty="0"/>
            </a:br>
            <a:r>
              <a:rPr kumimoji="1" lang="en-US" altLang="ko-KR" sz="1400" dirty="0"/>
              <a:t>agent took action a in s</a:t>
            </a:r>
            <a:endParaRPr kumimoji="1" lang="ko-KR" altLang="en-US" sz="1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5709578-18A2-ACEC-5B78-A55DBCBD1B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441" y="3473582"/>
            <a:ext cx="1214865" cy="2362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63CE6A9-AAC6-44D1-39FA-8699761194A0}"/>
              </a:ext>
            </a:extLst>
          </p:cNvPr>
          <p:cNvSpPr txBox="1"/>
          <p:nvPr/>
        </p:nvSpPr>
        <p:spPr>
          <a:xfrm>
            <a:off x="2245254" y="3376709"/>
            <a:ext cx="6001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: stationary policy,</a:t>
            </a:r>
          </a:p>
          <a:p>
            <a:r>
              <a:rPr kumimoji="1" lang="en-US" altLang="ko-KR" sz="1400" dirty="0"/>
              <a:t>Map from states to probability distributions over action</a:t>
            </a:r>
            <a:endParaRPr kumimoji="1" lang="ko-KR" altLang="en-US" sz="14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BAD4751-74C3-2FF8-47A9-394A043E3C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385" y="3969866"/>
            <a:ext cx="3342332" cy="4032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5583E36-445D-955E-F9DA-CDDF56AE358A}"/>
              </a:ext>
            </a:extLst>
          </p:cNvPr>
          <p:cNvSpPr txBox="1"/>
          <p:nvPr/>
        </p:nvSpPr>
        <p:spPr>
          <a:xfrm>
            <a:off x="4105717" y="3981808"/>
            <a:ext cx="6001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: performance measure,</a:t>
            </a:r>
          </a:p>
          <a:p>
            <a:r>
              <a:rPr kumimoji="1" lang="en-US" altLang="ko-KR" sz="1400" dirty="0"/>
              <a:t>select policy π </a:t>
            </a:r>
            <a:r>
              <a:rPr kumimoji="1" lang="en-US" altLang="ko-KR" sz="1400" dirty="0" err="1"/>
              <a:t>s.t.</a:t>
            </a:r>
            <a:r>
              <a:rPr kumimoji="1" lang="en-US" altLang="ko-KR" sz="1400" dirty="0"/>
              <a:t> maximize J(π)</a:t>
            </a:r>
            <a:endParaRPr kumimoji="1" lang="ko-KR" altLang="en-US" sz="1400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7EE8AB65-A598-0F8A-7104-DEFD04D2CF83}"/>
              </a:ext>
            </a:extLst>
          </p:cNvPr>
          <p:cNvGrpSpPr/>
          <p:nvPr/>
        </p:nvGrpSpPr>
        <p:grpSpPr>
          <a:xfrm>
            <a:off x="1174851" y="4468680"/>
            <a:ext cx="6604340" cy="846358"/>
            <a:chOff x="1480935" y="5742306"/>
            <a:chExt cx="6604340" cy="846358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2207856-81D1-E0C5-20A5-2D42760EDDF1}"/>
                </a:ext>
              </a:extLst>
            </p:cNvPr>
            <p:cNvSpPr/>
            <p:nvPr/>
          </p:nvSpPr>
          <p:spPr>
            <a:xfrm>
              <a:off x="1752600" y="5858933"/>
              <a:ext cx="270933" cy="2709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67B87A04-E492-B7FF-E806-C2D775A00CA0}"/>
                </a:ext>
              </a:extLst>
            </p:cNvPr>
            <p:cNvSpPr/>
            <p:nvPr/>
          </p:nvSpPr>
          <p:spPr>
            <a:xfrm>
              <a:off x="3049385" y="5858933"/>
              <a:ext cx="270933" cy="2709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F0C47422-35CB-BB43-CD3C-217A64F7A0B5}"/>
                </a:ext>
              </a:extLst>
            </p:cNvPr>
            <p:cNvSpPr/>
            <p:nvPr/>
          </p:nvSpPr>
          <p:spPr>
            <a:xfrm>
              <a:off x="4346170" y="5858933"/>
              <a:ext cx="270933" cy="2709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BD1AD86-51E9-1B1B-411C-EB29B46624E9}"/>
                </a:ext>
              </a:extLst>
            </p:cNvPr>
            <p:cNvSpPr/>
            <p:nvPr/>
          </p:nvSpPr>
          <p:spPr>
            <a:xfrm>
              <a:off x="5642955" y="5858933"/>
              <a:ext cx="270933" cy="2709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9D69F9-E468-91AB-FAAC-96F889E5AEE4}"/>
                </a:ext>
              </a:extLst>
            </p:cNvPr>
            <p:cNvSpPr txBox="1"/>
            <p:nvPr/>
          </p:nvSpPr>
          <p:spPr>
            <a:xfrm>
              <a:off x="1480935" y="6197601"/>
              <a:ext cx="717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s0~µ</a:t>
              </a:r>
              <a:endParaRPr kumimoji="1" lang="ko-KR" altLang="en-US" dirty="0"/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CC3C0FEB-AFF0-95B4-59FF-D57C097C5786}"/>
                </a:ext>
              </a:extLst>
            </p:cNvPr>
            <p:cNvCxnSpPr>
              <a:cxnSpLocks/>
              <a:stCxn id="17" idx="6"/>
              <a:endCxn id="18" idx="2"/>
            </p:cNvCxnSpPr>
            <p:nvPr/>
          </p:nvCxnSpPr>
          <p:spPr>
            <a:xfrm>
              <a:off x="2023533" y="5994400"/>
              <a:ext cx="10258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2047C664-0193-6286-487A-3131FF83F7BF}"/>
                </a:ext>
              </a:extLst>
            </p:cNvPr>
            <p:cNvCxnSpPr>
              <a:cxnSpLocks/>
              <a:stCxn id="18" idx="6"/>
              <a:endCxn id="19" idx="2"/>
            </p:cNvCxnSpPr>
            <p:nvPr/>
          </p:nvCxnSpPr>
          <p:spPr>
            <a:xfrm>
              <a:off x="3320318" y="5994400"/>
              <a:ext cx="10258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1273CF59-9300-7BE3-20A8-BF7002EAE22D}"/>
                </a:ext>
              </a:extLst>
            </p:cNvPr>
            <p:cNvCxnSpPr>
              <a:cxnSpLocks/>
              <a:stCxn id="19" idx="6"/>
              <a:endCxn id="20" idx="2"/>
            </p:cNvCxnSpPr>
            <p:nvPr/>
          </p:nvCxnSpPr>
          <p:spPr>
            <a:xfrm>
              <a:off x="4617103" y="5994400"/>
              <a:ext cx="10258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EE6D972-06C8-B4F6-C340-D24F10F83A05}"/>
                </a:ext>
              </a:extLst>
            </p:cNvPr>
            <p:cNvSpPr txBox="1"/>
            <p:nvPr/>
          </p:nvSpPr>
          <p:spPr>
            <a:xfrm>
              <a:off x="2961543" y="6219332"/>
              <a:ext cx="475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s1</a:t>
              </a:r>
              <a:endParaRPr kumimoji="1" lang="ko-KR" alt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D06C38D-EEB2-DCDB-AF1D-1ED79C3629AC}"/>
                </a:ext>
              </a:extLst>
            </p:cNvPr>
            <p:cNvSpPr txBox="1"/>
            <p:nvPr/>
          </p:nvSpPr>
          <p:spPr>
            <a:xfrm>
              <a:off x="4258328" y="6160533"/>
              <a:ext cx="475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s2</a:t>
              </a:r>
              <a:endParaRPr kumimoji="1" lang="ko-KR" alt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E0D303D-12CD-1D58-ABD8-11F0E8468868}"/>
                </a:ext>
              </a:extLst>
            </p:cNvPr>
            <p:cNvSpPr txBox="1"/>
            <p:nvPr/>
          </p:nvSpPr>
          <p:spPr>
            <a:xfrm>
              <a:off x="5555113" y="6219332"/>
              <a:ext cx="475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s3</a:t>
              </a:r>
              <a:endParaRPr kumimoji="1" lang="ko-KR" alt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24DE3F2-73B4-C8F0-5E26-C0BDB6DC7059}"/>
                </a:ext>
              </a:extLst>
            </p:cNvPr>
            <p:cNvSpPr txBox="1"/>
            <p:nvPr/>
          </p:nvSpPr>
          <p:spPr>
            <a:xfrm>
              <a:off x="2284334" y="6076997"/>
              <a:ext cx="475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a0</a:t>
              </a:r>
              <a:endParaRPr kumimoji="1" lang="ko-KR" alt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A3A2902-0E16-8466-E8F2-E945A4BB5B7F}"/>
                </a:ext>
              </a:extLst>
            </p:cNvPr>
            <p:cNvSpPr txBox="1"/>
            <p:nvPr/>
          </p:nvSpPr>
          <p:spPr>
            <a:xfrm>
              <a:off x="3609445" y="6076997"/>
              <a:ext cx="475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a1</a:t>
              </a:r>
              <a:endParaRPr kumimoji="1" lang="ko-KR" alt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83D1E63-BD55-33F3-BC77-F9D1518251DD}"/>
                </a:ext>
              </a:extLst>
            </p:cNvPr>
            <p:cNvSpPr txBox="1"/>
            <p:nvPr/>
          </p:nvSpPr>
          <p:spPr>
            <a:xfrm>
              <a:off x="4934556" y="6039932"/>
              <a:ext cx="475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a2</a:t>
              </a:r>
              <a:endParaRPr kumimoji="1"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8271ED9-F0FA-26CF-BAA9-701F15618502}"/>
                    </a:ext>
                  </a:extLst>
                </p:cNvPr>
                <p:cNvSpPr txBox="1"/>
                <p:nvPr/>
              </p:nvSpPr>
              <p:spPr>
                <a:xfrm>
                  <a:off x="6278114" y="5742306"/>
                  <a:ext cx="12778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  <m:e>
                            <m:sSub>
                              <m:sSubPr>
                                <m:ctrlP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1" lang="en-US" altLang="ko-KR" b="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8271ED9-F0FA-26CF-BAA9-701F156185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8114" y="5742306"/>
                  <a:ext cx="1277849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980" b="-434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35CAF4A-527F-DE54-79FA-A23089CE53C3}"/>
                    </a:ext>
                  </a:extLst>
                </p:cNvPr>
                <p:cNvSpPr txBox="1"/>
                <p:nvPr/>
              </p:nvSpPr>
              <p:spPr>
                <a:xfrm>
                  <a:off x="6278114" y="6123163"/>
                  <a:ext cx="180716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  <m:e>
                            <m:sSub>
                              <m:sSubPr>
                                <m:ctrlP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1" lang="en-US" altLang="ko-KR" b="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35CAF4A-527F-DE54-79FA-A23089CE53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8114" y="6123163"/>
                  <a:ext cx="1807161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699" t="-4545" b="-4545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05452CC-0D88-9BDD-D48E-95067E4AD6D5}"/>
                  </a:ext>
                </a:extLst>
              </p:cNvPr>
              <p:cNvSpPr txBox="1"/>
              <p:nvPr/>
            </p:nvSpPr>
            <p:spPr>
              <a:xfrm>
                <a:off x="731285" y="5418599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𝑉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≐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E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𝜏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~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[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𝑅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(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𝜏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)|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𝑠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=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]</m:t>
                    </m:r>
                  </m:oMath>
                </a14:m>
                <a:r>
                  <a:rPr lang="ko-KR" altLang="en-US" sz="1800" b="0" dirty="0"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lang="en-US" altLang="ko-KR" sz="1800" b="0" dirty="0">
                    <a:cs typeface="Times New Roman" panose="02020603050405020304" pitchFamily="18" charset="0"/>
                    <a:sym typeface="Wingdings" pitchFamily="2" charset="2"/>
                  </a:rPr>
                  <a:t>:</a:t>
                </a:r>
                <a:r>
                  <a:rPr lang="ko-KR" altLang="en-US" sz="1800" b="0" dirty="0"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lang="en-US" altLang="ko-KR" sz="1800" b="0" dirty="0">
                    <a:cs typeface="Times New Roman" panose="02020603050405020304" pitchFamily="18" charset="0"/>
                    <a:sym typeface="Wingdings" pitchFamily="2" charset="2"/>
                  </a:rPr>
                  <a:t>On</a:t>
                </a:r>
                <a:r>
                  <a:rPr lang="en-US" altLang="ko-KR" dirty="0">
                    <a:cs typeface="Times New Roman" panose="02020603050405020304" pitchFamily="18" charset="0"/>
                    <a:sym typeface="Wingdings" pitchFamily="2" charset="2"/>
                  </a:rPr>
                  <a:t>-policy</a:t>
                </a:r>
                <a:r>
                  <a:rPr lang="ko-KR" altLang="en-US" dirty="0"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lang="en-US" altLang="ko-KR" dirty="0">
                    <a:cs typeface="Times New Roman" panose="02020603050405020304" pitchFamily="18" charset="0"/>
                    <a:sym typeface="Wingdings" pitchFamily="2" charset="2"/>
                  </a:rPr>
                  <a:t>value</a:t>
                </a:r>
                <a:r>
                  <a:rPr lang="ko-KR" altLang="en-US" dirty="0"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lang="en-US" altLang="ko-KR" dirty="0">
                    <a:cs typeface="Times New Roman" panose="02020603050405020304" pitchFamily="18" charset="0"/>
                    <a:sym typeface="Wingdings" pitchFamily="2" charset="2"/>
                  </a:rPr>
                  <a:t>function</a:t>
                </a:r>
                <a:endParaRPr lang="en-US" altLang="ko-KR" sz="1800" b="0" dirty="0">
                  <a:cs typeface="Times New Roman" panose="02020603050405020304" pitchFamily="18" charset="0"/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05452CC-0D88-9BDD-D48E-95067E4AD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85" y="5418599"/>
                <a:ext cx="6096000" cy="369332"/>
              </a:xfrm>
              <a:prstGeom prst="rect">
                <a:avLst/>
              </a:prstGeom>
              <a:blipFill>
                <a:blip r:embed="rId9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552BECE-DADA-E6F1-8018-AB2420FEBACC}"/>
                  </a:ext>
                </a:extLst>
              </p:cNvPr>
              <p:cNvSpPr txBox="1"/>
              <p:nvPr/>
            </p:nvSpPr>
            <p:spPr>
              <a:xfrm>
                <a:off x="731285" y="5744493"/>
                <a:ext cx="75157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𝑄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𝑠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, 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𝑎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≐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E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𝜏</m:t>
                        </m:r>
                        <m:r>
                          <a:rPr lang="en-US" altLang="ko-KR" sz="1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~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sub>
                    </m:sSub>
                    <m:r>
                      <a:rPr lang="en-US" altLang="ko-KR" sz="1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[</m:t>
                    </m:r>
                    <m:r>
                      <m:rPr>
                        <m:sty m:val="p"/>
                      </m:rPr>
                      <a:rPr lang="en-US" altLang="ko-KR" sz="1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R</m:t>
                    </m:r>
                    <m:r>
                      <a:rPr lang="en-US" altLang="ko-KR" sz="1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(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𝜏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)|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𝑠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=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, 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=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𝑎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]</m:t>
                    </m:r>
                  </m:oMath>
                </a14:m>
                <a:r>
                  <a:rPr lang="ko-KR" altLang="en-US" sz="1800" dirty="0"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lang="en-US" altLang="ko-KR" sz="1800" dirty="0">
                    <a:cs typeface="Times New Roman" panose="02020603050405020304" pitchFamily="18" charset="0"/>
                    <a:sym typeface="Wingdings" pitchFamily="2" charset="2"/>
                  </a:rPr>
                  <a:t>:</a:t>
                </a:r>
                <a:r>
                  <a:rPr lang="ko-KR" altLang="en-US" sz="1800" dirty="0"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lang="en-US" altLang="ko-KR" sz="1800" dirty="0">
                    <a:cs typeface="Times New Roman" panose="02020603050405020304" pitchFamily="18" charset="0"/>
                    <a:sym typeface="Wingdings" pitchFamily="2" charset="2"/>
                  </a:rPr>
                  <a:t>on-policy</a:t>
                </a:r>
                <a:r>
                  <a:rPr lang="ko-KR" altLang="en-US" sz="1800" dirty="0"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lang="en-US" altLang="ko-KR" sz="1800" dirty="0">
                    <a:cs typeface="Times New Roman" panose="02020603050405020304" pitchFamily="18" charset="0"/>
                    <a:sym typeface="Wingdings" pitchFamily="2" charset="2"/>
                  </a:rPr>
                  <a:t>action</a:t>
                </a:r>
                <a:r>
                  <a:rPr lang="en-US" altLang="ko-KR" dirty="0">
                    <a:cs typeface="Times New Roman" panose="02020603050405020304" pitchFamily="18" charset="0"/>
                    <a:sym typeface="Wingdings" pitchFamily="2" charset="2"/>
                  </a:rPr>
                  <a:t>-value</a:t>
                </a:r>
                <a:r>
                  <a:rPr lang="ko-KR" altLang="en-US" dirty="0"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lang="en-US" altLang="ko-KR" dirty="0">
                    <a:cs typeface="Times New Roman" panose="02020603050405020304" pitchFamily="18" charset="0"/>
                    <a:sym typeface="Wingdings" pitchFamily="2" charset="2"/>
                  </a:rPr>
                  <a:t>function</a:t>
                </a:r>
                <a:endParaRPr lang="en-US" altLang="ko-KR" sz="1800" dirty="0">
                  <a:cs typeface="Times New Roman" panose="02020603050405020304" pitchFamily="18" charset="0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552BECE-DADA-E6F1-8018-AB2420FEB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85" y="5744493"/>
                <a:ext cx="7515758" cy="369332"/>
              </a:xfrm>
              <a:prstGeom prst="rect">
                <a:avLst/>
              </a:prstGeom>
              <a:blipFill>
                <a:blip r:embed="rId10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4F7C389-8012-7559-228D-70F1875EDF2F}"/>
                  </a:ext>
                </a:extLst>
              </p:cNvPr>
              <p:cNvSpPr txBox="1"/>
              <p:nvPr/>
            </p:nvSpPr>
            <p:spPr>
              <a:xfrm>
                <a:off x="731285" y="6114900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𝐴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𝑠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, 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𝑎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≐</m:t>
                    </m:r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𝑄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𝑠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, 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𝑎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−</m:t>
                    </m:r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𝑉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sup>
                    </m:sSup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(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ko-KR" altLang="en-US" sz="1800" dirty="0"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lang="en-US" altLang="ko-KR" sz="1800" dirty="0">
                    <a:cs typeface="Times New Roman" panose="02020603050405020304" pitchFamily="18" charset="0"/>
                    <a:sym typeface="Wingdings" pitchFamily="2" charset="2"/>
                  </a:rPr>
                  <a:t>:</a:t>
                </a:r>
                <a:r>
                  <a:rPr lang="ko-KR" altLang="en-US" sz="1800" dirty="0"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lang="en-US" altLang="ko-KR" sz="1800" dirty="0">
                    <a:cs typeface="Times New Roman" panose="02020603050405020304" pitchFamily="18" charset="0"/>
                    <a:sym typeface="Wingdings" pitchFamily="2" charset="2"/>
                  </a:rPr>
                  <a:t>advantage function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4F7C389-8012-7559-228D-70F1875ED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85" y="6114900"/>
                <a:ext cx="6096000" cy="369332"/>
              </a:xfrm>
              <a:prstGeom prst="rect">
                <a:avLst/>
              </a:prstGeom>
              <a:blipFill>
                <a:blip r:embed="rId11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8857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6CF5CD-9102-C5C5-A9DA-3DC6B0DA3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/>
              <a:t>Markov Decision Process</a:t>
            </a:r>
            <a:endParaRPr kumimoji="1"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C95914-8DE5-A4F8-7C7E-5BD1A80C1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sz="1400" dirty="0"/>
              <a:t>Discounted future state distribution: </a:t>
            </a:r>
          </a:p>
          <a:p>
            <a:pPr marL="0" indent="0">
              <a:buNone/>
            </a:pPr>
            <a:endParaRPr kumimoji="1" lang="en-US" altLang="ko-KR" sz="1400" dirty="0"/>
          </a:p>
          <a:p>
            <a:pPr marL="0" indent="0">
              <a:buNone/>
            </a:pPr>
            <a:r>
              <a:rPr kumimoji="1" lang="en-US" altLang="ko-KR" sz="1400" dirty="0"/>
              <a:t>Difference in performance btw two policies </a:t>
            </a:r>
          </a:p>
          <a:p>
            <a:pPr marL="0" indent="0">
              <a:buNone/>
            </a:pPr>
            <a:endParaRPr kumimoji="1" lang="en-US" altLang="ko-KR" sz="1400" dirty="0"/>
          </a:p>
          <a:p>
            <a:pPr marL="0" indent="0">
              <a:buNone/>
            </a:pPr>
            <a:endParaRPr kumimoji="1" lang="en-US" altLang="ko-KR" sz="1400" dirty="0"/>
          </a:p>
          <a:p>
            <a:pPr marL="0" indent="0">
              <a:buNone/>
            </a:pPr>
            <a:r>
              <a:rPr kumimoji="1" lang="en-US" altLang="ko-KR" sz="2400" dirty="0"/>
              <a:t>Constrained Markov Decision Processes</a:t>
            </a:r>
          </a:p>
          <a:p>
            <a:pPr marL="0" indent="0">
              <a:buNone/>
            </a:pPr>
            <a:r>
              <a:rPr kumimoji="1" lang="en-US" altLang="ko-KR" sz="1200" dirty="0"/>
              <a:t>Augmented cost functions</a:t>
            </a:r>
          </a:p>
          <a:p>
            <a:pPr marL="0" indent="0">
              <a:buNone/>
            </a:pPr>
            <a:r>
              <a:rPr kumimoji="1" lang="en-US" altLang="ko-KR" sz="1200" dirty="0"/>
              <a:t>Expected discounted return of policy π </a:t>
            </a:r>
            <a:r>
              <a:rPr kumimoji="1" lang="en-US" altLang="ko-KR" sz="1200" dirty="0" err="1"/>
              <a:t>w.r.t.</a:t>
            </a:r>
            <a:r>
              <a:rPr kumimoji="1" lang="en-US" altLang="ko-KR" sz="1200" dirty="0"/>
              <a:t> cost function Ci: </a:t>
            </a:r>
          </a:p>
          <a:p>
            <a:pPr marL="0" indent="0">
              <a:buNone/>
            </a:pPr>
            <a:endParaRPr kumimoji="1" lang="en-US" altLang="ko-KR" sz="1200" dirty="0"/>
          </a:p>
          <a:p>
            <a:pPr marL="0" indent="0">
              <a:buNone/>
            </a:pPr>
            <a:r>
              <a:rPr kumimoji="1" lang="en-US" altLang="ko-KR" sz="1200" dirty="0"/>
              <a:t>Set of feasible stationary policies for CMDP:</a:t>
            </a:r>
          </a:p>
          <a:p>
            <a:pPr marL="0" indent="0">
              <a:buNone/>
            </a:pPr>
            <a:r>
              <a:rPr kumimoji="1" lang="en-US" altLang="ko-KR" sz="1200" dirty="0"/>
              <a:t>RL problem in CMDP:  </a:t>
            </a:r>
            <a:endParaRPr kumimoji="1"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540B30-F61D-50AB-871A-67109407A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866" y="1825625"/>
            <a:ext cx="3869267" cy="33165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9A1F0D4-25F5-FC66-F228-21C26EDDD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2292213"/>
            <a:ext cx="3585633" cy="81293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F25E637-E550-92F5-4F00-7B59C21B33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3033" y="3903920"/>
            <a:ext cx="1934634" cy="25383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23CC428-7F24-10CC-7BC8-63B781D031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5535" y="4157755"/>
            <a:ext cx="3987800" cy="33358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B279620-654F-47FE-D114-BEB3BF5282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0350" y="4671967"/>
            <a:ext cx="3526367" cy="3596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2329057-B8F5-2A9A-3F9A-0C30828F64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5033" y="5004918"/>
            <a:ext cx="2103967" cy="37953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996B583-3BD1-46D6-91B3-43D6A9190D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3333" y="4671967"/>
            <a:ext cx="3807883" cy="187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417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2C1EAF-AB6A-7AE9-5AC8-F8F40D11D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/>
              <a:t>Constrained Policy Optimization</a:t>
            </a:r>
            <a:endParaRPr kumimoji="1" lang="ko-KR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70EA31B-8C78-C863-CFFD-9D7E014560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0871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kumimoji="1" lang="en-US" altLang="ko-KR" sz="1400" dirty="0"/>
                  <a:t>Large or continuous MDP </a:t>
                </a:r>
                <a:r>
                  <a:rPr kumimoji="1" lang="en-US" altLang="ko-KR" sz="1400" dirty="0">
                    <a:sym typeface="Wingdings" pitchFamily="2" charset="2"/>
                  </a:rPr>
                  <a:t> solving exact optimal policy is intractable</a:t>
                </a:r>
              </a:p>
              <a:p>
                <a:pPr marL="0" indent="0">
                  <a:buNone/>
                </a:pPr>
                <a:r>
                  <a:rPr kumimoji="1" lang="en-US" altLang="ko-KR" sz="1400" dirty="0">
                    <a:sym typeface="Wingdings" pitchFamily="2" charset="2"/>
                  </a:rPr>
                  <a:t>Policy search algorithm ~ MDP: search optimal policy within</a:t>
                </a:r>
              </a:p>
              <a:p>
                <a:pPr marL="0" indent="0">
                  <a:buNone/>
                </a:pPr>
                <a:r>
                  <a:rPr kumimoji="1" lang="en-US" altLang="ko-KR" sz="1400" dirty="0">
                    <a:sym typeface="Wingdings" pitchFamily="2" charset="2"/>
                  </a:rPr>
                  <a:t>                                          of parametrized policies w/ parameters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14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θ</m:t>
                    </m:r>
                  </m:oMath>
                </a14:m>
                <a:r>
                  <a:rPr kumimoji="1" lang="en-US" altLang="ko-KR" sz="1400" dirty="0">
                    <a:sym typeface="Wingdings" pitchFamily="2" charset="2"/>
                  </a:rPr>
                  <a:t> </a:t>
                </a:r>
              </a:p>
              <a:p>
                <a:pPr marL="0" indent="0">
                  <a:buNone/>
                </a:pPr>
                <a:endParaRPr kumimoji="1" lang="en-US" altLang="ko-KR" sz="1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kumimoji="1" lang="en-US" altLang="ko-KR" sz="1400" dirty="0">
                    <a:sym typeface="Wingdings" pitchFamily="2" charset="2"/>
                  </a:rPr>
                  <a:t>Local policy search update of MDP</a:t>
                </a:r>
              </a:p>
              <a:p>
                <a:pPr marL="0" indent="0">
                  <a:buNone/>
                </a:pPr>
                <a:r>
                  <a:rPr kumimoji="1" lang="en-US" altLang="ko-KR" sz="1400" dirty="0">
                    <a:sym typeface="Wingdings" pitchFamily="2" charset="2"/>
                  </a:rPr>
                  <a:t>Objective is estimated by linearizing around </a:t>
                </a:r>
              </a:p>
              <a:p>
                <a:pPr marL="0" indent="0">
                  <a:buNone/>
                </a:pPr>
                <a:r>
                  <a:rPr kumimoji="1" lang="en-US" altLang="ko-KR" sz="1400" dirty="0">
                    <a:sym typeface="Wingdings" pitchFamily="2" charset="2"/>
                  </a:rPr>
                  <a:t>Standard policy gradient update:</a:t>
                </a:r>
              </a:p>
              <a:p>
                <a:pPr marL="0" indent="0">
                  <a:buNone/>
                </a:pPr>
                <a:endParaRPr kumimoji="1" lang="en-US" altLang="ko-KR" sz="1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kumimoji="1" lang="en-US" altLang="ko-KR" sz="1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kumimoji="1" lang="en-US" altLang="ko-KR" sz="1400" dirty="0">
                    <a:sym typeface="Wingdings" pitchFamily="2" charset="2"/>
                  </a:rPr>
                  <a:t>Local policy search update of CMDP</a:t>
                </a:r>
              </a:p>
              <a:p>
                <a:pPr marL="0" indent="0">
                  <a:buNone/>
                </a:pPr>
                <a:r>
                  <a:rPr kumimoji="1" lang="en-US" altLang="ko-KR" sz="1400" dirty="0">
                    <a:sym typeface="Wingdings" pitchFamily="2" charset="2"/>
                  </a:rPr>
                  <a:t>Hard to implement  develop principled approximation with particular choice of D,</a:t>
                </a:r>
              </a:p>
              <a:p>
                <a:pPr marL="0" indent="0">
                  <a:buNone/>
                </a:pPr>
                <a:r>
                  <a:rPr kumimoji="1" lang="en-US" altLang="ko-KR" sz="1400" dirty="0">
                    <a:sym typeface="Wingdings" pitchFamily="2" charset="2"/>
                  </a:rPr>
                  <a:t>Replace objective and constraints w/ surrogate function</a:t>
                </a:r>
              </a:p>
              <a:p>
                <a:pPr marL="0" indent="0">
                  <a:buNone/>
                </a:pPr>
                <a:endParaRPr kumimoji="1" lang="en-US" altLang="ko-KR" sz="1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kumimoji="1" lang="en-US" altLang="ko-KR" sz="1400" dirty="0">
                    <a:sym typeface="Wingdings" pitchFamily="2" charset="2"/>
                  </a:rPr>
                  <a:t>Can bound update’s worst case performance and worst-case constraint violation</a:t>
                </a:r>
                <a:endParaRPr kumimoji="1" lang="ko-KR" altLang="en-US" sz="14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70EA31B-8C78-C863-CFFD-9D7E014560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08717"/>
              </a:xfrm>
              <a:blipFill>
                <a:blip r:embed="rId2"/>
                <a:stretch>
                  <a:fillRect l="-241" t="-7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025708B8-A22F-0EF2-FB8E-D1747BC28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617" y="2789469"/>
            <a:ext cx="2586567" cy="622436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A6A3AEFA-AE13-CEED-09D9-3FF89F538A13}"/>
              </a:ext>
            </a:extLst>
          </p:cNvPr>
          <p:cNvGrpSpPr/>
          <p:nvPr/>
        </p:nvGrpSpPr>
        <p:grpSpPr>
          <a:xfrm>
            <a:off x="8297963" y="631534"/>
            <a:ext cx="2625226" cy="1901689"/>
            <a:chOff x="8043060" y="1328235"/>
            <a:chExt cx="2625226" cy="1901689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F8CDA50B-2BDD-8997-611E-AD6412671D14}"/>
                </a:ext>
              </a:extLst>
            </p:cNvPr>
            <p:cNvSpPr/>
            <p:nvPr/>
          </p:nvSpPr>
          <p:spPr>
            <a:xfrm>
              <a:off x="8179348" y="1756088"/>
              <a:ext cx="1530850" cy="14738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7ADE4EE-C9C8-08FB-CEE2-0B4D835C2EBE}"/>
                </a:ext>
              </a:extLst>
            </p:cNvPr>
            <p:cNvSpPr/>
            <p:nvPr/>
          </p:nvSpPr>
          <p:spPr>
            <a:xfrm>
              <a:off x="8903675" y="2485006"/>
              <a:ext cx="45719" cy="5081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EEF999D3-D346-76FD-BB7B-21F77651C307}"/>
                </a:ext>
              </a:extLst>
            </p:cNvPr>
            <p:cNvCxnSpPr>
              <a:stCxn id="6" idx="7"/>
            </p:cNvCxnSpPr>
            <p:nvPr/>
          </p:nvCxnSpPr>
          <p:spPr>
            <a:xfrm flipV="1">
              <a:off x="8942699" y="1512541"/>
              <a:ext cx="1040074" cy="9799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B8ECD784-F8C8-3651-A93A-3962536F8ED6}"/>
                </a:ext>
              </a:extLst>
            </p:cNvPr>
            <p:cNvCxnSpPr>
              <a:stCxn id="5" idx="2"/>
              <a:endCxn id="6" idx="2"/>
            </p:cNvCxnSpPr>
            <p:nvPr/>
          </p:nvCxnSpPr>
          <p:spPr>
            <a:xfrm>
              <a:off x="8179348" y="2493006"/>
              <a:ext cx="724327" cy="1740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F26E78A-816E-DDE9-B66C-66EA72A37673}"/>
                    </a:ext>
                  </a:extLst>
                </p:cNvPr>
                <p:cNvSpPr txBox="1"/>
                <p:nvPr/>
              </p:nvSpPr>
              <p:spPr>
                <a:xfrm>
                  <a:off x="8837552" y="2699604"/>
                  <a:ext cx="1008934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𝑘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ko-KR" altLang="en-US" sz="1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F26E78A-816E-DDE9-B66C-66EA72A376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7552" y="2699604"/>
                  <a:ext cx="1008934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3877018-EE78-F199-38C5-2F66AB875888}"/>
                    </a:ext>
                  </a:extLst>
                </p:cNvPr>
                <p:cNvSpPr txBox="1"/>
                <p:nvPr/>
              </p:nvSpPr>
              <p:spPr>
                <a:xfrm>
                  <a:off x="9659352" y="1328235"/>
                  <a:ext cx="1008934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ko-KR" altLang="en-US" sz="12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3877018-EE78-F199-38C5-2F66AB8758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9352" y="1328235"/>
                  <a:ext cx="100893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33F146C-7D0B-BAF8-D570-B6749458CCF4}"/>
                    </a:ext>
                  </a:extLst>
                </p:cNvPr>
                <p:cNvSpPr txBox="1"/>
                <p:nvPr/>
              </p:nvSpPr>
              <p:spPr>
                <a:xfrm>
                  <a:off x="8043060" y="2251911"/>
                  <a:ext cx="1008934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δ</m:t>
                        </m:r>
                      </m:oMath>
                    </m:oMathPara>
                  </a14:m>
                  <a:endParaRPr lang="en-US" altLang="ko-KR" sz="1200" b="0" dirty="0">
                    <a:cs typeface="Times New Roman" panose="02020603050405020304" pitchFamily="18" charset="0"/>
                    <a:sym typeface="Wingdings" pitchFamily="2" charset="2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33F146C-7D0B-BAF8-D570-B6749458CC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3060" y="2251911"/>
                  <a:ext cx="1008934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0C67E15D-3A29-4BEF-EB52-CC635F3E557D}"/>
                </a:ext>
              </a:extLst>
            </p:cNvPr>
            <p:cNvSpPr/>
            <p:nvPr/>
          </p:nvSpPr>
          <p:spPr>
            <a:xfrm>
              <a:off x="9319408" y="2699604"/>
              <a:ext cx="45719" cy="5081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D8FF5CF3-0ACE-D6F4-F4E6-9B431FE489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5253" y="2135810"/>
            <a:ext cx="1006093" cy="28989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EEA756D-6209-6639-791A-0504986DE7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9592" y="3441102"/>
            <a:ext cx="3631928" cy="21791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957CDFB-688F-7080-82B7-30CA5E24DB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6292" y="3688215"/>
            <a:ext cx="2006600" cy="31722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5296148-480D-D2F8-5C70-F71F58FB88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2309" y="4134116"/>
            <a:ext cx="3246284" cy="88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229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E8F47-52E0-D699-8412-0B12D1E4F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6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Policy Performance Bounds</a:t>
            </a:r>
            <a:endParaRPr kumimoji="1"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48845-9CF1-752C-139D-1BD25E0A9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sz="1400" dirty="0"/>
              <a:t>What prove</a:t>
            </a:r>
          </a:p>
          <a:p>
            <a:pPr marL="342900" indent="-342900">
              <a:buAutoNum type="arabicPeriod"/>
            </a:pPr>
            <a:r>
              <a:rPr kumimoji="1" lang="en-US" altLang="ko-KR" sz="1400" dirty="0"/>
              <a:t>new bounds on the difference in returns btw two arbitrary stochastic policies in terms of an avg divergence btw them</a:t>
            </a:r>
          </a:p>
          <a:p>
            <a:pPr marL="342900" indent="-342900">
              <a:buAutoNum type="arabicPeriod"/>
            </a:pPr>
            <a:r>
              <a:rPr kumimoji="1" lang="en-US" altLang="ko-KR" sz="1400" dirty="0"/>
              <a:t>Prove worst-case performance degradation at each update</a:t>
            </a:r>
          </a:p>
          <a:p>
            <a:pPr marL="342900" indent="-342900">
              <a:buAutoNum type="arabicPeriod"/>
            </a:pPr>
            <a:endParaRPr kumimoji="1" lang="en-US" altLang="ko-KR" sz="1400" dirty="0"/>
          </a:p>
          <a:p>
            <a:pPr marL="0" indent="0">
              <a:buNone/>
            </a:pPr>
            <a:endParaRPr kumimoji="1" lang="ko-KR" altLang="en-US" sz="14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F55FFB5-BC77-0F3F-CE2B-6FB93F868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33110"/>
            <a:ext cx="3856856" cy="380486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681673B-1BB4-492D-AF58-07428ADE2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309" y="2896401"/>
            <a:ext cx="3897431" cy="339698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D732C6D-D2A4-D951-18F6-B3DC2169E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417" y="3006325"/>
            <a:ext cx="4064560" cy="3187890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CFFC3CF7-DB5B-93C2-385E-47BC0BE36010}"/>
              </a:ext>
            </a:extLst>
          </p:cNvPr>
          <p:cNvGrpSpPr/>
          <p:nvPr/>
        </p:nvGrpSpPr>
        <p:grpSpPr>
          <a:xfrm>
            <a:off x="2627363" y="1531927"/>
            <a:ext cx="1567718" cy="587396"/>
            <a:chOff x="1446516" y="4585307"/>
            <a:chExt cx="1567718" cy="587396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AF698A7F-00DE-0327-AE56-943D78D58261}"/>
                </a:ext>
              </a:extLst>
            </p:cNvPr>
            <p:cNvSpPr/>
            <p:nvPr/>
          </p:nvSpPr>
          <p:spPr>
            <a:xfrm>
              <a:off x="1446516" y="4585307"/>
              <a:ext cx="270933" cy="2709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2B07228-C1D1-FF8E-C047-3B82A30B6CA0}"/>
                </a:ext>
              </a:extLst>
            </p:cNvPr>
            <p:cNvSpPr/>
            <p:nvPr/>
          </p:nvSpPr>
          <p:spPr>
            <a:xfrm>
              <a:off x="2743301" y="4585307"/>
              <a:ext cx="270933" cy="2709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A9DB08A5-5CA5-6D3E-B348-FA222FD5FF03}"/>
                </a:ext>
              </a:extLst>
            </p:cNvPr>
            <p:cNvCxnSpPr>
              <a:cxnSpLocks/>
              <a:stCxn id="8" idx="6"/>
              <a:endCxn id="10" idx="2"/>
            </p:cNvCxnSpPr>
            <p:nvPr/>
          </p:nvCxnSpPr>
          <p:spPr>
            <a:xfrm>
              <a:off x="1717449" y="4720774"/>
              <a:ext cx="10258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901E333-AA9B-1D81-5984-D4805A3597F9}"/>
                </a:ext>
              </a:extLst>
            </p:cNvPr>
            <p:cNvSpPr txBox="1"/>
            <p:nvPr/>
          </p:nvSpPr>
          <p:spPr>
            <a:xfrm>
              <a:off x="1978250" y="4803371"/>
              <a:ext cx="475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f</a:t>
              </a:r>
              <a:endParaRPr kumimoji="1" lang="ko-KR" alt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EFB82C3-9D0A-6EDF-3CAD-23E6106ABF08}"/>
              </a:ext>
            </a:extLst>
          </p:cNvPr>
          <p:cNvSpPr txBox="1"/>
          <p:nvPr/>
        </p:nvSpPr>
        <p:spPr>
          <a:xfrm>
            <a:off x="2627363" y="1749991"/>
            <a:ext cx="376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s</a:t>
            </a:r>
            <a:endParaRPr kumimoji="1"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9E4BC5-42C9-3A94-D124-9CD0B8D4CD0B}"/>
              </a:ext>
            </a:extLst>
          </p:cNvPr>
          <p:cNvSpPr txBox="1"/>
          <p:nvPr/>
        </p:nvSpPr>
        <p:spPr>
          <a:xfrm>
            <a:off x="3924148" y="1743029"/>
            <a:ext cx="376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s’</a:t>
            </a:r>
            <a:endParaRPr kumimoji="1" lang="ko-KR" altLang="en-US" dirty="0"/>
          </a:p>
        </p:txBody>
      </p:sp>
      <p:pic>
        <p:nvPicPr>
          <p:cNvPr id="1026" name="Picture 2" descr="figure4.1">
            <a:extLst>
              <a:ext uri="{FF2B5EF4-FFF2-40B4-BE49-F238E27FC236}">
                <a16:creationId xmlns:a16="http://schemas.microsoft.com/office/drawing/2014/main" id="{DCDCB6D6-DF0A-2BC5-CC54-7EE4A06A6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8840" y="146993"/>
            <a:ext cx="2343048" cy="929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3704A625-9711-6055-E81D-F2164C128452}"/>
              </a:ext>
            </a:extLst>
          </p:cNvPr>
          <p:cNvGrpSpPr/>
          <p:nvPr/>
        </p:nvGrpSpPr>
        <p:grpSpPr>
          <a:xfrm>
            <a:off x="9217449" y="801617"/>
            <a:ext cx="2887136" cy="1310744"/>
            <a:chOff x="8466664" y="326165"/>
            <a:chExt cx="2887136" cy="1310744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C93BB9DB-915D-ADB7-9982-0B0DD3BEA57A}"/>
                </a:ext>
              </a:extLst>
            </p:cNvPr>
            <p:cNvSpPr/>
            <p:nvPr/>
          </p:nvSpPr>
          <p:spPr>
            <a:xfrm>
              <a:off x="9990665" y="422143"/>
              <a:ext cx="1363135" cy="111878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noFill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B7551766-44E9-66AF-1599-AD2A17B3AD65}"/>
                </a:ext>
              </a:extLst>
            </p:cNvPr>
            <p:cNvSpPr/>
            <p:nvPr/>
          </p:nvSpPr>
          <p:spPr>
            <a:xfrm>
              <a:off x="8466664" y="326165"/>
              <a:ext cx="1363135" cy="131074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21FA0645-6356-CC2C-4DFB-7870272F587A}"/>
                </a:ext>
              </a:extLst>
            </p:cNvPr>
            <p:cNvSpPr/>
            <p:nvPr/>
          </p:nvSpPr>
          <p:spPr>
            <a:xfrm>
              <a:off x="8652933" y="601133"/>
              <a:ext cx="838200" cy="787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179BD5F6-426B-9AEA-984F-D5969FE1D379}"/>
                </a:ext>
              </a:extLst>
            </p:cNvPr>
            <p:cNvSpPr/>
            <p:nvPr/>
          </p:nvSpPr>
          <p:spPr>
            <a:xfrm>
              <a:off x="10354734" y="601133"/>
              <a:ext cx="838200" cy="787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95DC5F97-7D28-C88D-53B7-F40C4B3D7037}"/>
                </a:ext>
              </a:extLst>
            </p:cNvPr>
            <p:cNvCxnSpPr>
              <a:cxnSpLocks/>
              <a:stCxn id="4" idx="7"/>
              <a:endCxn id="5" idx="7"/>
            </p:cNvCxnSpPr>
            <p:nvPr/>
          </p:nvCxnSpPr>
          <p:spPr>
            <a:xfrm flipV="1">
              <a:off x="9368381" y="518119"/>
              <a:ext cx="261792" cy="19832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2C2F55D4-5135-4731-9BD8-68FEC8FC9184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 flipH="1" flipV="1">
              <a:off x="9990665" y="981538"/>
              <a:ext cx="363424" cy="3446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31177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E8F47-52E0-D699-8412-0B12D1E4F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6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Trust Region Methods</a:t>
            </a:r>
            <a:endParaRPr kumimoji="1"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48845-9CF1-752C-139D-1BD25E0A9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sz="1400" dirty="0"/>
              <a:t>Approximation to optimizing the lower bound on policy performance given in </a:t>
            </a:r>
          </a:p>
          <a:p>
            <a:pPr marL="0" indent="0">
              <a:buNone/>
            </a:pPr>
            <a:endParaRPr kumimoji="1" lang="en-US" altLang="ko-KR" sz="1400" dirty="0"/>
          </a:p>
          <a:p>
            <a:pPr marL="0" indent="0">
              <a:buNone/>
            </a:pPr>
            <a:r>
              <a:rPr kumimoji="1" lang="en-US" altLang="ko-KR" sz="1400" dirty="0"/>
              <a:t>Guarantee monotonic performance improvements</a:t>
            </a:r>
          </a:p>
          <a:p>
            <a:pPr marL="0" indent="0">
              <a:buNone/>
            </a:pPr>
            <a:endParaRPr kumimoji="1" lang="ko-KR" altLang="en-US" sz="1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35851C7-9E79-9E9B-0A2B-2D22D819D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89434"/>
            <a:ext cx="5428750" cy="182372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D8F31EF-F170-7B4A-E09D-18ECE9BFE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800" y="1619303"/>
            <a:ext cx="3408680" cy="86161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CEF09EF-69C3-B446-8F5E-944CC50BB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257" y="4913154"/>
            <a:ext cx="4702103" cy="1434540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DA4472CB-D515-054A-F49B-34CD483C579D}"/>
              </a:ext>
            </a:extLst>
          </p:cNvPr>
          <p:cNvSpPr/>
          <p:nvPr/>
        </p:nvSpPr>
        <p:spPr>
          <a:xfrm>
            <a:off x="2001981" y="5527964"/>
            <a:ext cx="983673" cy="9836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D64A20C-EBD9-B400-F7CC-C3E0BC5EA3EC}"/>
              </a:ext>
            </a:extLst>
          </p:cNvPr>
          <p:cNvSpPr/>
          <p:nvPr/>
        </p:nvSpPr>
        <p:spPr>
          <a:xfrm>
            <a:off x="2501407" y="5600698"/>
            <a:ext cx="589934" cy="58449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E9E7C5E-8BAE-3317-DCB8-D0A671EB8C7E}"/>
              </a:ext>
            </a:extLst>
          </p:cNvPr>
          <p:cNvSpPr/>
          <p:nvPr/>
        </p:nvSpPr>
        <p:spPr>
          <a:xfrm>
            <a:off x="2493817" y="6019800"/>
            <a:ext cx="48491" cy="4849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B1894B9-4752-80BA-383A-10DE0E5D549B}"/>
              </a:ext>
            </a:extLst>
          </p:cNvPr>
          <p:cNvSpPr/>
          <p:nvPr/>
        </p:nvSpPr>
        <p:spPr>
          <a:xfrm>
            <a:off x="2525652" y="5385950"/>
            <a:ext cx="589934" cy="58449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B89ABB8-4C4A-E1BC-44BA-B844510DEC82}"/>
              </a:ext>
            </a:extLst>
          </p:cNvPr>
          <p:cNvSpPr/>
          <p:nvPr/>
        </p:nvSpPr>
        <p:spPr>
          <a:xfrm>
            <a:off x="2772128" y="5868699"/>
            <a:ext cx="48491" cy="4849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4CC4A7D-5027-D2E1-12F1-0FDA124778B1}"/>
              </a:ext>
            </a:extLst>
          </p:cNvPr>
          <p:cNvSpPr/>
          <p:nvPr/>
        </p:nvSpPr>
        <p:spPr>
          <a:xfrm>
            <a:off x="2799839" y="5653953"/>
            <a:ext cx="48491" cy="4849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8021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E8F47-52E0-D699-8412-0B12D1E4F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6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Trust Region Methods</a:t>
            </a:r>
            <a:endParaRPr kumimoji="1"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48845-9CF1-752C-139D-1BD25E0A9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sz="1400" dirty="0"/>
              <a:t>Lower bound on the policy performance difference between</a:t>
            </a:r>
          </a:p>
          <a:p>
            <a:pPr marL="0" indent="0">
              <a:buNone/>
            </a:pPr>
            <a:endParaRPr kumimoji="1" lang="en-US" altLang="ko-KR" sz="1400" dirty="0"/>
          </a:p>
          <a:p>
            <a:pPr marL="0" indent="0">
              <a:buNone/>
            </a:pPr>
            <a:endParaRPr kumimoji="1" lang="en-US" altLang="ko-KR" sz="1400" dirty="0"/>
          </a:p>
          <a:p>
            <a:pPr marL="0" indent="0">
              <a:buNone/>
            </a:pPr>
            <a:endParaRPr kumimoji="1" lang="en-US" altLang="ko-KR" sz="1400" dirty="0"/>
          </a:p>
          <a:p>
            <a:pPr marL="0" indent="0">
              <a:buNone/>
            </a:pPr>
            <a:endParaRPr kumimoji="1" lang="en-US" altLang="ko-KR" sz="1400" dirty="0"/>
          </a:p>
          <a:p>
            <a:pPr marL="0" indent="0">
              <a:buNone/>
            </a:pPr>
            <a:endParaRPr kumimoji="1" lang="en-US" altLang="ko-KR" sz="1400" dirty="0"/>
          </a:p>
          <a:p>
            <a:pPr marL="0" indent="0">
              <a:buNone/>
            </a:pPr>
            <a:endParaRPr kumimoji="1" lang="en-US" altLang="ko-KR" sz="1400" dirty="0"/>
          </a:p>
          <a:p>
            <a:pPr marL="0" indent="0">
              <a:buNone/>
            </a:pPr>
            <a:r>
              <a:rPr kumimoji="1" lang="en-US" altLang="ko-KR" sz="1400" dirty="0"/>
              <a:t>choice to develop CPO as a trust region method means that CPO inherits this performance guarantee.</a:t>
            </a:r>
          </a:p>
          <a:p>
            <a:pPr marL="0" indent="0">
              <a:buNone/>
            </a:pPr>
            <a:r>
              <a:rPr kumimoji="1" lang="en-US" altLang="ko-KR" sz="1400" dirty="0"/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5A0BBE9-A9D5-999F-CE7B-A0B893EC8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156005"/>
            <a:ext cx="5115560" cy="142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066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E8F47-52E0-D699-8412-0B12D1E4F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6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Trust Region Optimization for Constrained MDPS</a:t>
            </a:r>
            <a:endParaRPr kumimoji="1"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48845-9CF1-752C-139D-1BD25E0A9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sz="1400" dirty="0"/>
              <a:t>1. Policy search update for CMDPs</a:t>
            </a:r>
          </a:p>
          <a:p>
            <a:pPr marL="0" indent="0">
              <a:buNone/>
            </a:pPr>
            <a:r>
              <a:rPr kumimoji="1" lang="en-US" altLang="ko-KR" sz="1400" dirty="0"/>
              <a:t>    alleviates off-policy evaluation problem</a:t>
            </a:r>
          </a:p>
          <a:p>
            <a:pPr marL="0" indent="0">
              <a:buNone/>
            </a:pPr>
            <a:r>
              <a:rPr kumimoji="1" lang="en-US" altLang="ko-KR" sz="1400" dirty="0"/>
              <a:t>2. Guarantee of monotonic performance improvement</a:t>
            </a:r>
          </a:p>
          <a:p>
            <a:pPr marL="0" indent="0">
              <a:buNone/>
            </a:pPr>
            <a:r>
              <a:rPr kumimoji="1" lang="en-US" altLang="ko-KR" sz="1400" dirty="0"/>
              <a:t>                    constraint satisfaction</a:t>
            </a:r>
          </a:p>
          <a:p>
            <a:pPr marL="0" indent="0">
              <a:buNone/>
            </a:pPr>
            <a:r>
              <a:rPr kumimoji="1" lang="en-US" altLang="ko-KR" sz="1400" dirty="0"/>
              <a:t>3. Theoretically guaranteed update </a:t>
            </a:r>
            <a:r>
              <a:rPr kumimoji="1" lang="en-US" altLang="ko-KR" sz="1400" dirty="0">
                <a:sym typeface="Wingdings" pitchFamily="2" charset="2"/>
              </a:rPr>
              <a:t>take too small step</a:t>
            </a:r>
          </a:p>
          <a:p>
            <a:pPr marL="0" indent="0">
              <a:buNone/>
            </a:pPr>
            <a:r>
              <a:rPr kumimoji="1" lang="en-US" altLang="ko-KR" sz="1400" dirty="0">
                <a:sym typeface="Wingdings" pitchFamily="2" charset="2"/>
              </a:rPr>
              <a:t> CPO as a practical approximation based on trust region method</a:t>
            </a:r>
            <a:endParaRPr kumimoji="1" lang="en-US" altLang="ko-KR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6D3414-FD9F-A72B-65F1-2BD93AB36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26" y="3743181"/>
            <a:ext cx="5032513" cy="294050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35C15DB-92BC-D5CF-3FBF-A266B821E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713" y="4244787"/>
            <a:ext cx="4191732" cy="193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921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E8F47-52E0-D699-8412-0B12D1E4F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6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Trust Region Optimization for Constrained MDPS</a:t>
            </a:r>
            <a:endParaRPr kumimoji="1"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48845-9CF1-752C-139D-1BD25E0A9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sz="1400" dirty="0"/>
              <a:t>In Trust region method, penalties on policy divergence are steep for discounted factors close to 1</a:t>
            </a:r>
          </a:p>
          <a:p>
            <a:pPr marL="0" indent="0">
              <a:buNone/>
            </a:pPr>
            <a:r>
              <a:rPr kumimoji="1" lang="en-US" altLang="ko-KR" sz="1400" dirty="0"/>
              <a:t>Steps taken might be small</a:t>
            </a:r>
          </a:p>
          <a:p>
            <a:pPr marL="0" indent="0">
              <a:buNone/>
            </a:pPr>
            <a:endParaRPr kumimoji="1" lang="en-US" altLang="ko-KR" sz="1400" dirty="0"/>
          </a:p>
          <a:p>
            <a:pPr marL="0" indent="0">
              <a:buNone/>
            </a:pPr>
            <a:r>
              <a:rPr kumimoji="1" lang="en-US" altLang="ko-KR" sz="1400" dirty="0"/>
              <a:t>CPO </a:t>
            </a:r>
            <a:r>
              <a:rPr kumimoji="1" lang="en-US" altLang="ko-KR" sz="1400" dirty="0">
                <a:sym typeface="Wingdings" pitchFamily="2" charset="2"/>
              </a:rPr>
              <a:t> use trust region instead of penalties on policy divergence to enable larger step size</a:t>
            </a:r>
            <a:endParaRPr kumimoji="1"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8DE957A-8948-2D14-B363-202467EF2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85" y="3285377"/>
            <a:ext cx="4016829" cy="133894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285C261-39CE-F611-FF10-66EE57B4F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460" y="4001294"/>
            <a:ext cx="5428750" cy="18237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D3304C-9F7B-A142-0D6D-4FEF0D338FB1}"/>
              </a:ext>
            </a:extLst>
          </p:cNvPr>
          <p:cNvSpPr txBox="1"/>
          <p:nvPr/>
        </p:nvSpPr>
        <p:spPr>
          <a:xfrm>
            <a:off x="6455228" y="3631962"/>
            <a:ext cx="4136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vs. Trust region method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2263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E8F47-52E0-D699-8412-0B12D1E4F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6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Trust Region Optimization for Constrained MDPS</a:t>
            </a:r>
            <a:endParaRPr kumimoji="1"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48845-9CF1-752C-139D-1BD25E0A9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sz="1400" dirty="0"/>
              <a:t>CPO Update worst-case Constraint violation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D4A509-1CEB-E086-1DAA-C3265F072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85" y="2383746"/>
            <a:ext cx="4724400" cy="209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746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E8F47-52E0-D699-8412-0B12D1E4F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6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Practical Implementation</a:t>
            </a:r>
            <a:endParaRPr kumimoji="1" lang="ko-KR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1448845-9CF1-752C-139D-1BD25E0A9B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kumimoji="1" lang="en-US" altLang="ko-KR" sz="1400" dirty="0"/>
                  <a:t>How to solve</a:t>
                </a:r>
              </a:p>
              <a:p>
                <a:pPr marL="0" indent="0">
                  <a:buNone/>
                </a:pPr>
                <a:endParaRPr kumimoji="1" lang="en-US" altLang="ko-KR" sz="1400" dirty="0"/>
              </a:p>
              <a:p>
                <a:pPr marL="0" indent="0">
                  <a:buNone/>
                </a:pPr>
                <a:endParaRPr kumimoji="1" lang="en-US" altLang="ko-KR" sz="1400" dirty="0"/>
              </a:p>
              <a:p>
                <a:pPr marL="0" indent="0">
                  <a:buNone/>
                </a:pPr>
                <a:endParaRPr kumimoji="1" lang="en-US" altLang="ko-KR" sz="1400" dirty="0"/>
              </a:p>
              <a:p>
                <a:pPr marL="0" indent="0">
                  <a:buNone/>
                </a:pPr>
                <a:endParaRPr kumimoji="1" lang="en-US" altLang="ko-KR" sz="1400" dirty="0"/>
              </a:p>
              <a:p>
                <a:pPr marL="0" indent="0">
                  <a:buNone/>
                </a:pPr>
                <a:r>
                  <a:rPr kumimoji="1" lang="en-US" altLang="ko-KR" sz="1400" dirty="0"/>
                  <a:t>For small step sizes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1400" b="0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kumimoji="1" lang="en-US" altLang="ko-KR" sz="1400" b="0" dirty="0"/>
                  <a:t>, objective and cost constraints well-approximated by linearizing around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ko-KR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kumimoji="1" lang="en-US" altLang="ko-KR" sz="1400" b="0" dirty="0"/>
              </a:p>
              <a:p>
                <a:pPr marL="0" indent="0">
                  <a:buNone/>
                </a:pPr>
                <a:r>
                  <a:rPr kumimoji="1" lang="en-US" altLang="ko-KR" sz="1400" b="0" dirty="0"/>
                  <a:t>KL-divergence constraint well-approximated by second order expansion</a:t>
                </a:r>
              </a:p>
              <a:p>
                <a:pPr marL="0" indent="0">
                  <a:buNone/>
                </a:pPr>
                <a:endParaRPr kumimoji="1" lang="en-US" altLang="ko-KR" sz="1400" dirty="0"/>
              </a:p>
              <a:p>
                <a:pPr marL="0" indent="0">
                  <a:buNone/>
                </a:pPr>
                <a:r>
                  <a:rPr kumimoji="1" lang="en-US" altLang="ko-KR" sz="1400" dirty="0"/>
                  <a:t>g: gradient of objective</a:t>
                </a:r>
              </a:p>
              <a:p>
                <a:pPr marL="0" indent="0">
                  <a:buNone/>
                </a:pPr>
                <a:r>
                  <a:rPr kumimoji="1" lang="en-US" altLang="ko-KR" sz="1400" b="0" dirty="0"/>
                  <a:t>Gradient of constraint </a:t>
                </a:r>
                <a:r>
                  <a:rPr kumimoji="1" lang="en-US" altLang="ko-KR" sz="1400" dirty="0" err="1"/>
                  <a:t>i</a:t>
                </a:r>
                <a:r>
                  <a:rPr kumimoji="1" lang="en-US" altLang="ko-KR" sz="1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en-US" altLang="ko-KR" sz="1400" b="0" dirty="0"/>
              </a:p>
              <a:p>
                <a:pPr marL="0" indent="0">
                  <a:buNone/>
                </a:pPr>
                <a:r>
                  <a:rPr kumimoji="1" lang="en-US" altLang="ko-KR" sz="1400" b="0" dirty="0"/>
                  <a:t>Hessian of KL-divergence: H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1448845-9CF1-752C-139D-1BD25E0A9B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41" t="-8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8FA9AF51-AFFA-190E-66E1-305601129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827" y="1512912"/>
            <a:ext cx="4474029" cy="165857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049FC4-4393-3A9E-87EB-9955F26A3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715" y="4276754"/>
            <a:ext cx="4343400" cy="136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78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E8F47-52E0-D699-8412-0B12D1E4F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6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Practical Implementation</a:t>
            </a:r>
            <a:endParaRPr kumimoji="1"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48845-9CF1-752C-139D-1BD25E0A9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sz="1400" b="0" dirty="0"/>
              <a:t>Fisher information matrix H: always positive semi-definite,</a:t>
            </a:r>
          </a:p>
          <a:p>
            <a:pPr marL="0" indent="0">
              <a:buNone/>
            </a:pPr>
            <a:r>
              <a:rPr kumimoji="1" lang="en-US" altLang="ko-KR" sz="1400" dirty="0"/>
              <a:t>Can be solved efficiently using duality</a:t>
            </a:r>
          </a:p>
          <a:p>
            <a:pPr marL="0" indent="0">
              <a:buNone/>
            </a:pPr>
            <a:endParaRPr kumimoji="1" lang="en-US" altLang="ko-KR" sz="1400" b="0" dirty="0"/>
          </a:p>
          <a:p>
            <a:pPr marL="0" indent="0">
              <a:buNone/>
            </a:pPr>
            <a:endParaRPr kumimoji="1" lang="en-US" altLang="ko-KR" sz="1400" dirty="0"/>
          </a:p>
          <a:p>
            <a:pPr marL="0" indent="0">
              <a:buNone/>
            </a:pPr>
            <a:endParaRPr kumimoji="1" lang="en-US" altLang="ko-KR" sz="1400" b="0" dirty="0"/>
          </a:p>
          <a:p>
            <a:pPr marL="0" indent="0">
              <a:buNone/>
            </a:pPr>
            <a:endParaRPr kumimoji="1" lang="en-US" altLang="ko-KR" sz="1400" dirty="0"/>
          </a:p>
          <a:p>
            <a:pPr marL="0" indent="0">
              <a:buNone/>
            </a:pPr>
            <a:endParaRPr kumimoji="1" lang="en-US" altLang="ko-KR" sz="1400" b="0" dirty="0"/>
          </a:p>
          <a:p>
            <a:pPr marL="0" indent="0">
              <a:buNone/>
            </a:pPr>
            <a:endParaRPr kumimoji="1" lang="en-US" altLang="ko-KR" sz="1400" b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E049FC4-4393-3A9E-87EB-9955F26A3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1381154"/>
            <a:ext cx="4343400" cy="13655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EAACA72-11F6-4200-2AF8-6E1490CAD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72" y="2768485"/>
            <a:ext cx="4615544" cy="38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688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E8F47-52E0-D699-8412-0B12D1E4F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6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Practical Implementation</a:t>
            </a:r>
            <a:endParaRPr kumimoji="1"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48845-9CF1-752C-139D-1BD25E0A9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sz="1400" b="0" dirty="0"/>
              <a:t>Constrained Policy Optimization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852D93-3F50-2EA1-7FA5-ACCCFDF91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943" y="2341211"/>
            <a:ext cx="5138057" cy="38357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4A4BDC-7290-C8AA-79AB-479F3BE8AD4A}"/>
              </a:ext>
            </a:extLst>
          </p:cNvPr>
          <p:cNvSpPr txBox="1"/>
          <p:nvPr/>
        </p:nvSpPr>
        <p:spPr>
          <a:xfrm>
            <a:off x="5921828" y="1778412"/>
            <a:ext cx="6433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If infeasible, recovery method is necessary</a:t>
            </a:r>
          </a:p>
          <a:p>
            <a:r>
              <a:rPr kumimoji="1" lang="en-US" altLang="ko-KR" sz="1400" dirty="0">
                <a:sym typeface="Wingdings" pitchFamily="2" charset="2"/>
              </a:rPr>
              <a:t> Recover by proposing an update to purely decrease the constraint value</a:t>
            </a:r>
            <a:endParaRPr kumimoji="1" lang="ko-KR" altLang="en-US" sz="1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EC5E68B-63B1-DA8C-8792-1DC71DAB1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571" y="2305479"/>
            <a:ext cx="3548743" cy="9518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8C013A-6690-A0CD-E898-2B6C221724D6}"/>
              </a:ext>
            </a:extLst>
          </p:cNvPr>
          <p:cNvSpPr txBox="1"/>
          <p:nvPr/>
        </p:nvSpPr>
        <p:spPr>
          <a:xfrm>
            <a:off x="5921828" y="3288575"/>
            <a:ext cx="59871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Various approximation</a:t>
            </a:r>
          </a:p>
          <a:p>
            <a:r>
              <a:rPr kumimoji="1" lang="en-US" altLang="ko-KR" sz="1400" dirty="0"/>
              <a:t>Build a factor of safety into algorithm to minimize chance of constraint violation</a:t>
            </a:r>
            <a:endParaRPr kumimoji="1" lang="ko-KR" altLang="en-US" sz="14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318A230-FB0D-12EC-CAA3-1785A8AB1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571" y="4139863"/>
            <a:ext cx="5464628" cy="57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00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E8F47-52E0-D699-8412-0B12D1E4F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6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Practical Implementation</a:t>
            </a:r>
            <a:endParaRPr kumimoji="1"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48845-9CF1-752C-139D-1BD25E0A9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sz="1400" b="0" dirty="0"/>
              <a:t>Constrained Policy Optimization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852D93-3F50-2EA1-7FA5-ACCCFDF91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0" y="142030"/>
            <a:ext cx="2993572" cy="22348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518410A-D87F-8A52-032E-CD40F9E51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41" y="2160080"/>
            <a:ext cx="9274629" cy="466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10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E8F47-52E0-D699-8412-0B12D1E4F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6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Questions…</a:t>
            </a:r>
            <a:endParaRPr kumimoji="1"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48845-9CF1-752C-139D-1BD25E0A9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sz="1400" b="0" dirty="0"/>
              <a:t>Local search is enough? </a:t>
            </a:r>
            <a:r>
              <a:rPr kumimoji="1" lang="en-US" altLang="ko-KR" sz="1400" b="0" dirty="0">
                <a:sym typeface="Wingdings" pitchFamily="2" charset="2"/>
              </a:rPr>
              <a:t> maybe need some exploration</a:t>
            </a:r>
            <a:endParaRPr kumimoji="1" lang="en-US" altLang="ko-KR" sz="1400" b="0" dirty="0"/>
          </a:p>
          <a:p>
            <a:pPr marL="0" indent="0">
              <a:buNone/>
            </a:pPr>
            <a:r>
              <a:rPr kumimoji="1" lang="en-US" altLang="ko-KR" sz="1400" b="0" dirty="0"/>
              <a:t>Not feasible situation then linear search… in reality?</a:t>
            </a:r>
            <a:endParaRPr kumimoji="1" lang="en-US" altLang="ko-KR" sz="1400" b="0" dirty="0">
              <a:sym typeface="Wingdings" pitchFamily="2" charset="2"/>
            </a:endParaRPr>
          </a:p>
          <a:p>
            <a:pPr marL="0" indent="0">
              <a:buNone/>
            </a:pPr>
            <a:r>
              <a:rPr kumimoji="1" lang="en-US" altLang="ko-KR" sz="1400" dirty="0"/>
              <a:t>Constrain is deterministic (step red button then penalty). In realistic, can we trust the constrain?</a:t>
            </a:r>
            <a:endParaRPr kumimoji="1" lang="en-US" altLang="ko-KR" sz="1400" b="0" dirty="0"/>
          </a:p>
        </p:txBody>
      </p:sp>
    </p:spTree>
    <p:extLst>
      <p:ext uri="{BB962C8B-B14F-4D97-AF65-F5344CB8AC3E}">
        <p14:creationId xmlns:p14="http://schemas.microsoft.com/office/powerpoint/2010/main" val="3653361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1330</TotalTime>
  <Words>629</Words>
  <Application>Microsoft Macintosh PowerPoint</Application>
  <PresentationFormat>와이드스크린</PresentationFormat>
  <Paragraphs>121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맑은 고딕</vt:lpstr>
      <vt:lpstr>Arial</vt:lpstr>
      <vt:lpstr>Cambria Math</vt:lpstr>
      <vt:lpstr>Times New Roman</vt:lpstr>
      <vt:lpstr>Wingdings</vt:lpstr>
      <vt:lpstr>Office 테마</vt:lpstr>
      <vt:lpstr>Constrained Policy Optimization</vt:lpstr>
      <vt:lpstr>Constrained Policy Optimization</vt:lpstr>
      <vt:lpstr>Markov Decision Process</vt:lpstr>
      <vt:lpstr>Markov Decision Process</vt:lpstr>
      <vt:lpstr>Constrained Policy Optimization</vt:lpstr>
      <vt:lpstr>Policy Performance Bounds</vt:lpstr>
      <vt:lpstr>Trust Region Methods</vt:lpstr>
      <vt:lpstr>Trust Region Methods</vt:lpstr>
      <vt:lpstr>Trust Region Optimization for Constrained MDPS</vt:lpstr>
      <vt:lpstr>Trust Region Optimization for Constrained MDPS</vt:lpstr>
      <vt:lpstr>Trust Region Optimization for Constrained MDPS</vt:lpstr>
      <vt:lpstr>Practical Implementation</vt:lpstr>
      <vt:lpstr>Practical Implementation</vt:lpstr>
      <vt:lpstr>Practical Implementation</vt:lpstr>
      <vt:lpstr>Practical Implementation</vt:lpstr>
      <vt:lpstr>Questions…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한의석</dc:creator>
  <cp:lastModifiedBy>한의석</cp:lastModifiedBy>
  <cp:revision>29</cp:revision>
  <dcterms:created xsi:type="dcterms:W3CDTF">2024-07-16T04:37:19Z</dcterms:created>
  <dcterms:modified xsi:type="dcterms:W3CDTF">2024-07-17T05:27:36Z</dcterms:modified>
</cp:coreProperties>
</file>