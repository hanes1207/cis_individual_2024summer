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9" r:id="rId4"/>
    <p:sldId id="270" r:id="rId5"/>
    <p:sldId id="260" r:id="rId6"/>
    <p:sldId id="262" r:id="rId7"/>
    <p:sldId id="271" r:id="rId8"/>
    <p:sldId id="265" r:id="rId9"/>
    <p:sldId id="267" r:id="rId10"/>
    <p:sldId id="268" r:id="rId11"/>
    <p:sldId id="272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87306"/>
  </p:normalViewPr>
  <p:slideViewPr>
    <p:cSldViewPr snapToGrid="0">
      <p:cViewPr varScale="1">
        <p:scale>
          <a:sx n="97" d="100"/>
          <a:sy n="97" d="100"/>
        </p:scale>
        <p:origin x="11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9CF4A3-7344-214A-BF59-08BAA9DEEA4F}" type="datetimeFigureOut">
              <a:rPr kumimoji="1" lang="ko-KR" altLang="en-US" smtClean="0"/>
              <a:t>2024. 7. 8.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184193-40A6-124D-A68A-57CF1F15215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69648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강화학습은 </a:t>
            </a:r>
            <a:r>
              <a:rPr kumimoji="1" lang="en-US" altLang="ko-KR" dirty="0"/>
              <a:t>environment</a:t>
            </a:r>
            <a:r>
              <a:rPr kumimoji="1" lang="ko-KR" altLang="en-US" dirty="0"/>
              <a:t>의 어떤 </a:t>
            </a:r>
            <a:r>
              <a:rPr kumimoji="1" lang="en-US" altLang="ko-KR" dirty="0"/>
              <a:t>state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있는 </a:t>
            </a:r>
            <a:r>
              <a:rPr kumimoji="1" lang="en-US" altLang="ko-KR" dirty="0"/>
              <a:t>agent</a:t>
            </a:r>
            <a:r>
              <a:rPr kumimoji="1" lang="ko-KR" altLang="en-US" dirty="0"/>
              <a:t>가 </a:t>
            </a:r>
            <a:r>
              <a:rPr kumimoji="1" lang="en-US" altLang="ko-KR" dirty="0"/>
              <a:t>action</a:t>
            </a:r>
            <a:r>
              <a:rPr kumimoji="1" lang="ko-KR" altLang="en-US" dirty="0"/>
              <a:t>을 수행하여 그에 상응하는 </a:t>
            </a:r>
            <a:r>
              <a:rPr kumimoji="1" lang="en-US" altLang="ko-KR" dirty="0"/>
              <a:t>reward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얻으며 학습하는 것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강화학습의 목표는 </a:t>
            </a:r>
            <a:r>
              <a:rPr kumimoji="1" lang="en-US" altLang="ko-KR" dirty="0"/>
              <a:t>agent</a:t>
            </a:r>
            <a:r>
              <a:rPr kumimoji="1" lang="ko-KR" altLang="en-US" dirty="0"/>
              <a:t>가 어떤 </a:t>
            </a:r>
            <a:r>
              <a:rPr kumimoji="1" lang="en-US" altLang="ko-KR" dirty="0"/>
              <a:t>state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있든 이 </a:t>
            </a:r>
            <a:r>
              <a:rPr kumimoji="1" lang="en-US" altLang="ko-KR" dirty="0"/>
              <a:t>reward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최대화 할 수 있는 </a:t>
            </a:r>
            <a:r>
              <a:rPr kumimoji="1" lang="en-US" altLang="ko-KR" dirty="0"/>
              <a:t>trajectory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선택하게 하는 </a:t>
            </a:r>
            <a:r>
              <a:rPr kumimoji="1" lang="en-US" altLang="ko-KR" dirty="0"/>
              <a:t>policy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학습하는 것</a:t>
            </a:r>
            <a:r>
              <a:rPr kumimoji="1" lang="en-US" altLang="ko-KR" dirty="0"/>
              <a:t>, agent</a:t>
            </a:r>
            <a:r>
              <a:rPr kumimoji="1" lang="ko-KR" altLang="en-US" dirty="0"/>
              <a:t>는 이 </a:t>
            </a:r>
            <a:r>
              <a:rPr kumimoji="1" lang="en-US" altLang="ko-KR" dirty="0"/>
              <a:t>policy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따라 다음 </a:t>
            </a:r>
            <a:r>
              <a:rPr kumimoji="1" lang="en-US" altLang="ko-KR" dirty="0"/>
              <a:t>action</a:t>
            </a:r>
            <a:r>
              <a:rPr kumimoji="1" lang="ko-KR" altLang="en-US" dirty="0"/>
              <a:t>을 선택하게 된다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184193-40A6-124D-A68A-57CF1F152151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158741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강화학습</a:t>
            </a:r>
            <a:r>
              <a:rPr kumimoji="1" lang="en-US" altLang="ko-KR" dirty="0"/>
              <a:t>, </a:t>
            </a:r>
            <a:r>
              <a:rPr kumimoji="1" lang="ko-KR" altLang="en-US" dirty="0"/>
              <a:t>즉</a:t>
            </a:r>
            <a:r>
              <a:rPr kumimoji="1" lang="en-US" altLang="ko-KR" dirty="0"/>
              <a:t> RL</a:t>
            </a:r>
            <a:r>
              <a:rPr kumimoji="1" lang="ko-KR" altLang="en-US" dirty="0"/>
              <a:t>을 얘기하면 대부분 이 </a:t>
            </a:r>
            <a:r>
              <a:rPr kumimoji="1" lang="en-US" altLang="ko-KR" dirty="0"/>
              <a:t>online RL</a:t>
            </a:r>
            <a:r>
              <a:rPr kumimoji="1" lang="ko-KR" altLang="en-US" dirty="0"/>
              <a:t>을 의미함</a:t>
            </a:r>
            <a:r>
              <a:rPr kumimoji="1" lang="en-US" altLang="ko-KR" dirty="0"/>
              <a:t>. </a:t>
            </a:r>
            <a:r>
              <a:rPr kumimoji="1" lang="ko-KR" altLang="en-US" dirty="0"/>
              <a:t>실제 환경과의 상호작용을 통해 </a:t>
            </a:r>
            <a:r>
              <a:rPr kumimoji="1" lang="en-US" altLang="ko-KR" dirty="0"/>
              <a:t>policy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배우는 것</a:t>
            </a:r>
            <a:r>
              <a:rPr kumimoji="1" lang="en-US" altLang="ko-KR" dirty="0"/>
              <a:t>. </a:t>
            </a:r>
          </a:p>
          <a:p>
            <a:r>
              <a:rPr kumimoji="1" lang="en-US" altLang="ko-KR" dirty="0"/>
              <a:t>policy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배울 때 정보의 원천이 환경이냐</a:t>
            </a:r>
            <a:r>
              <a:rPr kumimoji="1" lang="en-US" altLang="ko-KR" dirty="0"/>
              <a:t>, </a:t>
            </a:r>
            <a:r>
              <a:rPr kumimoji="1" lang="ko-KR" altLang="en-US" dirty="0"/>
              <a:t>아니면 환경에서 수집한 데이터가 저장된 </a:t>
            </a:r>
            <a:r>
              <a:rPr kumimoji="1" lang="en-US" altLang="ko-KR" dirty="0"/>
              <a:t>replay buffer</a:t>
            </a:r>
            <a:r>
              <a:rPr kumimoji="1" lang="ko-KR" altLang="en-US" dirty="0" err="1"/>
              <a:t>냐에</a:t>
            </a:r>
            <a:r>
              <a:rPr kumimoji="1" lang="ko-KR" altLang="en-US" dirty="0"/>
              <a:t> 따라 </a:t>
            </a:r>
            <a:r>
              <a:rPr kumimoji="1" lang="en-US" altLang="ko-KR" dirty="0"/>
              <a:t>on-policy</a:t>
            </a:r>
            <a:r>
              <a:rPr kumimoji="1" lang="ko-KR" altLang="en-US" dirty="0"/>
              <a:t>와 </a:t>
            </a:r>
            <a:r>
              <a:rPr kumimoji="1" lang="en-US" altLang="ko-KR" dirty="0"/>
              <a:t>off-policy</a:t>
            </a:r>
            <a:r>
              <a:rPr kumimoji="1" lang="ko-KR" altLang="en-US" dirty="0"/>
              <a:t>로 나눌 수 있다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두 방식 모두 실제 </a:t>
            </a:r>
            <a:r>
              <a:rPr kumimoji="1" lang="en-US" altLang="ko-KR" dirty="0"/>
              <a:t>environment</a:t>
            </a:r>
            <a:r>
              <a:rPr kumimoji="1" lang="ko-KR" altLang="en-US" dirty="0"/>
              <a:t>와 </a:t>
            </a:r>
            <a:r>
              <a:rPr kumimoji="1" lang="en-US" altLang="ko-KR" dirty="0"/>
              <a:t>interaction</a:t>
            </a:r>
            <a:r>
              <a:rPr kumimoji="1" lang="ko-KR" altLang="en-US" dirty="0"/>
              <a:t>이 이뤄져야 하고</a:t>
            </a:r>
            <a:r>
              <a:rPr kumimoji="1" lang="en-US" altLang="ko-KR" dirty="0"/>
              <a:t>, interaction</a:t>
            </a:r>
            <a:r>
              <a:rPr kumimoji="1" lang="ko-KR" altLang="en-US" dirty="0" err="1"/>
              <a:t>으로</a:t>
            </a:r>
            <a:r>
              <a:rPr kumimoji="1" lang="ko-KR" altLang="en-US" dirty="0"/>
              <a:t> 얻은 정보를 통해 </a:t>
            </a:r>
            <a:r>
              <a:rPr kumimoji="1" lang="en-US" altLang="ko-KR" dirty="0"/>
              <a:t>Policy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개선하는 과정을 포함하고 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184193-40A6-124D-A68A-57CF1F152151}" type="slidenum">
              <a:rPr kumimoji="1" lang="ko-KR" altLang="en-US" smtClean="0"/>
              <a:t>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563669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그러나 저자는 이러한 </a:t>
            </a:r>
            <a:r>
              <a:rPr kumimoji="1" lang="en-US" altLang="ko-KR" dirty="0"/>
              <a:t>online-model</a:t>
            </a:r>
            <a:r>
              <a:rPr kumimoji="1" lang="ko-KR" altLang="en-US" dirty="0"/>
              <a:t>이 </a:t>
            </a:r>
            <a:r>
              <a:rPr kumimoji="1" lang="en-US" altLang="ko-KR" dirty="0"/>
              <a:t>real-world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적용되기에는 한계가 있다고 말한다</a:t>
            </a:r>
            <a:r>
              <a:rPr kumimoji="1" lang="en-US" altLang="ko-KR" dirty="0"/>
              <a:t>. </a:t>
            </a:r>
          </a:p>
          <a:p>
            <a:r>
              <a:rPr kumimoji="1" lang="ko-KR" altLang="en-US" dirty="0"/>
              <a:t>실제 세계와의 상호작용은 비용이 들고 위험하며</a:t>
            </a:r>
            <a:r>
              <a:rPr kumimoji="1" lang="en-US" altLang="ko-KR" dirty="0"/>
              <a:t>, </a:t>
            </a:r>
            <a:r>
              <a:rPr kumimoji="1" lang="ko-KR" altLang="en-US" dirty="0"/>
              <a:t>이렇게 수집된 데이터셋은 </a:t>
            </a:r>
            <a:r>
              <a:rPr kumimoji="1" lang="en-US" altLang="ko-KR" dirty="0"/>
              <a:t>offline </a:t>
            </a:r>
            <a:r>
              <a:rPr kumimoji="1" lang="ko-KR" altLang="en-US" dirty="0"/>
              <a:t>데이터셋보다 데이터 양이 현저히 적기 때문이다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184193-40A6-124D-A68A-57CF1F152151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925249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반대로 </a:t>
            </a:r>
            <a:r>
              <a:rPr kumimoji="1" lang="en-US" altLang="ko-KR" dirty="0"/>
              <a:t>offline RL</a:t>
            </a:r>
            <a:r>
              <a:rPr kumimoji="1" lang="ko-KR" altLang="en-US" dirty="0"/>
              <a:t>은 실제 환경과의 상호작용 없이</a:t>
            </a:r>
            <a:r>
              <a:rPr kumimoji="1" lang="en-US" altLang="ko-KR" dirty="0"/>
              <a:t>, </a:t>
            </a:r>
            <a:r>
              <a:rPr kumimoji="1" lang="ko-KR" altLang="en-US" dirty="0"/>
              <a:t>이미 얻어진 큰 데이터셋을 기반으로 학습한다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이때 이 데이터셋을 수집한 </a:t>
            </a:r>
            <a:r>
              <a:rPr kumimoji="1" lang="en-US" altLang="ko-KR" dirty="0"/>
              <a:t>policy</a:t>
            </a:r>
            <a:r>
              <a:rPr kumimoji="1" lang="ko-KR" altLang="en-US" dirty="0"/>
              <a:t>는 </a:t>
            </a:r>
            <a:r>
              <a:rPr kumimoji="1" lang="en-US" altLang="ko-KR" dirty="0"/>
              <a:t>learning</a:t>
            </a:r>
            <a:r>
              <a:rPr kumimoji="1" lang="ko-KR" altLang="en-US" dirty="0"/>
              <a:t>하는 </a:t>
            </a:r>
            <a:r>
              <a:rPr kumimoji="1" lang="en-US" altLang="ko-KR" dirty="0"/>
              <a:t>policy</a:t>
            </a:r>
            <a:r>
              <a:rPr kumimoji="1" lang="ko-KR" altLang="en-US" dirty="0"/>
              <a:t>와 다를 수 있고</a:t>
            </a:r>
            <a:r>
              <a:rPr kumimoji="1" lang="en-US" altLang="ko-KR" dirty="0"/>
              <a:t>, </a:t>
            </a:r>
            <a:r>
              <a:rPr kumimoji="1" lang="ko-KR" altLang="en-US" dirty="0"/>
              <a:t>아예 </a:t>
            </a:r>
            <a:r>
              <a:rPr kumimoji="1" lang="en-US" altLang="ko-KR" dirty="0"/>
              <a:t>policy </a:t>
            </a:r>
            <a:r>
              <a:rPr kumimoji="1" lang="ko-KR" altLang="en-US" dirty="0"/>
              <a:t>없이 사람이 </a:t>
            </a:r>
            <a:r>
              <a:rPr kumimoji="1" lang="en-US" altLang="ko-KR" dirty="0"/>
              <a:t>action</a:t>
            </a:r>
            <a:r>
              <a:rPr kumimoji="1" lang="ko-KR" altLang="en-US" dirty="0"/>
              <a:t>을 취한 결과일 수도 있다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따라서 </a:t>
            </a:r>
            <a:r>
              <a:rPr kumimoji="1" lang="en-US" altLang="ko-KR" dirty="0" err="1"/>
              <a:t>pi_beta</a:t>
            </a:r>
            <a:r>
              <a:rPr kumimoji="1" lang="ko-KR" altLang="en-US" dirty="0"/>
              <a:t>로 </a:t>
            </a:r>
            <a:r>
              <a:rPr kumimoji="1" lang="en-US" altLang="ko-KR" dirty="0"/>
              <a:t>learned policy pi</a:t>
            </a:r>
            <a:r>
              <a:rPr kumimoji="1" lang="ko-KR" altLang="en-US" dirty="0"/>
              <a:t>와 다르게 표기한다</a:t>
            </a:r>
            <a:r>
              <a:rPr kumimoji="1"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184193-40A6-124D-A68A-57CF1F152151}" type="slidenum">
              <a:rPr kumimoji="1" lang="ko-KR" altLang="en-US" smtClean="0"/>
              <a:t>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538216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이 논문에서 해결하고자 하는 주요한 문제인 </a:t>
            </a:r>
            <a:r>
              <a:rPr kumimoji="1" lang="en-US" altLang="ko-KR" dirty="0"/>
              <a:t>distributional shift</a:t>
            </a:r>
            <a:r>
              <a:rPr kumimoji="1" lang="ko-KR" altLang="en-US" dirty="0"/>
              <a:t>는 바로 이 </a:t>
            </a:r>
            <a:r>
              <a:rPr kumimoji="1" lang="en-US" altLang="ko-KR" dirty="0"/>
              <a:t>Pi </a:t>
            </a:r>
            <a:r>
              <a:rPr kumimoji="1" lang="ko-KR" altLang="en-US" dirty="0"/>
              <a:t>와 </a:t>
            </a:r>
            <a:r>
              <a:rPr kumimoji="1" lang="en-US" altLang="ko-KR" dirty="0" err="1"/>
              <a:t>pi_beta</a:t>
            </a:r>
            <a:r>
              <a:rPr kumimoji="1" lang="ko-KR" altLang="en-US" dirty="0"/>
              <a:t>의 차이에서 기인한다</a:t>
            </a:r>
            <a:r>
              <a:rPr kumimoji="1" lang="en-US" altLang="ko-KR" dirty="0"/>
              <a:t>.</a:t>
            </a:r>
          </a:p>
          <a:p>
            <a:r>
              <a:rPr kumimoji="1" lang="en-US" altLang="ko-KR" dirty="0"/>
              <a:t>policy</a:t>
            </a:r>
            <a:r>
              <a:rPr kumimoji="1" lang="ko-KR" altLang="en-US" dirty="0"/>
              <a:t> </a:t>
            </a:r>
            <a:r>
              <a:rPr kumimoji="1" lang="en-US" altLang="ko-KR" dirty="0"/>
              <a:t>evaluation</a:t>
            </a:r>
            <a:r>
              <a:rPr kumimoji="1" lang="ko-KR" altLang="en-US" dirty="0"/>
              <a:t>과 </a:t>
            </a:r>
            <a:r>
              <a:rPr kumimoji="1" lang="en-US" altLang="ko-KR" dirty="0"/>
              <a:t>improvement </a:t>
            </a:r>
            <a:r>
              <a:rPr kumimoji="1" lang="ko-KR" altLang="en-US" dirty="0"/>
              <a:t>에서는 그저 </a:t>
            </a:r>
            <a:r>
              <a:rPr kumimoji="1" lang="en-US" altLang="ko-KR" dirty="0"/>
              <a:t>value function Q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</a:t>
            </a:r>
            <a:r>
              <a:rPr kumimoji="1" lang="en-US" altLang="ko-KR" dirty="0"/>
              <a:t>maximize</a:t>
            </a:r>
            <a:r>
              <a:rPr kumimoji="1" lang="ko-KR" altLang="en-US" dirty="0"/>
              <a:t>하는 </a:t>
            </a:r>
            <a:r>
              <a:rPr kumimoji="1" lang="en-US" altLang="ko-KR" dirty="0"/>
              <a:t>policy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찾기 때문에</a:t>
            </a:r>
            <a:r>
              <a:rPr kumimoji="1" lang="en-US" altLang="ko-KR" dirty="0"/>
              <a:t>, </a:t>
            </a:r>
            <a:r>
              <a:rPr kumimoji="1" lang="en-US" altLang="ko-KR" dirty="0" err="1"/>
              <a:t>pi_beta</a:t>
            </a:r>
            <a:r>
              <a:rPr kumimoji="1" lang="ko-KR" altLang="en-US" dirty="0"/>
              <a:t>에서 보지 못했던</a:t>
            </a:r>
            <a:r>
              <a:rPr kumimoji="1" lang="en-US" altLang="ko-KR" dirty="0"/>
              <a:t>, </a:t>
            </a:r>
            <a:r>
              <a:rPr kumimoji="1" lang="ko-KR" altLang="en-US" dirty="0"/>
              <a:t>즉 </a:t>
            </a:r>
            <a:r>
              <a:rPr kumimoji="1" lang="en-US" altLang="ko-KR" dirty="0"/>
              <a:t>out-of-distribution action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대해서 높은 </a:t>
            </a:r>
            <a:r>
              <a:rPr kumimoji="1" lang="en-US" altLang="ko-KR" dirty="0"/>
              <a:t>Q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가질 확률이 크고</a:t>
            </a:r>
            <a:r>
              <a:rPr kumimoji="1" lang="en-US" altLang="ko-KR" dirty="0"/>
              <a:t>, </a:t>
            </a:r>
            <a:r>
              <a:rPr kumimoji="1" lang="ko-KR" altLang="en-US" dirty="0"/>
              <a:t>그렇게 되면 이러한 행동을 선택할 확률이 높아진다</a:t>
            </a:r>
            <a:r>
              <a:rPr kumimoji="1" lang="en-US" altLang="ko-KR" dirty="0"/>
              <a:t>, </a:t>
            </a:r>
            <a:r>
              <a:rPr kumimoji="1" lang="ko-KR" altLang="en-US" dirty="0"/>
              <a:t>즉 편향된다는 것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예를 들어 사람이 직접 돌아다니며 수집한 데이터셋이 있는데</a:t>
            </a:r>
            <a:r>
              <a:rPr kumimoji="1" lang="en-US" altLang="ko-KR" dirty="0"/>
              <a:t>, </a:t>
            </a:r>
            <a:r>
              <a:rPr kumimoji="1" lang="ko-KR" altLang="en-US" dirty="0"/>
              <a:t>이 사람이 선로에 들어간 적이 없다면 선로에 들어가는 행동을</a:t>
            </a:r>
            <a:r>
              <a:rPr kumimoji="1" lang="en-US" altLang="ko-KR" dirty="0"/>
              <a:t> </a:t>
            </a:r>
            <a:r>
              <a:rPr kumimoji="1" lang="ko-KR" altLang="en-US" dirty="0"/>
              <a:t>높은 </a:t>
            </a:r>
            <a:r>
              <a:rPr kumimoji="1" lang="en-US" altLang="ko-KR" dirty="0"/>
              <a:t>Q value</a:t>
            </a:r>
            <a:r>
              <a:rPr kumimoji="1" lang="ko-KR" altLang="en-US" dirty="0"/>
              <a:t>로 낙관적으로 평가할 수 있고</a:t>
            </a:r>
            <a:r>
              <a:rPr kumimoji="1" lang="en-US" altLang="ko-KR" dirty="0"/>
              <a:t>, </a:t>
            </a:r>
            <a:r>
              <a:rPr kumimoji="1" lang="ko-KR" altLang="en-US" dirty="0"/>
              <a:t>잘못된 </a:t>
            </a:r>
            <a:r>
              <a:rPr kumimoji="1" lang="en-US" altLang="ko-KR" dirty="0"/>
              <a:t>policy </a:t>
            </a:r>
            <a:r>
              <a:rPr kumimoji="1" lang="ko-KR" altLang="en-US" dirty="0"/>
              <a:t>학습으로 이어질 수 있음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184193-40A6-124D-A68A-57CF1F152151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333988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이전의 </a:t>
            </a:r>
            <a:r>
              <a:rPr kumimoji="1" lang="en-US" altLang="ko-KR" dirty="0"/>
              <a:t>offline RL </a:t>
            </a:r>
            <a:r>
              <a:rPr kumimoji="1" lang="ko-KR" altLang="en-US" dirty="0"/>
              <a:t>연구에서는 이 문제를 </a:t>
            </a:r>
            <a:r>
              <a:rPr kumimoji="1" lang="en-US" altLang="ko-KR" dirty="0"/>
              <a:t>learned policy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제약을 거는 것으로 해결하려 했다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하지만 저자는 이러한 방법은 근본적인 원인을 해결한 것이 아니므로 실제 </a:t>
            </a:r>
            <a:r>
              <a:rPr kumimoji="1" lang="en-US" altLang="ko-KR" dirty="0"/>
              <a:t>test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할 때 문제가 발생할 수 있으며</a:t>
            </a:r>
            <a:r>
              <a:rPr kumimoji="1" lang="en-US" altLang="ko-KR" dirty="0"/>
              <a:t>, </a:t>
            </a:r>
            <a:r>
              <a:rPr kumimoji="1" lang="ko-KR" altLang="en-US" dirty="0"/>
              <a:t>또한 </a:t>
            </a:r>
            <a:r>
              <a:rPr kumimoji="1" lang="en-US" altLang="ko-KR" dirty="0" err="1"/>
              <a:t>pi_k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추정하는 </a:t>
            </a:r>
            <a:r>
              <a:rPr kumimoji="1" lang="en-US" altLang="ko-KR" dirty="0"/>
              <a:t>estimator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추가해야 돼서 알고리즘이 </a:t>
            </a:r>
            <a:r>
              <a:rPr kumimoji="1" lang="ko-KR" altLang="en-US" dirty="0" err="1"/>
              <a:t>복잡해진다고</a:t>
            </a:r>
            <a:r>
              <a:rPr kumimoji="1" lang="ko-KR" altLang="en-US" dirty="0"/>
              <a:t> 주장한다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184193-40A6-124D-A68A-57CF1F152151}" type="slidenum">
              <a:rPr kumimoji="1" lang="ko-KR" altLang="en-US" smtClean="0"/>
              <a:t>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529266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저자가 제시한 해결책은 </a:t>
            </a:r>
            <a:r>
              <a:rPr kumimoji="1" lang="en-US" altLang="ko-KR" dirty="0"/>
              <a:t>Conservative Q-Learning(CQL)</a:t>
            </a:r>
            <a:r>
              <a:rPr kumimoji="1" lang="ko-KR" altLang="en-US" dirty="0"/>
              <a:t>이다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여기서 </a:t>
            </a:r>
            <a:r>
              <a:rPr kumimoji="1" lang="en-US" altLang="ko-KR" dirty="0"/>
              <a:t>conservative</a:t>
            </a:r>
            <a:r>
              <a:rPr kumimoji="1" lang="ko-KR" altLang="en-US" dirty="0"/>
              <a:t>의 의미는 </a:t>
            </a:r>
            <a:r>
              <a:rPr kumimoji="1" lang="en-US" altLang="ko-KR" dirty="0"/>
              <a:t>OOD action</a:t>
            </a:r>
            <a:r>
              <a:rPr kumimoji="1" lang="ko-KR" altLang="en-US" dirty="0"/>
              <a:t>의 </a:t>
            </a:r>
            <a:r>
              <a:rPr kumimoji="1" lang="en-US" altLang="ko-KR" dirty="0"/>
              <a:t>overestimation</a:t>
            </a:r>
            <a:r>
              <a:rPr kumimoji="1" lang="ko-KR" altLang="en-US" dirty="0"/>
              <a:t>을 방지한다는 의미로</a:t>
            </a:r>
            <a:r>
              <a:rPr kumimoji="1" lang="en-US" altLang="ko-KR" dirty="0"/>
              <a:t>, </a:t>
            </a:r>
            <a:r>
              <a:rPr kumimoji="1" lang="ko-KR" altLang="en-US" dirty="0"/>
              <a:t>이 </a:t>
            </a:r>
            <a:r>
              <a:rPr kumimoji="1" lang="en-US" altLang="ko-KR" dirty="0"/>
              <a:t>action</a:t>
            </a:r>
            <a:r>
              <a:rPr kumimoji="1" lang="ko-KR" altLang="en-US" dirty="0"/>
              <a:t>들에 해당하는 </a:t>
            </a:r>
            <a:r>
              <a:rPr kumimoji="1" lang="en-US" altLang="ko-KR" dirty="0"/>
              <a:t>Q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최소화함으로써 </a:t>
            </a:r>
            <a:r>
              <a:rPr kumimoji="1" lang="en-US" altLang="ko-KR" dirty="0"/>
              <a:t>true-value</a:t>
            </a:r>
            <a:r>
              <a:rPr kumimoji="1" lang="ko-KR" altLang="en-US" dirty="0"/>
              <a:t>의 </a:t>
            </a:r>
            <a:r>
              <a:rPr kumimoji="1" lang="en-US" altLang="ko-KR" dirty="0"/>
              <a:t>lower-bound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제공하는 것이라고 함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184193-40A6-124D-A68A-57CF1F152151}" type="slidenum">
              <a:rPr kumimoji="1" lang="ko-KR" altLang="en-US" smtClean="0"/>
              <a:t>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954847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이 방법을 구현할 </a:t>
            </a:r>
            <a:r>
              <a:rPr kumimoji="1" lang="en-US" altLang="ko-KR" dirty="0"/>
              <a:t>key idea</a:t>
            </a:r>
            <a:r>
              <a:rPr kumimoji="1" lang="ko-KR" altLang="en-US" dirty="0"/>
              <a:t>로 </a:t>
            </a:r>
            <a:r>
              <a:rPr kumimoji="1" lang="en-US" altLang="ko-KR" dirty="0"/>
              <a:t>learned Q-function</a:t>
            </a:r>
            <a:r>
              <a:rPr kumimoji="1" lang="ko-KR" altLang="en-US" dirty="0"/>
              <a:t>의 </a:t>
            </a:r>
            <a:r>
              <a:rPr kumimoji="1" lang="en-US" altLang="ko-KR" dirty="0"/>
              <a:t>policy</a:t>
            </a:r>
            <a:r>
              <a:rPr kumimoji="1" lang="ko-KR" altLang="en-US" dirty="0"/>
              <a:t>의 </a:t>
            </a:r>
            <a:r>
              <a:rPr kumimoji="1" lang="ko-KR" altLang="en-US" dirty="0" err="1"/>
              <a:t>기댓값을</a:t>
            </a:r>
            <a:r>
              <a:rPr kumimoji="1" lang="ko-KR" altLang="en-US" dirty="0"/>
              <a:t> </a:t>
            </a:r>
            <a:r>
              <a:rPr kumimoji="1" lang="en-US" altLang="ko-KR" dirty="0"/>
              <a:t>true Q</a:t>
            </a:r>
            <a:r>
              <a:rPr kumimoji="1" lang="ko-KR" altLang="en-US" dirty="0"/>
              <a:t>의 </a:t>
            </a:r>
            <a:r>
              <a:rPr kumimoji="1" lang="en-US" altLang="ko-KR" dirty="0"/>
              <a:t>lower bound</a:t>
            </a:r>
            <a:r>
              <a:rPr kumimoji="1" lang="ko-KR" altLang="en-US" dirty="0"/>
              <a:t>로 설정한다고 했는데</a:t>
            </a:r>
            <a:r>
              <a:rPr kumimoji="1" lang="en-US" altLang="ko-KR" dirty="0"/>
              <a:t>, </a:t>
            </a:r>
            <a:r>
              <a:rPr kumimoji="1" lang="ko-KR" altLang="en-US" dirty="0" err="1"/>
              <a:t>디테일하게</a:t>
            </a:r>
            <a:r>
              <a:rPr kumimoji="1" lang="ko-KR" altLang="en-US" dirty="0"/>
              <a:t> 이것이 어떻게 증명되고 </a:t>
            </a:r>
            <a:r>
              <a:rPr kumimoji="1" lang="ko-KR" altLang="en-US" dirty="0" err="1"/>
              <a:t>구현되는지부터</a:t>
            </a:r>
            <a:r>
              <a:rPr kumimoji="1" lang="ko-KR" altLang="en-US" dirty="0"/>
              <a:t> 다음에 더 </a:t>
            </a:r>
            <a:r>
              <a:rPr kumimoji="1" lang="ko-KR" altLang="en-US" dirty="0" err="1"/>
              <a:t>공부해오겠음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184193-40A6-124D-A68A-57CF1F152151}" type="slidenum">
              <a:rPr kumimoji="1" lang="ko-KR" altLang="en-US" smtClean="0"/>
              <a:t>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805406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이 논문의 주요한 </a:t>
            </a:r>
            <a:r>
              <a:rPr kumimoji="1" lang="en-US" altLang="ko-KR" dirty="0"/>
              <a:t>contribution</a:t>
            </a:r>
            <a:r>
              <a:rPr kumimoji="1" lang="ko-KR" altLang="en-US" dirty="0"/>
              <a:t>은 </a:t>
            </a:r>
            <a:r>
              <a:rPr kumimoji="1" lang="en-US" altLang="ko-KR" dirty="0"/>
              <a:t>CQL algorithmic framework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제시한 것으로</a:t>
            </a:r>
            <a:r>
              <a:rPr kumimoji="1" lang="en-US" altLang="ko-KR" dirty="0"/>
              <a:t>, </a:t>
            </a:r>
            <a:r>
              <a:rPr kumimoji="1" lang="ko-KR" altLang="en-US" dirty="0"/>
              <a:t>기존의 </a:t>
            </a:r>
            <a:r>
              <a:rPr kumimoji="1" lang="en-US" altLang="ko-KR" dirty="0"/>
              <a:t>standard offline RL algorithm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</a:t>
            </a:r>
            <a:r>
              <a:rPr kumimoji="1" lang="en-US" altLang="ko-KR" dirty="0"/>
              <a:t>20</a:t>
            </a:r>
            <a:r>
              <a:rPr kumimoji="1" lang="ko-KR" altLang="en-US" dirty="0"/>
              <a:t>라인의 </a:t>
            </a:r>
            <a:r>
              <a:rPr kumimoji="1" lang="en-US" altLang="ko-KR" dirty="0"/>
              <a:t>CQL</a:t>
            </a:r>
            <a:r>
              <a:rPr kumimoji="1" lang="ko-KR" altLang="en-US" dirty="0"/>
              <a:t>만 추가한 것으로도 실험에서 </a:t>
            </a:r>
            <a:r>
              <a:rPr kumimoji="1" lang="en-US" altLang="ko-KR" dirty="0"/>
              <a:t>2~5</a:t>
            </a:r>
            <a:r>
              <a:rPr kumimoji="1" lang="ko-KR" altLang="en-US" dirty="0"/>
              <a:t>배 나은 성능을 보였다고 한다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또한 수학적으로는 </a:t>
            </a:r>
            <a:r>
              <a:rPr kumimoji="1" lang="en-US" altLang="ko-KR" dirty="0"/>
              <a:t>Q function</a:t>
            </a:r>
            <a:r>
              <a:rPr kumimoji="1" lang="ko-KR" altLang="en-US" dirty="0"/>
              <a:t>의 </a:t>
            </a:r>
            <a:r>
              <a:rPr kumimoji="1" lang="ko-KR" altLang="en-US" dirty="0" err="1"/>
              <a:t>기댓값이</a:t>
            </a:r>
            <a:r>
              <a:rPr kumimoji="1" lang="ko-KR" altLang="en-US" dirty="0"/>
              <a:t> </a:t>
            </a:r>
            <a:r>
              <a:rPr kumimoji="1" lang="en-US" altLang="ko-KR" dirty="0"/>
              <a:t>true policy value function</a:t>
            </a:r>
            <a:r>
              <a:rPr kumimoji="1" lang="ko-KR" altLang="en-US" dirty="0"/>
              <a:t>의 유일한 </a:t>
            </a:r>
            <a:r>
              <a:rPr kumimoji="1" lang="en-US" altLang="ko-KR" dirty="0"/>
              <a:t>lower bound</a:t>
            </a:r>
            <a:r>
              <a:rPr kumimoji="1" lang="ko-KR" altLang="en-US" dirty="0"/>
              <a:t>임을 보임으로써 </a:t>
            </a:r>
            <a:r>
              <a:rPr kumimoji="1" lang="en-US" altLang="ko-KR" dirty="0"/>
              <a:t>extra under-estimation</a:t>
            </a:r>
            <a:r>
              <a:rPr kumimoji="1" lang="ko-KR" altLang="en-US" dirty="0"/>
              <a:t>을 방지했다고 한다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184193-40A6-124D-A68A-57CF1F152151}" type="slidenum">
              <a:rPr kumimoji="1" lang="ko-KR" altLang="en-US" smtClean="0"/>
              <a:t>10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155968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 err="1"/>
              <a:t>rlkit</a:t>
            </a:r>
            <a:r>
              <a:rPr kumimoji="1" lang="en-US" altLang="ko-KR" dirty="0"/>
              <a:t> baseline</a:t>
            </a:r>
            <a:r>
              <a:rPr kumimoji="1" lang="ko-KR" altLang="en-US" dirty="0"/>
              <a:t>의 </a:t>
            </a:r>
            <a:r>
              <a:rPr kumimoji="1" lang="en-US" altLang="ko-KR" dirty="0" err="1"/>
              <a:t>dockerfile</a:t>
            </a:r>
            <a:r>
              <a:rPr kumimoji="1" lang="ko-KR" altLang="en-US" dirty="0"/>
              <a:t>을 이용해 </a:t>
            </a:r>
            <a:r>
              <a:rPr kumimoji="1" lang="en-US" altLang="ko-KR" dirty="0" err="1"/>
              <a:t>myubuntu</a:t>
            </a:r>
            <a:r>
              <a:rPr kumimoji="1" lang="ko-KR" altLang="en-US" dirty="0"/>
              <a:t>라는 </a:t>
            </a:r>
            <a:r>
              <a:rPr kumimoji="1" lang="en-US" altLang="ko-KR" dirty="0"/>
              <a:t>docker image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생성했다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아직 코드를 돌려보진 않았다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아무래도 </a:t>
            </a:r>
            <a:r>
              <a:rPr kumimoji="1" lang="en-US" altLang="ko-KR" dirty="0"/>
              <a:t>4</a:t>
            </a:r>
            <a:r>
              <a:rPr kumimoji="1" lang="ko-KR" altLang="en-US" dirty="0"/>
              <a:t>년 전 논문이다 보니 버전이 안 맞는 게 많아서 </a:t>
            </a:r>
            <a:r>
              <a:rPr kumimoji="1" lang="en-US" altLang="ko-KR" dirty="0"/>
              <a:t>image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생성하며 환경을 많이 바꿔야 했기 때문에</a:t>
            </a:r>
            <a:r>
              <a:rPr kumimoji="1" lang="en-US" altLang="ko-KR" dirty="0"/>
              <a:t> </a:t>
            </a:r>
            <a:r>
              <a:rPr kumimoji="1" lang="ko-KR" altLang="en-US" dirty="0"/>
              <a:t>난항이 예상된다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184193-40A6-124D-A68A-57CF1F152151}" type="slidenum">
              <a:rPr kumimoji="1" lang="ko-KR" altLang="en-US" smtClean="0"/>
              <a:t>11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108670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79066A-9E06-DED4-A844-C2E6F0DCC8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84CD719-D358-009F-165F-0E0BFC45C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E19E8F-CD3D-F499-3261-5BF7D783F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15574-CDEC-0B48-B481-F0D9ABC30B2D}" type="datetimeFigureOut">
              <a:rPr kumimoji="1" lang="ko-KR" altLang="en-US" smtClean="0"/>
              <a:t>2024. 7. 8.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84982E-3546-735E-1CF4-CF8DE6422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008FDB-D668-3FC2-BC1E-5E129D90A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51F00-C795-B54F-A065-88632353E8B5}" type="slidenum">
              <a:rPr kumimoji="1" lang="ko-KR" altLang="en-US" smtClean="0"/>
              <a:t>‹#›</a:t>
            </a:fld>
            <a:endParaRPr kumimoji="1" lang="ko-KR" altLang="en-US"/>
          </a:p>
        </p:txBody>
      </p:sp>
      <p:pic>
        <p:nvPicPr>
          <p:cNvPr id="9" name="그림 8" descr="폰트, 로고, 원, 상징이(가) 표시된 사진&#10;&#10;자동 생성된 설명">
            <a:extLst>
              <a:ext uri="{FF2B5EF4-FFF2-40B4-BE49-F238E27FC236}">
                <a16:creationId xmlns:a16="http://schemas.microsoft.com/office/drawing/2014/main" id="{12D58C89-AF61-8935-298D-A185FEAADF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17955" y="136525"/>
            <a:ext cx="1016000" cy="10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43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72AB85-EA3F-6443-F5DB-D4F189628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CA78A7-44AD-091C-67B4-2CBE4F2586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658816-B830-6330-3433-01552CA2F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15574-CDEC-0B48-B481-F0D9ABC30B2D}" type="datetimeFigureOut">
              <a:rPr kumimoji="1" lang="ko-KR" altLang="en-US" smtClean="0"/>
              <a:t>2024. 7. 8.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1DF87EE-A830-36F5-E507-1216480F4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CA15E6-D846-7772-F78E-82CA20E1F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51F00-C795-B54F-A065-88632353E8B5}" type="slidenum">
              <a:rPr kumimoji="1" lang="ko-KR" altLang="en-US" smtClean="0"/>
              <a:t>‹#›</a:t>
            </a:fld>
            <a:endParaRPr kumimoji="1" lang="ko-KR" altLang="en-US"/>
          </a:p>
        </p:txBody>
      </p:sp>
      <p:pic>
        <p:nvPicPr>
          <p:cNvPr id="8" name="그림 7" descr="폰트, 로고, 원, 상징이(가) 표시된 사진&#10;&#10;자동 생성된 설명">
            <a:extLst>
              <a:ext uri="{FF2B5EF4-FFF2-40B4-BE49-F238E27FC236}">
                <a16:creationId xmlns:a16="http://schemas.microsoft.com/office/drawing/2014/main" id="{97F3CF29-5F48-9D80-5B83-2E5BA19ACA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17955" y="136525"/>
            <a:ext cx="1016000" cy="10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173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3D91F9-A1BB-2139-65F3-E0A29EBF0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43A9F75-1766-C087-91C6-4015E504C0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FDD9C1-BC6B-FB22-FE25-504636747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15574-CDEC-0B48-B481-F0D9ABC30B2D}" type="datetimeFigureOut">
              <a:rPr kumimoji="1" lang="ko-KR" altLang="en-US" smtClean="0"/>
              <a:t>2024. 7. 8.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30B5D4-3456-BEFD-B6AC-EE3138F5A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AA6B7A-4935-9F1D-C226-6E1D3D37C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51F00-C795-B54F-A065-88632353E8B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79201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DAFBF7-1901-D377-2B77-E0C87B2E3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408BD0-D5F5-8E4A-B73F-84240A6354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80A10E4-6761-0F63-DF4E-D90B7E54EE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4824F2-1F36-E9C1-A401-3832C805A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15574-CDEC-0B48-B481-F0D9ABC30B2D}" type="datetimeFigureOut">
              <a:rPr kumimoji="1" lang="ko-KR" altLang="en-US" smtClean="0"/>
              <a:t>2024. 7. 8.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0B4E163-CB61-9501-6716-79081C8F3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BFD456-69E9-D4C7-95F3-B6A600DDB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51F00-C795-B54F-A065-88632353E8B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13967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AC563C-40BF-42AC-0275-62C3CADB4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D77CFAF-4C1D-018B-BAFF-2D8950517A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ED07B8A-4114-1088-0924-D8D0454350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2C87236-9FA7-FC64-BD13-BF01F075CE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3052414-763E-E59B-28B1-52E63B2F83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49ADE59-394F-C262-0022-294960807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15574-CDEC-0B48-B481-F0D9ABC30B2D}" type="datetimeFigureOut">
              <a:rPr kumimoji="1" lang="ko-KR" altLang="en-US" smtClean="0"/>
              <a:t>2024. 7. 8.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C9413CA-6A32-72A7-C800-D489B2147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CBF3BF6-5555-518E-8589-777323DA5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51F00-C795-B54F-A065-88632353E8B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70299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0C42A5-12E7-CF78-533E-D10FB0DEB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058C34B-E492-5FE2-A631-52BDF4F43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15574-CDEC-0B48-B481-F0D9ABC30B2D}" type="datetimeFigureOut">
              <a:rPr kumimoji="1" lang="ko-KR" altLang="en-US" smtClean="0"/>
              <a:t>2024. 7. 8.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D31641C-64EC-0F14-BC5A-D6BA5E317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2B5C2B3-0344-3E03-7595-D6472FE61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51F00-C795-B54F-A065-88632353E8B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53557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24A977C-A9BE-759D-2422-0D2A9DAD9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15574-CDEC-0B48-B481-F0D9ABC30B2D}" type="datetimeFigureOut">
              <a:rPr kumimoji="1" lang="ko-KR" altLang="en-US" smtClean="0"/>
              <a:t>2024. 7. 8.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BEDACDA-F29B-73F1-ECBE-A4B59BD5F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B966B8-024D-8291-BC91-70E155577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51F00-C795-B54F-A065-88632353E8B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11527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53BE24-D881-0A18-6C04-823E7351D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B1CF54-3B21-8DD9-CA99-37295D8BD1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99B802E-964C-B242-03F1-3EBF1B5BAB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D5BABD8-6C52-F83F-49BF-5D9C89CB0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15574-CDEC-0B48-B481-F0D9ABC30B2D}" type="datetimeFigureOut">
              <a:rPr kumimoji="1" lang="ko-KR" altLang="en-US" smtClean="0"/>
              <a:t>2024. 7. 8.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2FFCBB8-BD11-773F-7BFD-B24D94A24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E0991C3-B026-2111-51C7-20AE795F8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51F00-C795-B54F-A065-88632353E8B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73256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E57C6B-E253-8A53-CFF0-6AC2E4A6D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18997C1-AAE8-4AFB-AF29-B0B895705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E5D494C-FB18-1BA5-B1B1-CD6A37E6EF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06BCAA8-EDDC-4FE4-BF51-57ED7A1AC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15574-CDEC-0B48-B481-F0D9ABC30B2D}" type="datetimeFigureOut">
              <a:rPr kumimoji="1" lang="ko-KR" altLang="en-US" smtClean="0"/>
              <a:t>2024. 7. 8.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97F6CA9-43A7-6B71-ACC0-2B4F5C6AC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FD35192-791D-1ED3-2ADE-EECAD9FE3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51F00-C795-B54F-A065-88632353E8B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28440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C28FBA-936F-46BC-361C-D9C808E7E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AF12DBC-509D-CE10-E14F-0FDD49BE4A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857C4F-7127-5724-7C7D-665F21F99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15574-CDEC-0B48-B481-F0D9ABC30B2D}" type="datetimeFigureOut">
              <a:rPr kumimoji="1" lang="ko-KR" altLang="en-US" smtClean="0"/>
              <a:t>2024. 7. 8.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DD27F76-65B2-1301-9880-1CC164F60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35B10E6-1D64-C24C-1E56-AFD84FDB7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51F00-C795-B54F-A065-88632353E8B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28379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A52BF69-CDAA-3D08-BA8C-7BD1C65E6F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1192127-D320-9F81-6A85-234849E479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F4DCE7-B227-0F63-7C08-ABCAC9CFF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815574-CDEC-0B48-B481-F0D9ABC30B2D}" type="datetimeFigureOut">
              <a:rPr kumimoji="1" lang="ko-KR" altLang="en-US" smtClean="0"/>
              <a:t>2024. 7. 8.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56FF85-1D6A-8697-557F-ED4B6F650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5333FF-4E08-7441-F975-ED8CF8A9F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51F00-C795-B54F-A065-88632353E8B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80666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2309C73-8BA1-1B31-7701-E9723D022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5FD7A0F-779F-7FB6-02AB-9A3C76C2FA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4510EE-226B-C5DC-EA8C-A95E007442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815574-CDEC-0B48-B481-F0D9ABC30B2D}" type="datetimeFigureOut">
              <a:rPr kumimoji="1" lang="ko-KR" altLang="en-US" smtClean="0"/>
              <a:t>2024. 7. 8.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B3CFFE9-7353-7BD5-3579-6B36653562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C8ABD2-778A-4394-81E6-596E38C057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651F00-C795-B54F-A065-88632353E8B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85745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towardsdatascience.com/the-power-of-offline-reinforcement-learning-5e3d3942421c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0.png"/><Relationship Id="rId4" Type="http://schemas.openxmlformats.org/officeDocument/2006/relationships/hyperlink" Target="https://towardsdatascience.com/the-power-of-offline-reinforcement-learning-5e3d3942421c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xhere.com/ko/photo/945907" TargetMode="External"/><Relationship Id="rId5" Type="http://schemas.openxmlformats.org/officeDocument/2006/relationships/image" Target="../media/image7.jp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D5C6F5-F72D-8B0A-8DA6-156A2D8733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4000" dirty="0"/>
              <a:t>Conservative Q-Learning for Offline Reinforcement Learning</a:t>
            </a:r>
            <a:endParaRPr kumimoji="1" lang="ko-KR" altLang="en-US" sz="4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0A69C6E-31EA-E4F7-4EB8-5B00009130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ko-KR" dirty="0"/>
              <a:t>07/09/2024, </a:t>
            </a:r>
            <a:r>
              <a:rPr kumimoji="1" lang="ko-KR" altLang="en-US" dirty="0"/>
              <a:t>최준명</a:t>
            </a:r>
          </a:p>
        </p:txBody>
      </p:sp>
    </p:spTree>
    <p:extLst>
      <p:ext uri="{BB962C8B-B14F-4D97-AF65-F5344CB8AC3E}">
        <p14:creationId xmlns:p14="http://schemas.microsoft.com/office/powerpoint/2010/main" val="105906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F654AC-DD7E-2C4D-DFE4-8173E35A5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1-1.</a:t>
            </a:r>
            <a:r>
              <a:rPr kumimoji="1" lang="ko-KR" altLang="en-US" dirty="0"/>
              <a:t> </a:t>
            </a:r>
            <a:r>
              <a:rPr kumimoji="1" lang="en-US" altLang="ko-KR" dirty="0"/>
              <a:t>Area-Reinforcement Learning</a:t>
            </a:r>
            <a:endParaRPr kumimoji="1" lang="ko-KR" altLang="en-US" dirty="0"/>
          </a:p>
        </p:txBody>
      </p:sp>
      <p:pic>
        <p:nvPicPr>
          <p:cNvPr id="5" name="그림 4" descr="텍스트, 스크린샷, 폰트, 라인이(가) 표시된 사진&#10;&#10;자동 생성된 설명">
            <a:extLst>
              <a:ext uri="{FF2B5EF4-FFF2-40B4-BE49-F238E27FC236}">
                <a16:creationId xmlns:a16="http://schemas.microsoft.com/office/drawing/2014/main" id="{208F34C2-DB21-D462-DE72-A8088493CC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736" y="2003261"/>
            <a:ext cx="5160264" cy="23171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E8CC91F-4DC4-7B32-F8F6-501BC08F22C5}"/>
              </a:ext>
            </a:extLst>
          </p:cNvPr>
          <p:cNvSpPr txBox="1"/>
          <p:nvPr/>
        </p:nvSpPr>
        <p:spPr>
          <a:xfrm>
            <a:off x="1011936" y="4632960"/>
            <a:ext cx="103418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Whenever an agent(AI, robot) takes an action, there is corresponding reward and next state</a:t>
            </a:r>
          </a:p>
          <a:p>
            <a:endParaRPr kumimoji="1" lang="en-US" altLang="ko-KR" dirty="0"/>
          </a:p>
          <a:p>
            <a:endParaRPr kumimoji="1" lang="en-US" altLang="ko-KR" dirty="0"/>
          </a:p>
          <a:p>
            <a:r>
              <a:rPr kumimoji="1" lang="en-US" altLang="ko-KR" dirty="0"/>
              <a:t>The objective of RL: learning policy that maximizes the expected cumulative discounted reward in Markov decision process(MDP)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03411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352965-C38E-6EDA-4193-8B4CEEFA6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1-2. Online RL</a:t>
            </a:r>
            <a:endParaRPr kumimoji="1" lang="ko-KR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9C364E6-3F2D-5DD7-52CC-659B6713A9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90688"/>
            <a:ext cx="7924800" cy="2578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F8A7C54-071A-C3BB-EA58-6002AF3DED22}"/>
              </a:ext>
            </a:extLst>
          </p:cNvPr>
          <p:cNvSpPr txBox="1"/>
          <p:nvPr/>
        </p:nvSpPr>
        <p:spPr>
          <a:xfrm>
            <a:off x="838200" y="6338986"/>
            <a:ext cx="88026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/>
              <a:t>image: </a:t>
            </a:r>
            <a:r>
              <a:rPr kumimoji="1" lang="en-US" altLang="ko-KR" sz="1400" dirty="0">
                <a:hlinkClick r:id="rId4"/>
              </a:rPr>
              <a:t>https://towardsdatascience.com/the-power-of-offline-reinforcement-learning-5e3d3942421c</a:t>
            </a:r>
            <a:endParaRPr kumimoji="1" lang="ko-KR" alt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DC1AF5-6EEF-F2A6-C231-A1EBBD955277}"/>
              </a:ext>
            </a:extLst>
          </p:cNvPr>
          <p:cNvSpPr txBox="1"/>
          <p:nvPr/>
        </p:nvSpPr>
        <p:spPr>
          <a:xfrm>
            <a:off x="1011936" y="4632960"/>
            <a:ext cx="103418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The agent updates policy based on the interaction with real environment.</a:t>
            </a:r>
          </a:p>
          <a:p>
            <a:r>
              <a:rPr kumimoji="1" lang="en-US" altLang="ko-KR" dirty="0"/>
              <a:t>Learning directly from environment: On-Policy(left), </a:t>
            </a:r>
          </a:p>
          <a:p>
            <a:r>
              <a:rPr kumimoji="1" lang="en-US" altLang="ko-KR" dirty="0"/>
              <a:t>learning from buffer with collected data from environment: Off-Policy(right). 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89638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352965-C38E-6EDA-4193-8B4CEEFA6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1-2. Online RL</a:t>
            </a:r>
            <a:endParaRPr kumimoji="1"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732BC94-3DBB-EC9E-C206-4F01B5FDED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935" y="2146725"/>
            <a:ext cx="8617777" cy="1888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912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D8634C-6FF0-AE22-EF34-B998547F9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1-3. Offline RL</a:t>
            </a:r>
            <a:endParaRPr kumimoji="1" lang="ko-KR" alt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3032B82-F8AB-1ABD-48AE-38F04E2E3E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95450"/>
            <a:ext cx="5940552" cy="2598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02EF4A0-C569-E475-B504-04F5FFC5EB27}"/>
              </a:ext>
            </a:extLst>
          </p:cNvPr>
          <p:cNvSpPr txBox="1"/>
          <p:nvPr/>
        </p:nvSpPr>
        <p:spPr>
          <a:xfrm>
            <a:off x="838200" y="6338986"/>
            <a:ext cx="88026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/>
              <a:t>image: </a:t>
            </a:r>
            <a:r>
              <a:rPr kumimoji="1" lang="en-US" altLang="ko-KR" sz="1400" dirty="0">
                <a:hlinkClick r:id="rId4"/>
              </a:rPr>
              <a:t>https://towardsdatascience.com/the-power-of-offline-reinforcement-learning-5e3d3942421c</a:t>
            </a:r>
            <a:endParaRPr kumimoji="1" lang="ko-KR" alt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F7DAD3D-B183-5394-C26C-C3F2470CBEF1}"/>
                  </a:ext>
                </a:extLst>
              </p:cNvPr>
              <p:cNvSpPr txBox="1"/>
              <p:nvPr/>
            </p:nvSpPr>
            <p:spPr>
              <a:xfrm>
                <a:off x="1011936" y="4632960"/>
                <a:ext cx="10341864" cy="12250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ko-KR" dirty="0"/>
                  <a:t>No interaction with environment, learn from (large)fixed dataset.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kumimoji="1" lang="en-US" altLang="ko-KR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</m:oMath>
                </a14:m>
                <a:r>
                  <a:rPr kumimoji="1" lang="en-US" altLang="ko-KR" dirty="0"/>
                  <a:t>: policy used in collecting data from environment</a:t>
                </a:r>
              </a:p>
              <a:p>
                <a14:m>
                  <m:oMath xmlns:m="http://schemas.openxmlformats.org/officeDocument/2006/math"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kumimoji="1" lang="en-US" altLang="ko-KR" dirty="0"/>
                  <a:t>: policy used in calculating target value Q</a:t>
                </a:r>
              </a:p>
              <a:p>
                <a:endParaRPr kumimoji="1"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F7DAD3D-B183-5394-C26C-C3F2470CBE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936" y="4632960"/>
                <a:ext cx="10341864" cy="1225079"/>
              </a:xfrm>
              <a:prstGeom prst="rect">
                <a:avLst/>
              </a:prstGeom>
              <a:blipFill>
                <a:blip r:embed="rId5"/>
                <a:stretch>
                  <a:fillRect l="-490" t="-204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그림 6">
            <a:extLst>
              <a:ext uri="{FF2B5EF4-FFF2-40B4-BE49-F238E27FC236}">
                <a16:creationId xmlns:a16="http://schemas.microsoft.com/office/drawing/2014/main" id="{6B6446E2-BAAE-B1BB-AE72-E559D68049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3119" y="5245498"/>
            <a:ext cx="6195215" cy="801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9416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C4CEB1-6107-E2A3-35E1-C93CB2A43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2.Problem: Distributional Shift</a:t>
            </a:r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1D400356-CA6D-C027-0700-06BDC75DA2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3428999"/>
                <a:ext cx="10515600" cy="2747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kumimoji="1" lang="en-US" altLang="ko-KR" sz="1800" dirty="0"/>
              </a:p>
              <a:p>
                <a:pPr marL="0" indent="0">
                  <a:buNone/>
                </a:pPr>
                <a:r>
                  <a:rPr kumimoji="1" lang="en-US" altLang="ko-KR" sz="1800" dirty="0"/>
                  <a:t>Policy </a:t>
                </a:r>
                <a14:m>
                  <m:oMath xmlns:m="http://schemas.openxmlformats.org/officeDocument/2006/math">
                    <m:r>
                      <a:rPr kumimoji="1" lang="en-US" altLang="ko-KR" sz="1800" b="0" i="1" smtClean="0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𝑜𝑟</m:t>
                        </m:r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b>
                            <m:r>
                              <a:rPr kumimoji="1" lang="en-US" altLang="ko-KR" sz="18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kumimoji="1" lang="en-US" altLang="ko-KR" sz="1800" dirty="0"/>
                  <a:t> is learned to maximize Q-value </a:t>
                </a:r>
              </a:p>
              <a:p>
                <a:pPr>
                  <a:buFont typeface="Wingdings" pitchFamily="2" charset="2"/>
                  <a:buChar char="à"/>
                </a:pPr>
                <a:r>
                  <a:rPr kumimoji="1" lang="en-US" altLang="ko-KR" sz="1800" u="sng" dirty="0">
                    <a:solidFill>
                      <a:srgbClr val="FF0000"/>
                    </a:solidFill>
                    <a:sym typeface="Wingdings" pitchFamily="2" charset="2"/>
                  </a:rPr>
                  <a:t>can be biased to out-of-distribution actions</a:t>
                </a:r>
                <a:r>
                  <a:rPr kumimoji="1" lang="en-US" altLang="ko-KR" sz="1800" dirty="0">
                    <a:solidFill>
                      <a:srgbClr val="FF0000"/>
                    </a:solidFill>
                    <a:sym typeface="Wingdings" pitchFamily="2" charset="2"/>
                  </a:rPr>
                  <a:t>(unseen in datasets using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  <m:t>𝜋</m:t>
                        </m:r>
                      </m:e>
                      <m:sub>
                        <m:r>
                          <a:rPr kumimoji="1" lang="en-US" altLang="ko-KR" sz="1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  <m:t>𝛽</m:t>
                        </m:r>
                      </m:sub>
                    </m:sSub>
                  </m:oMath>
                </a14:m>
                <a:r>
                  <a:rPr kumimoji="1" lang="en-US" altLang="ko-KR" sz="1800" dirty="0">
                    <a:solidFill>
                      <a:srgbClr val="FF0000"/>
                    </a:solidFill>
                    <a:sym typeface="Wingdings" pitchFamily="2" charset="2"/>
                  </a:rPr>
                  <a:t>)</a:t>
                </a:r>
              </a:p>
              <a:p>
                <a:pPr>
                  <a:buFont typeface="Wingdings" pitchFamily="2" charset="2"/>
                  <a:buChar char="à"/>
                </a:pPr>
                <a:endParaRPr kumimoji="1" lang="en-US" altLang="ko-KR" sz="1800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endParaRPr kumimoji="1" lang="en-US" altLang="ko-KR" sz="1800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endParaRPr kumimoji="1" lang="en-US" altLang="ko-KR" sz="1800" dirty="0">
                  <a:sym typeface="Wingdings" pitchFamily="2" charset="2"/>
                </a:endParaRP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1D400356-CA6D-C027-0700-06BDC75DA2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428999"/>
                <a:ext cx="10515600" cy="2747963"/>
              </a:xfrm>
              <a:blipFill>
                <a:blip r:embed="rId3"/>
                <a:stretch>
                  <a:fillRect l="-60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>
            <a:extLst>
              <a:ext uri="{FF2B5EF4-FFF2-40B4-BE49-F238E27FC236}">
                <a16:creationId xmlns:a16="http://schemas.microsoft.com/office/drawing/2014/main" id="{F6B8246D-9D97-632E-287C-7FD964D339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690688"/>
            <a:ext cx="10242996" cy="132556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911A189-F1AE-A1E2-EC5A-CEC4D0EA2DA3}"/>
              </a:ext>
            </a:extLst>
          </p:cNvPr>
          <p:cNvSpPr txBox="1"/>
          <p:nvPr/>
        </p:nvSpPr>
        <p:spPr>
          <a:xfrm>
            <a:off x="838200" y="6338986"/>
            <a:ext cx="10515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ko-KR" sz="1400" b="0" dirty="0">
                <a:effectLst/>
              </a:rPr>
              <a:t>Offline Reinforcement Learning: Tutorial, Review, and Perspectives on Open Problems – Sergey Levine et el. (2020) </a:t>
            </a:r>
            <a:endParaRPr lang="en" altLang="ko-KR" sz="1400" dirty="0"/>
          </a:p>
          <a:p>
            <a:endParaRPr kumimoji="1" lang="ko-KR" altLang="en-US" sz="1400" dirty="0"/>
          </a:p>
        </p:txBody>
      </p:sp>
      <p:pic>
        <p:nvPicPr>
          <p:cNvPr id="13" name="그림 12" descr="야외, 나무, 트랙, 기차이(가) 표시된 사진&#10;&#10;자동 생성된 설명">
            <a:extLst>
              <a:ext uri="{FF2B5EF4-FFF2-40B4-BE49-F238E27FC236}">
                <a16:creationId xmlns:a16="http://schemas.microsoft.com/office/drawing/2014/main" id="{D4F82B62-030C-A576-7773-4EDDBF1A19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9215437" y="4029075"/>
            <a:ext cx="2715417" cy="2036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291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C4CEB1-6107-E2A3-35E1-C93CB2A43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2.Problem: Distributional Shift</a:t>
            </a:r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1D400356-CA6D-C027-0700-06BDC75DA2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3820752"/>
                <a:ext cx="10515600" cy="235621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kumimoji="1" lang="en-US" altLang="ko-KR" sz="1800" dirty="0">
                    <a:sym typeface="Wingdings" pitchFamily="2" charset="2"/>
                  </a:rPr>
                  <a:t>Typical solution to the problem : constraining the learned policy(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1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𝜋</m:t>
                        </m:r>
                      </m:e>
                      <m:sub>
                        <m:r>
                          <a:rPr kumimoji="1" lang="en-US" altLang="ko-KR" sz="1800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𝑘</m:t>
                        </m:r>
                      </m:sub>
                    </m:sSub>
                  </m:oMath>
                </a14:m>
                <a:r>
                  <a:rPr kumimoji="1" lang="en-US" altLang="ko-KR" sz="1800" dirty="0">
                    <a:sym typeface="Wingdings" pitchFamily="2" charset="2"/>
                  </a:rPr>
                  <a:t>)</a:t>
                </a:r>
              </a:p>
              <a:p>
                <a:pPr marL="0" indent="0">
                  <a:buNone/>
                </a:pPr>
                <a:r>
                  <a:rPr kumimoji="1" lang="en-US" altLang="ko-KR" sz="1800" dirty="0">
                    <a:sym typeface="Wingdings" pitchFamily="2" charset="2"/>
                  </a:rPr>
                  <a:t>However, the policy may </a:t>
                </a:r>
                <a:r>
                  <a:rPr kumimoji="1" lang="en-US" altLang="ko-KR" sz="1800" dirty="0">
                    <a:solidFill>
                      <a:srgbClr val="FF0000"/>
                    </a:solidFill>
                    <a:sym typeface="Wingdings" pitchFamily="2" charset="2"/>
                  </a:rPr>
                  <a:t>suffer from state distribution shift at test time.</a:t>
                </a:r>
              </a:p>
              <a:p>
                <a:pPr marL="0" indent="0">
                  <a:buNone/>
                </a:pPr>
                <a:r>
                  <a:rPr kumimoji="1" lang="en-US" altLang="ko-KR" sz="1800" dirty="0">
                    <a:sym typeface="Wingdings" pitchFamily="2" charset="2"/>
                  </a:rPr>
                  <a:t>+require fitting an additional behavior policy estimator.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1D400356-CA6D-C027-0700-06BDC75DA2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820752"/>
                <a:ext cx="10515600" cy="2356210"/>
              </a:xfrm>
              <a:blipFill>
                <a:blip r:embed="rId3"/>
                <a:stretch>
                  <a:fillRect l="-603" t="-26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그림 5" descr="텍스트, 폰트, 친필, 화이트이(가) 표시된 사진&#10;&#10;자동 생성된 설명">
            <a:extLst>
              <a:ext uri="{FF2B5EF4-FFF2-40B4-BE49-F238E27FC236}">
                <a16:creationId xmlns:a16="http://schemas.microsoft.com/office/drawing/2014/main" id="{543AF278-8CB7-4DBF-B205-101E22CF90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804416"/>
            <a:ext cx="8123084" cy="12328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DDA83B1-AB8D-97FF-8118-5DAF979DA648}"/>
              </a:ext>
            </a:extLst>
          </p:cNvPr>
          <p:cNvSpPr txBox="1"/>
          <p:nvPr/>
        </p:nvSpPr>
        <p:spPr>
          <a:xfrm>
            <a:off x="944880" y="3037248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ko-KR" sz="1200" b="0" i="1" dirty="0">
                <a:effectLst/>
              </a:rPr>
              <a:t>Offline Reinforcement Learning: Tutorial, Review, and Perspectives on Open Problems – Sergey Levine et el. (2020) </a:t>
            </a:r>
            <a:endParaRPr lang="en" altLang="ko-KR" sz="1200" i="1" dirty="0"/>
          </a:p>
          <a:p>
            <a:endParaRPr kumimoji="1" lang="ko-KR" altLang="en-US" sz="1200" i="1" dirty="0"/>
          </a:p>
        </p:txBody>
      </p:sp>
      <p:sp>
        <p:nvSpPr>
          <p:cNvPr id="4" name="액자 3">
            <a:extLst>
              <a:ext uri="{FF2B5EF4-FFF2-40B4-BE49-F238E27FC236}">
                <a16:creationId xmlns:a16="http://schemas.microsoft.com/office/drawing/2014/main" id="{00DA7B92-030F-B1FA-0903-EFEAC96F3824}"/>
              </a:ext>
            </a:extLst>
          </p:cNvPr>
          <p:cNvSpPr/>
          <p:nvPr/>
        </p:nvSpPr>
        <p:spPr>
          <a:xfrm>
            <a:off x="5495972" y="2453545"/>
            <a:ext cx="1978253" cy="567950"/>
          </a:xfrm>
          <a:prstGeom prst="fram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73300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3139E5-3D87-3254-12BE-80751A469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3. Solution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754080-219C-ADF6-1C24-F3486F259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kumimoji="1" lang="en-US" altLang="ko-KR" b="1" dirty="0"/>
          </a:p>
          <a:p>
            <a:pPr marL="0" indent="0">
              <a:buNone/>
            </a:pPr>
            <a:r>
              <a:rPr kumimoji="1" lang="en-US" altLang="ko-KR" b="1" dirty="0"/>
              <a:t>Conservative Q-Learning(CQL)</a:t>
            </a:r>
          </a:p>
          <a:p>
            <a:pPr marL="0" indent="0">
              <a:buNone/>
            </a:pPr>
            <a:endParaRPr kumimoji="1" lang="en-US" altLang="ko-KR" b="1" dirty="0"/>
          </a:p>
          <a:p>
            <a:pPr marL="0" indent="0">
              <a:buNone/>
            </a:pPr>
            <a:r>
              <a:rPr kumimoji="1" lang="en-US" altLang="ko-KR" sz="1800" dirty="0"/>
              <a:t>-Conservative: provides a lower bound on the true values, prevent overestimation(erroneously optimistic value function)</a:t>
            </a:r>
            <a:endParaRPr kumimoji="1"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9029986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4A3E44-AF11-3993-FB64-CA384F7A3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3-1. Key Idea</a:t>
            </a:r>
            <a:endParaRPr kumimoji="1"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350A042-265E-9CE0-2289-96392D6F67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562362"/>
            <a:ext cx="10045098" cy="1188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7047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100AD1-D604-677C-E7AF-8955ED233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4. Contribution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369138A-1215-BB62-1C95-5FB3D5A668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kumimoji="1" lang="en-US" altLang="ko-KR" sz="1800" dirty="0"/>
          </a:p>
          <a:p>
            <a:endParaRPr kumimoji="1" lang="en-US" altLang="ko-KR" sz="1800" dirty="0"/>
          </a:p>
          <a:p>
            <a:endParaRPr kumimoji="1" lang="en-US" altLang="ko-KR" sz="1800" dirty="0"/>
          </a:p>
          <a:p>
            <a:endParaRPr kumimoji="1" lang="en-US" altLang="ko-KR" sz="1800" dirty="0"/>
          </a:p>
          <a:p>
            <a:r>
              <a:rPr kumimoji="1" lang="en-US" altLang="ko-KR" sz="1800" dirty="0"/>
              <a:t>CQL algorithmic framework</a:t>
            </a:r>
          </a:p>
          <a:p>
            <a:endParaRPr kumimoji="1" lang="en-US" altLang="ko-KR" sz="1800" dirty="0"/>
          </a:p>
          <a:p>
            <a:r>
              <a:rPr kumimoji="1" lang="en-US" altLang="ko-KR" sz="1800" dirty="0"/>
              <a:t>Enable 2~5 times more outperform standard offline RL by simply adding 20 lines on the algorithm</a:t>
            </a:r>
          </a:p>
          <a:p>
            <a:endParaRPr kumimoji="1" lang="en-US" altLang="ko-KR" sz="1800" dirty="0"/>
          </a:p>
          <a:p>
            <a:r>
              <a:rPr kumimoji="1" lang="en-US" altLang="ko-KR" sz="1800" dirty="0"/>
              <a:t>Showing the only lower-bound of the true policy value</a:t>
            </a:r>
          </a:p>
          <a:p>
            <a:endParaRPr kumimoji="1" lang="ko-KR" altLang="en-US" sz="1800" dirty="0"/>
          </a:p>
        </p:txBody>
      </p:sp>
      <p:pic>
        <p:nvPicPr>
          <p:cNvPr id="5" name="그림 4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C5A093EC-4450-1A72-AA19-01C889120E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1298" y="1454736"/>
            <a:ext cx="4645575" cy="229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2356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E4922A-600E-27BD-173F-620EB6A96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Ⅰ. Coding environment</a:t>
            </a:r>
            <a:endParaRPr kumimoji="1" lang="ko-KR" altLang="en-US" dirty="0"/>
          </a:p>
        </p:txBody>
      </p:sp>
      <p:pic>
        <p:nvPicPr>
          <p:cNvPr id="5" name="내용 개체 틀 4" descr="스크린샷, 소프트웨어, 텍스트, 멀티미디어 소프트웨어이(가) 표시된 사진&#10;&#10;자동 생성된 설명">
            <a:extLst>
              <a:ext uri="{FF2B5EF4-FFF2-40B4-BE49-F238E27FC236}">
                <a16:creationId xmlns:a16="http://schemas.microsoft.com/office/drawing/2014/main" id="{F5F3EF93-C3C7-DA70-4B83-848BC6B6C7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690688"/>
            <a:ext cx="7098792" cy="2673092"/>
          </a:xfrm>
        </p:spPr>
      </p:pic>
      <p:sp>
        <p:nvSpPr>
          <p:cNvPr id="6" name="액자 5">
            <a:extLst>
              <a:ext uri="{FF2B5EF4-FFF2-40B4-BE49-F238E27FC236}">
                <a16:creationId xmlns:a16="http://schemas.microsoft.com/office/drawing/2014/main" id="{84A2C758-0E85-EF42-EB55-C13C2FB8FF6B}"/>
              </a:ext>
            </a:extLst>
          </p:cNvPr>
          <p:cNvSpPr/>
          <p:nvPr/>
        </p:nvSpPr>
        <p:spPr>
          <a:xfrm>
            <a:off x="743712" y="3791712"/>
            <a:ext cx="7303008" cy="682752"/>
          </a:xfrm>
          <a:prstGeom prst="fram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02A9F5-4AA9-B934-9C80-4CE72ADB23C7}"/>
              </a:ext>
            </a:extLst>
          </p:cNvPr>
          <p:cNvSpPr txBox="1"/>
          <p:nvPr/>
        </p:nvSpPr>
        <p:spPr>
          <a:xfrm>
            <a:off x="1011936" y="4632960"/>
            <a:ext cx="10341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Using </a:t>
            </a:r>
            <a:r>
              <a:rPr kumimoji="1" lang="en-US" altLang="ko-KR" dirty="0" err="1"/>
              <a:t>dockerfile</a:t>
            </a:r>
            <a:r>
              <a:rPr kumimoji="1" lang="en-US" altLang="ko-KR" dirty="0"/>
              <a:t> provided in the author’s </a:t>
            </a:r>
            <a:r>
              <a:rPr kumimoji="1" lang="en-US" altLang="ko-KR" dirty="0" err="1"/>
              <a:t>github</a:t>
            </a:r>
            <a:r>
              <a:rPr kumimoji="1" lang="en-US" altLang="ko-KR" dirty="0"/>
              <a:t>, created docker image to</a:t>
            </a:r>
            <a:r>
              <a:rPr kumimoji="1" lang="ko-KR" altLang="en-US" dirty="0"/>
              <a:t> </a:t>
            </a:r>
            <a:r>
              <a:rPr kumimoji="1" lang="en-US" altLang="ko-KR" dirty="0"/>
              <a:t>test</a:t>
            </a:r>
            <a:r>
              <a:rPr kumimoji="1" lang="ko-KR" altLang="en-US" dirty="0"/>
              <a:t> </a:t>
            </a:r>
            <a:r>
              <a:rPr kumimoji="1" lang="en-US" altLang="ko-KR" dirty="0"/>
              <a:t>the</a:t>
            </a:r>
            <a:r>
              <a:rPr kumimoji="1" lang="ko-KR" altLang="en-US" dirty="0"/>
              <a:t> </a:t>
            </a:r>
            <a:r>
              <a:rPr kumimoji="1" lang="en-US" altLang="ko-KR" dirty="0"/>
              <a:t>algorithm.</a:t>
            </a:r>
          </a:p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337547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2932</TotalTime>
  <Words>874</Words>
  <Application>Microsoft Macintosh PowerPoint</Application>
  <PresentationFormat>와이드스크린</PresentationFormat>
  <Paragraphs>80</Paragraphs>
  <Slides>11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맑은 고딕</vt:lpstr>
      <vt:lpstr>Arial</vt:lpstr>
      <vt:lpstr>Cambria Math</vt:lpstr>
      <vt:lpstr>Wingdings</vt:lpstr>
      <vt:lpstr>Office 테마</vt:lpstr>
      <vt:lpstr>Conservative Q-Learning for Offline Reinforcement Learning</vt:lpstr>
      <vt:lpstr>1-1. Area-Reinforcement Learning</vt:lpstr>
      <vt:lpstr>1-2. Online RL</vt:lpstr>
      <vt:lpstr>1-2. Online RL</vt:lpstr>
      <vt:lpstr>1-3. Offline RL</vt:lpstr>
      <vt:lpstr>2.Problem: Distributional Shift</vt:lpstr>
      <vt:lpstr>2.Problem: Distributional Shift</vt:lpstr>
      <vt:lpstr>3. Solution</vt:lpstr>
      <vt:lpstr>3-1. Key Idea</vt:lpstr>
      <vt:lpstr>4. Contribution</vt:lpstr>
      <vt:lpstr>Ⅰ. Coding environment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최준명</dc:creator>
  <cp:lastModifiedBy>최준명</cp:lastModifiedBy>
  <cp:revision>50</cp:revision>
  <dcterms:created xsi:type="dcterms:W3CDTF">2024-07-06T15:34:41Z</dcterms:created>
  <dcterms:modified xsi:type="dcterms:W3CDTF">2024-07-08T16:32:36Z</dcterms:modified>
</cp:coreProperties>
</file>