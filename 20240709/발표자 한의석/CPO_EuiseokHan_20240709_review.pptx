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63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65"/>
    <p:restoredTop sz="94611"/>
  </p:normalViewPr>
  <p:slideViewPr>
    <p:cSldViewPr snapToGrid="0">
      <p:cViewPr>
        <p:scale>
          <a:sx n="124" d="100"/>
          <a:sy n="124" d="100"/>
        </p:scale>
        <p:origin x="-1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B8C92-4493-DC42-B8FF-3966D2BE9279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0EF7F-52F9-D240-B415-80E4617E41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8350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범위로 나타나는 이유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C+ return </a:t>
            </a:r>
            <a:r>
              <a:rPr kumimoji="1" lang="ko-KR" altLang="en-US" dirty="0"/>
              <a:t>이기 때문에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0EF7F-52F9-D240-B415-80E4617E41F6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508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범위로 나타나는 이유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C+ return </a:t>
            </a:r>
            <a:r>
              <a:rPr kumimoji="1" lang="ko-KR" altLang="en-US" dirty="0"/>
              <a:t>이기 때문에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0EF7F-52F9-D240-B415-80E4617E41F6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24327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범위로 나타나는 이유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C+ return </a:t>
            </a:r>
            <a:r>
              <a:rPr kumimoji="1" lang="ko-KR" altLang="en-US" dirty="0"/>
              <a:t>이기 때문에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0EF7F-52F9-D240-B415-80E4617E41F6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6520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범위로 나타나는 이유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C+ return </a:t>
            </a:r>
            <a:r>
              <a:rPr kumimoji="1" lang="ko-KR" altLang="en-US" dirty="0"/>
              <a:t>이기 때문에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0EF7F-52F9-D240-B415-80E4617E41F6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545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E4D6B5-F6F5-A39B-A734-FC86907A5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D388188-79EF-B765-0A06-5056EB7FC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A716D9-7872-BC22-C57E-4E91BAFBE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6F15D5-445A-A392-E1F2-B5E600E67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C7CEDA-E69C-0EE5-01C5-14D4947DE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900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CD632-C59E-7E3E-209C-849AC024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591BE-9E45-A266-7078-1494732F6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441D7-79BF-9B09-58A4-02F0A755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9CA9C-35D5-A6CB-3168-6AAEEEB8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B21FBC-FFCF-22AB-10EF-835E5C663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88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29EEC-1C78-73FF-C62D-5F8C7A4C6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B9BDB-F4F8-5567-D14F-3DC1603E1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249AC1-47CA-39FE-6D43-848B9F67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649A50-3E35-75F8-7F03-FCCC67C7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2EEE0F-34AC-8A18-EA14-44CB04D7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5060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1227A-EF52-E549-B2FA-00C05D2F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82A9E1-B1A6-1F0D-1CE8-4ED0DD6AC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ED26B-A581-14E5-2227-362853598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66683-F07D-07C9-4165-B969FEF5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905B4B-A31F-36DB-210F-55DEFCF0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2BFF89-1C6A-D3A8-4B21-F8836E6E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63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BE4E8-0C73-D151-4674-7A2245B44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C5C234-19E8-3002-71DA-3E1F5B14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0D2AFF-EA09-205B-C793-717F90D5F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67B853-2B37-8070-8098-74E123ECF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829651-57E9-497C-3270-B2F93CB19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254AE7-BC3C-0A83-7A63-3E994230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1DF592A-84B9-3A47-F599-3D3E02CE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31694C-5577-370C-5CF6-FD97CA21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270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460A0-8CFE-1B12-90CA-371E14CDE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DEFBD8-EF9E-1155-634C-820E4F45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2E6632-21B8-E83B-0291-D33B67F9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B7F121-CFFF-7CEC-6FF9-9DEA5DF1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730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FA026D7-3FBD-CFEB-BC1A-7FA186F3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FC2981-12A3-DA2D-19B9-3CF06A9BD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841BF6-C8B8-95FD-EBB8-1B8B0C37E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091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11DD1-8B77-BD31-786E-FAE0767BE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88320F-5598-BF3D-4DA2-7D514AD36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 b="0" i="0"/>
            </a:lvl1pPr>
            <a:lvl2pPr>
              <a:defRPr sz="2800" b="0" i="0"/>
            </a:lvl2pPr>
            <a:lvl3pPr>
              <a:defRPr sz="2400" b="0" i="0"/>
            </a:lvl3pPr>
            <a:lvl4pPr>
              <a:defRPr sz="2000" b="0" i="0"/>
            </a:lvl4pPr>
            <a:lvl5pPr>
              <a:defRPr sz="2000" b="0" i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4F7D6E-4840-1F5D-8E60-DC34EC984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1770A-4081-E10B-335E-EA1DC204E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A9A288-B9DC-8D40-CBC2-87F635E96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49127-4122-1CFB-6148-FEAE5DA6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967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06B4A-8E14-5FEE-4986-597B1F33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07FD0E-4A2C-624C-8FC8-74E5F1416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 b="0" i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1C3342-053B-77F1-A04D-576FEA884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289695-0AB4-53E3-8DF8-599C60DF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572E7-F685-5230-3D90-60FEC8BB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BF388-03A8-FAE5-4490-CFC4DD896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146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E2DEA-3F5D-5269-90C1-9F0753C91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AF6E49A-A0B3-E89C-DDDB-4005C6382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4BE01-A260-EBF9-DB98-E4EB4CED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CD81AF-E749-A818-0CB9-464B95F7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F273B-7586-B7CA-CEDA-AEEAFE59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97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E8498A-31ED-6F8F-75F0-4D31CA796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0" i="0"/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947EFB-087F-3DE3-9C85-82C4B2D3C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0F2620-F86B-D879-F3C9-61CB97A21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D9D1A3-3CA9-7781-6097-3F04F594F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5A337-90AE-7386-165F-DD314EC1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38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D6734C2-E8F8-86D9-D5C2-5B78897CE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F04E99-35D3-DC30-6750-7978F0C5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223E1-6AA2-3A97-9748-321A1B65F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E82EECCF-ACE7-D04A-A191-7CAF20A30808}" type="datetimeFigureOut">
              <a:rPr kumimoji="1" lang="ko-KR" altLang="en-US" smtClean="0"/>
              <a:pPr/>
              <a:t>2024. 7. 8.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7ACB9A-43F4-D59C-6B6C-F1C4408B0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62AC33-5B08-6A47-045E-87E94AFE0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60AE77AC-B8A6-4E4C-80B4-B171CC992EF9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710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dx.doi.org/10.1038/nature14236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1606.06565" TargetMode="External"/><Relationship Id="rId2" Type="http://schemas.openxmlformats.org/officeDocument/2006/relationships/hyperlink" Target="http://arxiv.org/abs/1205.4810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arxiv.org/abs/1505.0579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C3918-7992-EBA1-5F13-96BF4E444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Review: Constrained Policy Optimization</a:t>
            </a:r>
            <a:endParaRPr kumimoji="1" lang="ko-KR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3EDDA3-D36D-D0A6-097E-1704DEBCF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07/09/24</a:t>
            </a:r>
            <a:b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Euiseok</a:t>
            </a: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</a:t>
            </a:r>
          </a:p>
        </p:txBody>
      </p:sp>
    </p:spTree>
    <p:extLst>
      <p:ext uri="{BB962C8B-B14F-4D97-AF65-F5344CB8AC3E}">
        <p14:creationId xmlns:p14="http://schemas.microsoft.com/office/powerpoint/2010/main" val="105705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F792B-EC94-C725-C01E-B4C4C465D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Abstract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D5A7F-AA0B-4207-4177-CA46ABC13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/>
              <a:t>Previous study</a:t>
            </a:r>
          </a:p>
          <a:p>
            <a:pPr marL="0" indent="0">
              <a:buNone/>
            </a:pPr>
            <a:r>
              <a:rPr lang="en" altLang="ko-KR" sz="1200" i="1" dirty="0" err="1">
                <a:effectLst/>
                <a:cs typeface="Times New Roman" panose="02020603050405020304" pitchFamily="18" charset="0"/>
              </a:rPr>
              <a:t>Mnih</a:t>
            </a:r>
            <a:r>
              <a:rPr lang="en" altLang="ko-KR" sz="1200" i="1" dirty="0">
                <a:effectLst/>
                <a:cs typeface="Times New Roman" panose="02020603050405020304" pitchFamily="18" charset="0"/>
              </a:rPr>
              <a:t>, Volodymyr, </a:t>
            </a:r>
            <a:r>
              <a:rPr lang="en" altLang="ko-KR" sz="1200" i="1" dirty="0" err="1">
                <a:effectLst/>
                <a:cs typeface="Times New Roman" panose="02020603050405020304" pitchFamily="18" charset="0"/>
              </a:rPr>
              <a:t>Kavukcuoglu</a:t>
            </a:r>
            <a:r>
              <a:rPr lang="en-US" altLang="ko-KR" sz="1200" i="1" dirty="0">
                <a:cs typeface="Times New Roman" panose="02020603050405020304" pitchFamily="18" charset="0"/>
              </a:rPr>
              <a:t>.</a:t>
            </a:r>
            <a:r>
              <a:rPr lang="ko-KR" altLang="en-US" sz="1200" i="1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Human-level control through deep reinforcement</a:t>
            </a:r>
            <a:r>
              <a:rPr lang="en" altLang="ko-KR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learning. Nature, 518(7540):529–533, 2015. ISSN</a:t>
            </a:r>
            <a:r>
              <a:rPr lang="en" altLang="ko-KR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0028-0836. </a:t>
            </a:r>
            <a:r>
              <a:rPr lang="en" altLang="ko-KR" sz="1200" dirty="0" err="1">
                <a:effectLst/>
                <a:cs typeface="Times New Roman" panose="02020603050405020304" pitchFamily="18" charset="0"/>
              </a:rPr>
              <a:t>doi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: 10.1038/nature14236. URL </a:t>
            </a:r>
            <a:r>
              <a:rPr lang="en" altLang="ko-KR" sz="1200" dirty="0">
                <a:solidFill>
                  <a:srgbClr val="001473"/>
                </a:solidFill>
                <a:effectLst/>
                <a:cs typeface="Times New Roman" panose="02020603050405020304" pitchFamily="18" charset="0"/>
                <a:hlinkClick r:id="rId2"/>
              </a:rPr>
              <a:t>http://dx.doi.org/10.1038/nature14236</a:t>
            </a:r>
            <a:r>
              <a:rPr lang="en" altLang="ko-KR" sz="120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" altLang="ko-KR" sz="1200" i="1" dirty="0" err="1">
                <a:effectLst/>
                <a:cs typeface="Times New Roman" panose="02020603050405020304" pitchFamily="18" charset="0"/>
              </a:rPr>
              <a:t>Mnih</a:t>
            </a:r>
            <a:r>
              <a:rPr lang="en" altLang="ko-KR" sz="1200" i="1" dirty="0">
                <a:effectLst/>
                <a:cs typeface="Times New Roman" panose="02020603050405020304" pitchFamily="18" charset="0"/>
              </a:rPr>
              <a:t>, Volodymyr, </a:t>
            </a:r>
            <a:r>
              <a:rPr lang="en" altLang="ko-KR" sz="1200" i="1" dirty="0" err="1">
                <a:effectLst/>
                <a:cs typeface="Times New Roman" panose="02020603050405020304" pitchFamily="18" charset="0"/>
              </a:rPr>
              <a:t>Badia</a:t>
            </a:r>
            <a:r>
              <a:rPr lang="en-US" altLang="ko-KR" sz="1200" i="1" dirty="0">
                <a:cs typeface="Times New Roman" panose="02020603050405020304" pitchFamily="18" charset="0"/>
              </a:rPr>
              <a:t>.</a:t>
            </a:r>
            <a:r>
              <a:rPr lang="ko-KR" altLang="en-US" sz="1200" i="1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Asynchronous</a:t>
            </a:r>
            <a:r>
              <a:rPr lang="ko-KR" altLang="en-US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Methods for Deep Reinforcement Learning. pp. 1–</a:t>
            </a:r>
            <a:r>
              <a:rPr lang="en" altLang="ko-KR" sz="120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28, 2016. URL </a:t>
            </a:r>
            <a:r>
              <a:rPr lang="en" altLang="ko-KR" sz="12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http://</a:t>
            </a:r>
            <a:r>
              <a:rPr lang="en" altLang="ko-KR" sz="12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arxiv.org</a:t>
            </a:r>
            <a:r>
              <a:rPr lang="en" altLang="ko-KR" sz="12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/abs/1602.01783</a:t>
            </a:r>
            <a:r>
              <a:rPr lang="en" altLang="ko-KR" sz="120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</a:t>
            </a:r>
            <a:endParaRPr lang="en" altLang="ko-KR" sz="1200" dirty="0">
              <a:solidFill>
                <a:srgbClr val="001473"/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altLang="ko-KR" sz="1200" i="1" dirty="0">
                <a:effectLst/>
                <a:cs typeface="Times New Roman" panose="02020603050405020304" pitchFamily="18" charset="0"/>
              </a:rPr>
              <a:t>Schulman, John, Moritz.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Trust Region Policy Optimization. International</a:t>
            </a:r>
            <a:r>
              <a:rPr lang="ko-KR" altLang="en-US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Conference on Machine Learning, 2015.</a:t>
            </a:r>
          </a:p>
          <a:p>
            <a:pPr marL="0" indent="0">
              <a:buNone/>
            </a:pPr>
            <a:r>
              <a:rPr lang="en" altLang="ko-KR" sz="1200" i="1" dirty="0">
                <a:effectLst/>
                <a:cs typeface="Times New Roman" panose="02020603050405020304" pitchFamily="18" charset="0"/>
              </a:rPr>
              <a:t>Levine, Sergey, Finn, Chelsea, Darrell. End-to-End Training of Deep Visuomotor</a:t>
            </a:r>
            <a:r>
              <a:rPr lang="ko-KR" altLang="en-US" sz="1200" dirty="0">
                <a:cs typeface="Times New Roman" panose="02020603050405020304" pitchFamily="18" charset="0"/>
              </a:rPr>
              <a:t> </a:t>
            </a:r>
            <a:r>
              <a:rPr lang="en" altLang="ko-KR" sz="1200" i="1" dirty="0">
                <a:effectLst/>
                <a:cs typeface="Times New Roman" panose="02020603050405020304" pitchFamily="18" charset="0"/>
              </a:rPr>
              <a:t>Policies.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Journal of Machine Learning Research,</a:t>
            </a:r>
            <a:r>
              <a:rPr lang="ko-KR" altLang="en-US" sz="12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17:1–40, 2016. ISSN 15337928. </a:t>
            </a:r>
            <a:r>
              <a:rPr lang="en" altLang="ko-KR" sz="1200" dirty="0" err="1">
                <a:effectLst/>
                <a:cs typeface="Times New Roman" panose="02020603050405020304" pitchFamily="18" charset="0"/>
              </a:rPr>
              <a:t>doi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: 10.1007/s13398-014-0173-7.2.</a:t>
            </a:r>
          </a:p>
          <a:p>
            <a:pPr marL="0" indent="0" algn="ctr">
              <a:buNone/>
            </a:pPr>
            <a:r>
              <a:rPr lang="en" altLang="ko-KR" sz="1600" dirty="0">
                <a:cs typeface="Times New Roman" panose="02020603050405020304" pitchFamily="18" charset="0"/>
              </a:rPr>
              <a:t>Pros: Enabled high dimensional control</a:t>
            </a:r>
          </a:p>
          <a:p>
            <a:pPr marL="0" indent="0" algn="ctr">
              <a:buNone/>
            </a:pPr>
            <a:r>
              <a:rPr lang="en" altLang="ko-KR" sz="1600" dirty="0">
                <a:cs typeface="Times New Roman" panose="02020603050405020304" pitchFamily="18" charset="0"/>
              </a:rPr>
              <a:t>Cons: no constrained setting</a:t>
            </a:r>
          </a:p>
          <a:p>
            <a:pPr marL="0" indent="0" algn="ctr">
              <a:buNone/>
            </a:pPr>
            <a:endParaRPr lang="en" altLang="ko-KR" sz="1600" dirty="0"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" altLang="ko-KR" sz="1600" dirty="0"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" altLang="ko-KR" sz="1600" dirty="0">
                <a:cs typeface="Times New Roman" panose="02020603050405020304" pitchFamily="18" charset="0"/>
              </a:rPr>
              <a:t>What m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ore convenient in ML</a:t>
            </a:r>
            <a:r>
              <a:rPr lang="en" altLang="ko-KR" sz="1600" dirty="0">
                <a:cs typeface="Times New Roman" panose="02020603050405020304" pitchFamily="18" charset="0"/>
              </a:rPr>
              <a:t>: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 reward function </a:t>
            </a:r>
            <a:r>
              <a:rPr lang="en" altLang="ko-KR" sz="1600" b="1" dirty="0">
                <a:effectLst/>
                <a:cs typeface="Times New Roman" panose="02020603050405020304" pitchFamily="18" charset="0"/>
              </a:rPr>
              <a:t>+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 constraints.</a:t>
            </a:r>
          </a:p>
          <a:p>
            <a:pPr marL="0" indent="0" algn="ctr">
              <a:buNone/>
            </a:pPr>
            <a:r>
              <a:rPr lang="en" altLang="ko-KR" sz="1600" dirty="0">
                <a:cs typeface="Times New Roman" panose="02020603050405020304" pitchFamily="18" charset="0"/>
                <a:sym typeface="Wingdings" pitchFamily="2" charset="2"/>
              </a:rPr>
              <a:t> Constrained Policy Optimization(CPO)</a:t>
            </a:r>
            <a:endParaRPr lang="en" altLang="ko-KR" sz="1600" dirty="0">
              <a:effectLst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671DA-68B4-19C7-DAB7-9B4CE3F1ACED}"/>
              </a:ext>
            </a:extLst>
          </p:cNvPr>
          <p:cNvSpPr txBox="1"/>
          <p:nvPr/>
        </p:nvSpPr>
        <p:spPr>
          <a:xfrm>
            <a:off x="8258869" y="4097474"/>
            <a:ext cx="355566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" altLang="ko-KR" sz="1400" i="1" dirty="0">
                <a:effectLst/>
                <a:latin typeface="Helvetica" pitchFamily="2" charset="0"/>
                <a:cs typeface="Times New Roman" panose="02020603050405020304" pitchFamily="18" charset="0"/>
              </a:rPr>
              <a:t>why </a:t>
            </a:r>
            <a:r>
              <a:rPr lang="en" altLang="ko-KR" sz="1400" i="1" dirty="0">
                <a:latin typeface="Helvetica" pitchFamily="2" charset="0"/>
                <a:cs typeface="Times New Roman" panose="02020603050405020304" pitchFamily="18" charset="0"/>
              </a:rPr>
              <a:t>bad? </a:t>
            </a:r>
            <a:r>
              <a:rPr lang="en" altLang="ko-KR" sz="1100" i="1" dirty="0">
                <a:latin typeface="Helvetica" pitchFamily="2" charset="0"/>
                <a:cs typeface="Times New Roman" panose="02020603050405020304" pitchFamily="18" charset="0"/>
              </a:rPr>
              <a:t>Suppose</a:t>
            </a:r>
            <a:r>
              <a:rPr lang="en" altLang="ko-KR" sz="1400" i="1" dirty="0">
                <a:latin typeface="Helvetica" pitchFamily="2" charset="0"/>
                <a:cs typeface="Times New Roman" panose="02020603050405020304" pitchFamily="18" charset="0"/>
              </a:rPr>
              <a:t> </a:t>
            </a:r>
            <a:r>
              <a:rPr lang="en" altLang="ko-KR" sz="1100" i="1" dirty="0">
                <a:effectLst/>
                <a:latin typeface="Helvetica" pitchFamily="2" charset="0"/>
              </a:rPr>
              <a:t>industrial robot arm learning… </a:t>
            </a:r>
          </a:p>
          <a:p>
            <a:pPr marL="0" indent="0" algn="ctr">
              <a:buNone/>
            </a:pPr>
            <a:r>
              <a:rPr lang="en" altLang="ko-KR" sz="1100" i="1" dirty="0">
                <a:effectLst/>
                <a:latin typeface="Helvetica" pitchFamily="2" charset="0"/>
              </a:rPr>
              <a:t>In real world, some behaviors </a:t>
            </a:r>
            <a:r>
              <a:rPr lang="en" altLang="ko-KR" sz="1100" i="1" dirty="0">
                <a:effectLst/>
                <a:latin typeface="Helvetica" pitchFamily="2" charset="0"/>
                <a:sym typeface="Wingdings" pitchFamily="2" charset="2"/>
              </a:rPr>
              <a:t> </a:t>
            </a:r>
            <a:r>
              <a:rPr lang="en" altLang="ko-KR" sz="1100" i="1" dirty="0">
                <a:effectLst/>
                <a:latin typeface="Helvetica" pitchFamily="2" charset="0"/>
              </a:rPr>
              <a:t>damage itself</a:t>
            </a:r>
            <a:r>
              <a:rPr lang="en" altLang="ko-KR" sz="1100" dirty="0">
                <a:latin typeface="Helvetica" pitchFamily="2" charset="0"/>
              </a:rPr>
              <a:t>, </a:t>
            </a:r>
            <a:r>
              <a:rPr lang="en" altLang="ko-KR" sz="1100" i="1" dirty="0">
                <a:effectLst/>
                <a:latin typeface="Helvetica" pitchFamily="2" charset="0"/>
              </a:rPr>
              <a:t>plant around it, harmful to people working nearby</a:t>
            </a:r>
            <a:endParaRPr lang="en" altLang="ko-KR" sz="11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11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Abstract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>
                <a:cs typeface="Times New Roman" panose="02020603050405020304" pitchFamily="18" charset="0"/>
              </a:rPr>
              <a:t>Constrained Policy Optimization</a:t>
            </a:r>
          </a:p>
          <a:p>
            <a:pPr marL="0" indent="0">
              <a:buNone/>
            </a:pPr>
            <a:r>
              <a:rPr lang="en" altLang="ko-KR" sz="1400" b="1" dirty="0">
                <a:effectLst/>
                <a:cs typeface="Times New Roman" panose="02020603050405020304" pitchFamily="18" charset="0"/>
              </a:rPr>
              <a:t>    Why unique?: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first general-purpose policy search algorithm</a:t>
            </a:r>
            <a:r>
              <a:rPr lang="en" altLang="ko-KR" sz="1400" dirty="0">
                <a:cs typeface="Times New Roman" panose="02020603050405020304" pitchFamily="18" charset="0"/>
              </a:rPr>
              <a:t>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for constrained reinforcement learning</a:t>
            </a:r>
          </a:p>
          <a:p>
            <a:pPr marL="0" indent="0">
              <a:buNone/>
            </a:pPr>
            <a:r>
              <a:rPr lang="en" altLang="ko-KR" sz="1400" b="1" dirty="0">
                <a:cs typeface="Times New Roman" panose="02020603050405020304" pitchFamily="18" charset="0"/>
              </a:rPr>
              <a:t>    </a:t>
            </a:r>
            <a:r>
              <a:rPr lang="en" altLang="ko-KR" sz="1400" b="1" dirty="0">
                <a:effectLst/>
                <a:cs typeface="Times New Roman" panose="02020603050405020304" pitchFamily="18" charset="0"/>
              </a:rPr>
              <a:t>What for?</a:t>
            </a:r>
          </a:p>
          <a:p>
            <a:pPr marL="0" indent="0">
              <a:buNone/>
            </a:pPr>
            <a:endParaRPr lang="en" altLang="ko-KR" sz="1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400" dirty="0">
              <a:effectLst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altLang="ko-KR" sz="1600" b="1" dirty="0">
                <a:cs typeface="Times New Roman" panose="02020603050405020304" pitchFamily="18" charset="0"/>
              </a:rPr>
              <a:t>How to </a:t>
            </a:r>
            <a:r>
              <a:rPr lang="en" altLang="ko-KR" sz="1600" b="1" dirty="0">
                <a:effectLst/>
                <a:cs typeface="Times New Roman" panose="02020603050405020304" pitchFamily="18" charset="0"/>
              </a:rPr>
              <a:t>demonstrate effectiveness</a:t>
            </a:r>
          </a:p>
          <a:p>
            <a:pPr marL="0" indent="0">
              <a:buNone/>
            </a:pPr>
            <a:r>
              <a:rPr lang="en" altLang="ko-KR" sz="1400" dirty="0">
                <a:cs typeface="Times New Roman" panose="02020603050405020304" pitchFamily="18" charset="0"/>
              </a:rPr>
              <a:t>: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simulated robot locomotion</a:t>
            </a:r>
            <a:r>
              <a:rPr lang="en" altLang="ko-KR" sz="1400" dirty="0">
                <a:cs typeface="Times New Roman" panose="02020603050405020304" pitchFamily="18" charset="0"/>
              </a:rPr>
              <a:t>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tasks (agent satisfy constraints</a:t>
            </a:r>
            <a:r>
              <a:rPr lang="en" altLang="ko-KR" sz="1400" dirty="0">
                <a:cs typeface="Times New Roman" panose="02020603050405020304" pitchFamily="18" charset="0"/>
              </a:rPr>
              <a:t>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motivated by safety)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CEC0F-5B24-60B3-1C37-CC0F2E97574F}"/>
              </a:ext>
            </a:extLst>
          </p:cNvPr>
          <p:cNvSpPr txBox="1"/>
          <p:nvPr/>
        </p:nvSpPr>
        <p:spPr>
          <a:xfrm>
            <a:off x="6731841" y="3117740"/>
            <a:ext cx="3843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policy behavior all throughout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513FB-4CBF-56C2-5CCF-B0843D830F50}"/>
              </a:ext>
            </a:extLst>
          </p:cNvPr>
          <p:cNvSpPr txBox="1"/>
          <p:nvPr/>
        </p:nvSpPr>
        <p:spPr>
          <a:xfrm>
            <a:off x="1616348" y="3117741"/>
            <a:ext cx="4528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neural network policies for high-dimensional control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0BE8E4-6B26-8D71-5F4E-162511134957}"/>
              </a:ext>
            </a:extLst>
          </p:cNvPr>
          <p:cNvSpPr txBox="1"/>
          <p:nvPr/>
        </p:nvSpPr>
        <p:spPr>
          <a:xfrm>
            <a:off x="5821731" y="3879845"/>
            <a:ext cx="18202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 a bound btw: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60491D-F937-ED8A-D0A3-F3BC58C194D2}"/>
              </a:ext>
            </a:extLst>
          </p:cNvPr>
          <p:cNvSpPr txBox="1"/>
          <p:nvPr/>
        </p:nvSpPr>
        <p:spPr>
          <a:xfrm>
            <a:off x="7641951" y="3690530"/>
            <a:ext cx="27477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returns of two policies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7065EB-F36B-D71F-C4EC-18DD78D37EFC}"/>
              </a:ext>
            </a:extLst>
          </p:cNvPr>
          <p:cNvSpPr txBox="1"/>
          <p:nvPr/>
        </p:nvSpPr>
        <p:spPr>
          <a:xfrm>
            <a:off x="7608645" y="4033733"/>
            <a:ext cx="2814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divergence between policies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5D0A7DB-E0D7-EBF3-8132-A1ABA2B5BD95}"/>
              </a:ext>
            </a:extLst>
          </p:cNvPr>
          <p:cNvCxnSpPr/>
          <p:nvPr/>
        </p:nvCxnSpPr>
        <p:spPr>
          <a:xfrm flipH="1">
            <a:off x="6731841" y="3425517"/>
            <a:ext cx="389579" cy="3834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33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Discussion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ko-KR" dirty="0">
                <a:cs typeface="Times New Roman" panose="02020603050405020304" pitchFamily="18" charset="0"/>
              </a:rPr>
              <a:t>Constrained Policy Optimization</a:t>
            </a:r>
          </a:p>
          <a:p>
            <a:pPr marL="0" indent="0">
              <a:buNone/>
            </a:pPr>
            <a:r>
              <a:rPr lang="en" altLang="ko-KR" sz="1600" dirty="0">
                <a:effectLst/>
                <a:cs typeface="Times New Roman" panose="02020603050405020304" pitchFamily="18" charset="0"/>
              </a:rPr>
              <a:t>    CPO </a:t>
            </a:r>
            <a:r>
              <a:rPr lang="en" altLang="ko-KR" sz="1600" dirty="0">
                <a:effectLst/>
                <a:cs typeface="Times New Roman" panose="02020603050405020304" pitchFamily="18" charset="0"/>
                <a:sym typeface="Wingdings" pitchFamily="2" charset="2"/>
              </a:rPr>
              <a:t> policy search algorithm for CMDPs</a:t>
            </a:r>
            <a:endParaRPr lang="en" altLang="ko-KR" sz="16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" altLang="ko-KR" sz="16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" altLang="ko-KR" sz="1600" dirty="0">
                <a:effectLst/>
                <a:cs typeface="Times New Roman" panose="02020603050405020304" pitchFamily="18" charset="0"/>
                <a:sym typeface="Wingdings" pitchFamily="2" charset="2"/>
              </a:rPr>
              <a:t>    demonstrated</a:t>
            </a:r>
          </a:p>
          <a:p>
            <a:pPr marL="0" indent="0">
              <a:buNone/>
            </a:pPr>
            <a:endParaRPr lang="en" altLang="ko-KR" sz="16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" altLang="ko-KR" sz="1600" dirty="0">
              <a:effectLst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" altLang="ko-KR" sz="16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" altLang="ko-KR" sz="1600" dirty="0">
              <a:effectLst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" altLang="ko-KR" sz="1600" dirty="0">
                <a:cs typeface="Times New Roman" panose="02020603050405020304" pitchFamily="18" charset="0"/>
                <a:sym typeface="Wingdings" pitchFamily="2" charset="2"/>
              </a:rPr>
              <a:t>In conclusion…</a:t>
            </a:r>
          </a:p>
          <a:p>
            <a:pPr marL="0" indent="0">
              <a:buNone/>
            </a:pPr>
            <a:r>
              <a:rPr lang="en" altLang="ko-KR" sz="1100" dirty="0">
                <a:effectLst/>
                <a:latin typeface="Helvetica" pitchFamily="2" charset="0"/>
              </a:rPr>
              <a:t>step towards by applying RL in the real world</a:t>
            </a:r>
          </a:p>
          <a:p>
            <a:pPr marL="0" indent="0">
              <a:buNone/>
            </a:pPr>
            <a:r>
              <a:rPr lang="en" altLang="ko-KR" sz="1100" dirty="0">
                <a:effectLst/>
                <a:latin typeface="Helvetica" pitchFamily="2" charset="0"/>
              </a:rPr>
              <a:t>where constraints</a:t>
            </a:r>
            <a:r>
              <a:rPr lang="en" altLang="ko-KR" sz="1100" dirty="0">
                <a:latin typeface="Helvetica" pitchFamily="2" charset="0"/>
              </a:rPr>
              <a:t> </a:t>
            </a:r>
            <a:r>
              <a:rPr lang="en" altLang="ko-KR" sz="1100" dirty="0">
                <a:effectLst/>
                <a:latin typeface="Helvetica" pitchFamily="2" charset="0"/>
              </a:rPr>
              <a:t>on agent behavior are sometimes necessary for the sake of</a:t>
            </a:r>
            <a:r>
              <a:rPr lang="en" altLang="ko-KR" sz="1100" dirty="0">
                <a:latin typeface="Helvetica" pitchFamily="2" charset="0"/>
              </a:rPr>
              <a:t> </a:t>
            </a:r>
            <a:r>
              <a:rPr lang="en" altLang="ko-KR" sz="1100" dirty="0">
                <a:effectLst/>
                <a:latin typeface="Helvetica" pitchFamily="2" charset="0"/>
              </a:rPr>
              <a:t>safety.</a:t>
            </a:r>
          </a:p>
          <a:p>
            <a:pPr marL="0" indent="0">
              <a:buNone/>
            </a:pPr>
            <a:endParaRPr lang="en" altLang="ko-KR" sz="1600" dirty="0">
              <a:cs typeface="Times New Roman" panose="02020603050405020304" pitchFamily="18" charset="0"/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8CEC0F-5B24-60B3-1C37-CC0F2E97574F}"/>
              </a:ext>
            </a:extLst>
          </p:cNvPr>
          <p:cNvSpPr txBox="1"/>
          <p:nvPr/>
        </p:nvSpPr>
        <p:spPr>
          <a:xfrm>
            <a:off x="6731841" y="3474423"/>
            <a:ext cx="38438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guarantees policy behavior all throughout training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513FB-4CBF-56C2-5CCF-B0843D830F50}"/>
              </a:ext>
            </a:extLst>
          </p:cNvPr>
          <p:cNvSpPr txBox="1"/>
          <p:nvPr/>
        </p:nvSpPr>
        <p:spPr>
          <a:xfrm>
            <a:off x="1616348" y="3474424"/>
            <a:ext cx="4528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98BD4-2512-375E-33B0-A019C9C0AE1D}"/>
              </a:ext>
            </a:extLst>
          </p:cNvPr>
          <p:cNvSpPr txBox="1"/>
          <p:nvPr/>
        </p:nvSpPr>
        <p:spPr>
          <a:xfrm>
            <a:off x="2696864" y="4001294"/>
            <a:ext cx="2367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parameters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FDDE6-7F6C-E9DA-833B-40EF8DD2C3D2}"/>
              </a:ext>
            </a:extLst>
          </p:cNvPr>
          <p:cNvSpPr txBox="1"/>
          <p:nvPr/>
        </p:nvSpPr>
        <p:spPr>
          <a:xfrm>
            <a:off x="7239678" y="4001294"/>
            <a:ext cx="2828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reward</a:t>
            </a:r>
          </a:p>
          <a:p>
            <a:pPr algn="ctr"/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satisfying constraints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3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Deep RL: </a:t>
            </a:r>
            <a:r>
              <a:rPr lang="en-US" altLang="ko-KR" sz="1600" dirty="0">
                <a:solidFill>
                  <a:srgbClr val="FF0000"/>
                </a:solidFill>
                <a:cs typeface="Times New Roman" panose="02020603050405020304" pitchFamily="18" charset="0"/>
                <a:sym typeface="Wingdings" pitchFamily="2" charset="2"/>
              </a:rPr>
              <a:t>assume</a:t>
            </a: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 agents are free to explore any behavior during learning</a:t>
            </a:r>
          </a:p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In real: complete free agent may unacceptable</a:t>
            </a:r>
          </a:p>
          <a:p>
            <a:pPr marL="0" indent="0">
              <a:buNone/>
            </a:pPr>
            <a:r>
              <a:rPr lang="en" altLang="ko-KR" sz="800" dirty="0">
                <a:cs typeface="Times New Roman" panose="02020603050405020304" pitchFamily="18" charset="0"/>
              </a:rPr>
              <a:t>    Moldovan, </a:t>
            </a:r>
            <a:r>
              <a:rPr lang="en" altLang="ko-KR" sz="800" dirty="0" err="1">
                <a:cs typeface="Times New Roman" panose="02020603050405020304" pitchFamily="18" charset="0"/>
              </a:rPr>
              <a:t>Teodor</a:t>
            </a:r>
            <a:r>
              <a:rPr lang="en" altLang="ko-KR" sz="800" dirty="0">
                <a:cs typeface="Times New Roman" panose="02020603050405020304" pitchFamily="18" charset="0"/>
              </a:rPr>
              <a:t> Mihai and </a:t>
            </a:r>
            <a:r>
              <a:rPr lang="en" altLang="ko-KR" sz="800" dirty="0" err="1">
                <a:cs typeface="Times New Roman" panose="02020603050405020304" pitchFamily="18" charset="0"/>
              </a:rPr>
              <a:t>Abbeel</a:t>
            </a:r>
            <a:r>
              <a:rPr lang="en" altLang="ko-KR" sz="800" dirty="0">
                <a:cs typeface="Times New Roman" panose="02020603050405020304" pitchFamily="18" charset="0"/>
              </a:rPr>
              <a:t>, Pieter. Safe Exploration in Markov Decision Processes. Proceedings of the 29th International Conference on Machine Learning, 2012. URL </a:t>
            </a:r>
            <a:br>
              <a:rPr lang="en" altLang="ko-KR" sz="800" dirty="0">
                <a:cs typeface="Times New Roman" panose="02020603050405020304" pitchFamily="18" charset="0"/>
              </a:rPr>
            </a:br>
            <a:r>
              <a:rPr lang="en" altLang="ko-KR" sz="800" dirty="0">
                <a:cs typeface="Times New Roman" panose="02020603050405020304" pitchFamily="18" charset="0"/>
              </a:rPr>
              <a:t>    </a:t>
            </a:r>
            <a:r>
              <a:rPr lang="en" altLang="ko-KR" sz="800" dirty="0">
                <a:cs typeface="Times New Roman" panose="02020603050405020304" pitchFamily="18" charset="0"/>
                <a:hlinkClick r:id="rId2"/>
              </a:rPr>
              <a:t>http://arxiv.org/abs/1205.4810</a:t>
            </a:r>
            <a:r>
              <a:rPr lang="en" altLang="ko-KR" sz="8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" altLang="ko-KR" sz="800" dirty="0">
                <a:cs typeface="Times New Roman" panose="02020603050405020304" pitchFamily="18" charset="0"/>
              </a:rPr>
              <a:t>    </a:t>
            </a:r>
            <a:r>
              <a:rPr lang="en" altLang="ko-KR" sz="800" dirty="0" err="1">
                <a:cs typeface="Times New Roman" panose="02020603050405020304" pitchFamily="18" charset="0"/>
              </a:rPr>
              <a:t>Amodei</a:t>
            </a:r>
            <a:r>
              <a:rPr lang="en" altLang="ko-KR" sz="800" dirty="0">
                <a:cs typeface="Times New Roman" panose="02020603050405020304" pitchFamily="18" charset="0"/>
              </a:rPr>
              <a:t>, Dario, </a:t>
            </a:r>
            <a:r>
              <a:rPr lang="en" altLang="ko-KR" sz="800" dirty="0" err="1">
                <a:cs typeface="Times New Roman" panose="02020603050405020304" pitchFamily="18" charset="0"/>
              </a:rPr>
              <a:t>Olah</a:t>
            </a:r>
            <a:r>
              <a:rPr lang="en" altLang="ko-KR" sz="800" dirty="0">
                <a:cs typeface="Times New Roman" panose="02020603050405020304" pitchFamily="18" charset="0"/>
              </a:rPr>
              <a:t>, Chris, Steinhardt, Jacob, </a:t>
            </a:r>
            <a:r>
              <a:rPr lang="en" altLang="ko-KR" sz="800" dirty="0" err="1">
                <a:cs typeface="Times New Roman" panose="02020603050405020304" pitchFamily="18" charset="0"/>
              </a:rPr>
              <a:t>Christiano</a:t>
            </a:r>
            <a:r>
              <a:rPr lang="en" altLang="ko-KR" sz="800" dirty="0">
                <a:cs typeface="Times New Roman" panose="02020603050405020304" pitchFamily="18" charset="0"/>
              </a:rPr>
              <a:t>, Paul, Schulman, John, and </a:t>
            </a:r>
            <a:r>
              <a:rPr lang="en" altLang="ko-KR" sz="800" dirty="0" err="1">
                <a:cs typeface="Times New Roman" panose="02020603050405020304" pitchFamily="18" charset="0"/>
              </a:rPr>
              <a:t>Man´e</a:t>
            </a:r>
            <a:r>
              <a:rPr lang="en" altLang="ko-KR" sz="800" dirty="0">
                <a:cs typeface="Times New Roman" panose="02020603050405020304" pitchFamily="18" charset="0"/>
              </a:rPr>
              <a:t>, Dan. Concrete Problems in AI Safety. </a:t>
            </a:r>
            <a:r>
              <a:rPr lang="en" altLang="ko-KR" sz="800" dirty="0" err="1">
                <a:cs typeface="Times New Roman" panose="02020603050405020304" pitchFamily="18" charset="0"/>
              </a:rPr>
              <a:t>arXiv</a:t>
            </a:r>
            <a:r>
              <a:rPr lang="en" altLang="ko-KR" sz="800" dirty="0">
                <a:cs typeface="Times New Roman" panose="02020603050405020304" pitchFamily="18" charset="0"/>
              </a:rPr>
              <a:t>, 2016. URL </a:t>
            </a:r>
            <a:r>
              <a:rPr lang="en" altLang="ko-KR" sz="800" dirty="0">
                <a:cs typeface="Times New Roman" panose="02020603050405020304" pitchFamily="18" charset="0"/>
                <a:hlinkClick r:id="rId3"/>
              </a:rPr>
              <a:t>http://arxiv.org/abs/1606.06565</a:t>
            </a:r>
            <a:r>
              <a:rPr lang="en" altLang="ko-KR" sz="8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" altLang="ko-KR" sz="10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" altLang="ko-KR" sz="1600" dirty="0">
                <a:cs typeface="Times New Roman" panose="02020603050405020304" pitchFamily="18" charset="0"/>
              </a:rPr>
              <a:t>Standard and well-studied RL w/ constraint: Constrained Markov Decision Process (CMDP) framework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    known: optimal policies for finite CMDPs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    not known: methods for high-dimensional control</a:t>
            </a:r>
          </a:p>
          <a:p>
            <a:pPr marL="0" indent="0">
              <a:buNone/>
            </a:pPr>
            <a:endParaRPr lang="en" altLang="ko-KR" sz="1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</a:rPr>
              <a:t>How to search policy?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</a:rPr>
              <a:t>Heuristic algorithms for policy search in CMDP</a:t>
            </a:r>
          </a:p>
          <a:p>
            <a:pPr marL="0" indent="0">
              <a:buNone/>
            </a:pPr>
            <a:r>
              <a:rPr lang="en" altLang="ko-KR" sz="800" dirty="0">
                <a:effectLst/>
                <a:cs typeface="Times New Roman" panose="02020603050405020304" pitchFamily="18" charset="0"/>
              </a:rPr>
              <a:t>    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Uchibe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, Eiji and 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Doya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, Kenji. Constrained reinforcement learning from intrinsic and extrinsic rewards. 2007 IEEE 6th International Conference on Development and Learning, ICDL, (February):163–</a:t>
            </a:r>
            <a:br>
              <a:rPr lang="en" altLang="ko-KR" sz="800" dirty="0">
                <a:effectLst/>
                <a:cs typeface="Times New Roman" panose="02020603050405020304" pitchFamily="18" charset="0"/>
              </a:rPr>
            </a:br>
            <a:r>
              <a:rPr lang="en" altLang="ko-KR" sz="800" dirty="0">
                <a:effectLst/>
                <a:cs typeface="Times New Roman" panose="02020603050405020304" pitchFamily="18" charset="0"/>
              </a:rPr>
              <a:t>    168, 2007. 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doi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: 10.1109/DEVLRN.2007.4354030.</a:t>
            </a:r>
          </a:p>
          <a:p>
            <a:pPr marL="0" indent="0">
              <a:buNone/>
            </a:pPr>
            <a:r>
              <a:rPr lang="en" altLang="ko-KR" sz="1200" dirty="0">
                <a:effectLst/>
                <a:cs typeface="Times New Roman" panose="02020603050405020304" pitchFamily="18" charset="0"/>
              </a:rPr>
              <a:t>primal-dual methods can be shown to converge to constraint-satisfying policies</a:t>
            </a:r>
          </a:p>
          <a:p>
            <a:pPr marL="0" indent="0">
              <a:buNone/>
            </a:pPr>
            <a:r>
              <a:rPr lang="en" altLang="ko-KR" sz="800" dirty="0">
                <a:effectLst/>
                <a:cs typeface="Times New Roman" panose="02020603050405020304" pitchFamily="18" charset="0"/>
              </a:rPr>
              <a:t>    Chow, 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Yinlam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, 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Ghavamzadeh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, Mohammad, Janson, Lucas,</a:t>
            </a:r>
            <a:r>
              <a:rPr lang="en" altLang="ko-KR" sz="800" dirty="0">
                <a:cs typeface="Times New Roman" panose="02020603050405020304" pitchFamily="18" charset="0"/>
              </a:rPr>
              <a:t> 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and 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Pavone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, Marco. Risk-Constrained Reinforcement Learning with Percentile Risk Criteria. Journal of Machine</a:t>
            </a:r>
            <a:r>
              <a:rPr lang="en" altLang="ko-KR" sz="800" dirty="0">
                <a:cs typeface="Times New Roman" panose="02020603050405020304" pitchFamily="18" charset="0"/>
              </a:rPr>
              <a:t> 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Learning Research, </a:t>
            </a:r>
            <a:br>
              <a:rPr lang="en" altLang="ko-KR" sz="800" dirty="0">
                <a:effectLst/>
                <a:cs typeface="Times New Roman" panose="02020603050405020304" pitchFamily="18" charset="0"/>
              </a:rPr>
            </a:br>
            <a:r>
              <a:rPr lang="en" altLang="ko-KR" sz="800" dirty="0">
                <a:effectLst/>
                <a:cs typeface="Times New Roman" panose="02020603050405020304" pitchFamily="18" charset="0"/>
              </a:rPr>
              <a:t>    1(</a:t>
            </a:r>
            <a:r>
              <a:rPr lang="en" altLang="ko-KR" sz="800" dirty="0" err="1">
                <a:effectLst/>
                <a:cs typeface="Times New Roman" panose="02020603050405020304" pitchFamily="18" charset="0"/>
              </a:rPr>
              <a:t>xxxx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):1–49, 2015.</a:t>
            </a:r>
          </a:p>
          <a:p>
            <a:pPr marL="0" indent="0">
              <a:buNone/>
            </a:pPr>
            <a:r>
              <a:rPr lang="en" altLang="ko-KR" sz="1200" b="1" dirty="0">
                <a:effectLst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" altLang="ko-KR" sz="1200" b="1" dirty="0">
                <a:effectLst/>
                <a:cs typeface="Times New Roman" panose="02020603050405020304" pitchFamily="18" charset="0"/>
              </a:rPr>
              <a:t>no policy search in continuous CMDPs guarantees every policy during learning</a:t>
            </a:r>
            <a:endParaRPr lang="en" altLang="ko-KR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1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How to improve algorithm?</a:t>
            </a:r>
          </a:p>
          <a:p>
            <a:pPr marL="0" indent="0">
              <a:buNone/>
            </a:pPr>
            <a:r>
              <a:rPr lang="en" altLang="ko-KR" sz="1400" dirty="0">
                <a:effectLst/>
                <a:cs typeface="Times New Roman" panose="02020603050405020304" pitchFamily="18" charset="0"/>
              </a:rPr>
              <a:t>: new theoretical result bounds</a:t>
            </a:r>
            <a:r>
              <a:rPr lang="en" altLang="ko-KR" sz="1400" dirty="0">
                <a:cs typeface="Times New Roman" panose="02020603050405020304" pitchFamily="18" charset="0"/>
              </a:rPr>
              <a:t>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difference between the rewards or costs of two different</a:t>
            </a:r>
            <a:r>
              <a:rPr lang="en" altLang="ko-KR" sz="1400" dirty="0">
                <a:cs typeface="Times New Roman" panose="02020603050405020304" pitchFamily="18" charset="0"/>
              </a:rPr>
              <a:t> </a:t>
            </a:r>
            <a:r>
              <a:rPr lang="en" altLang="ko-KR" sz="1400" dirty="0">
                <a:effectLst/>
                <a:cs typeface="Times New Roman" panose="02020603050405020304" pitchFamily="18" charset="0"/>
              </a:rPr>
              <a:t>policies. </a:t>
            </a:r>
          </a:p>
          <a:p>
            <a:pPr marL="0" indent="0">
              <a:buNone/>
            </a:pPr>
            <a:r>
              <a:rPr lang="en" altLang="ko-KR" sz="1400" dirty="0">
                <a:effectLst/>
                <a:cs typeface="Times New Roman" panose="02020603050405020304" pitchFamily="18" charset="0"/>
              </a:rPr>
              <a:t>i.e. tightens known bounds for policy search using </a:t>
            </a:r>
            <a:r>
              <a:rPr lang="en" altLang="ko-KR" sz="1400" dirty="0">
                <a:cs typeface="Times New Roman" panose="02020603050405020304" pitchFamily="18" charset="0"/>
              </a:rPr>
              <a:t>trust regions and </a:t>
            </a:r>
            <a:br>
              <a:rPr lang="en" altLang="ko-KR" sz="1400" dirty="0">
                <a:cs typeface="Times New Roman" panose="02020603050405020304" pitchFamily="18" charset="0"/>
              </a:rPr>
            </a:br>
            <a:r>
              <a:rPr lang="en" altLang="ko-KR" sz="1400" dirty="0">
                <a:cs typeface="Times New Roman" panose="02020603050405020304" pitchFamily="18" charset="0"/>
              </a:rPr>
              <a:t>provides a tighter connection between the theory and practice of policy search for deep RL.</a:t>
            </a:r>
          </a:p>
          <a:p>
            <a:pPr marL="0" indent="0">
              <a:buNone/>
            </a:pPr>
            <a:r>
              <a:rPr lang="en" altLang="ko-KR" sz="800" dirty="0" err="1">
                <a:effectLst/>
                <a:cs typeface="Times New Roman" panose="02020603050405020304" pitchFamily="18" charset="0"/>
              </a:rPr>
              <a:t>Kakade</a:t>
            </a:r>
            <a:r>
              <a:rPr lang="en" altLang="ko-KR" sz="800" dirty="0">
                <a:effectLst/>
                <a:cs typeface="Times New Roman" panose="02020603050405020304" pitchFamily="18" charset="0"/>
              </a:rPr>
              <a:t>, Sham and Langford, John. Approximately Optimal Approximate Reinforcement Learning. Proceedings of the 19th International Conference on Machine Learning, pp. 267–274, 2002. URL</a:t>
            </a:r>
            <a:br>
              <a:rPr lang="en" altLang="ko-KR" sz="800" dirty="0">
                <a:effectLst/>
                <a:cs typeface="Times New Roman" panose="02020603050405020304" pitchFamily="18" charset="0"/>
              </a:rPr>
            </a:br>
            <a:r>
              <a:rPr lang="en" altLang="ko-KR" sz="8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http://</a:t>
            </a:r>
            <a:r>
              <a:rPr lang="en" altLang="ko-KR" sz="8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www.cs.cmu.edu</a:t>
            </a:r>
            <a:r>
              <a:rPr lang="en" altLang="ko-KR" sz="8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</a:t>
            </a:r>
            <a:r>
              <a:rPr lang="en" altLang="ko-KR" sz="8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afs</a:t>
            </a:r>
            <a:r>
              <a:rPr lang="en" altLang="ko-KR" sz="8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/cs/Web/People/</a:t>
            </a:r>
            <a:r>
              <a:rPr lang="en" altLang="ko-KR" sz="8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jcl</a:t>
            </a:r>
            <a:r>
              <a:rPr lang="en" altLang="ko-KR" sz="8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/papers/</a:t>
            </a:r>
            <a:r>
              <a:rPr lang="en" altLang="ko-KR" sz="8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aoarl</a:t>
            </a:r>
            <a:r>
              <a:rPr lang="en" altLang="ko-KR" sz="8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</a:t>
            </a:r>
            <a:r>
              <a:rPr lang="en" altLang="ko-KR" sz="8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Final.pdf</a:t>
            </a:r>
            <a:r>
              <a:rPr lang="en" altLang="ko-KR" sz="80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</a:t>
            </a:r>
            <a:endParaRPr lang="en" altLang="ko-KR" sz="800" dirty="0">
              <a:solidFill>
                <a:srgbClr val="001473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E518C63-1158-A607-6F54-DEAD15B3AF36}"/>
              </a:ext>
            </a:extLst>
          </p:cNvPr>
          <p:cNvSpPr/>
          <p:nvPr/>
        </p:nvSpPr>
        <p:spPr>
          <a:xfrm>
            <a:off x="8364448" y="1440052"/>
            <a:ext cx="1058239" cy="9349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67213C5-A285-7C94-ADAD-036C7055D19B}"/>
              </a:ext>
            </a:extLst>
          </p:cNvPr>
          <p:cNvSpPr/>
          <p:nvPr/>
        </p:nvSpPr>
        <p:spPr>
          <a:xfrm>
            <a:off x="10402583" y="1460642"/>
            <a:ext cx="1058239" cy="9349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52776-8411-A082-4E32-79FD2AD19285}"/>
              </a:ext>
            </a:extLst>
          </p:cNvPr>
          <p:cNvSpPr txBox="1"/>
          <p:nvPr/>
        </p:nvSpPr>
        <p:spPr>
          <a:xfrm>
            <a:off x="7835328" y="2375000"/>
            <a:ext cx="211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200" dirty="0"/>
              <a:t>Known bounds for policy</a:t>
            </a:r>
          </a:p>
          <a:p>
            <a:pPr algn="ctr"/>
            <a:r>
              <a:rPr kumimoji="1" lang="en-US" altLang="ko-KR" sz="1200" dirty="0"/>
              <a:t>(trust region)</a:t>
            </a:r>
            <a:endParaRPr kumimoji="1"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4DAFE-93FB-0388-9B1F-2E467C8C45F2}"/>
              </a:ext>
            </a:extLst>
          </p:cNvPr>
          <p:cNvSpPr txBox="1"/>
          <p:nvPr/>
        </p:nvSpPr>
        <p:spPr>
          <a:xfrm>
            <a:off x="9880741" y="2673034"/>
            <a:ext cx="2116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200" dirty="0"/>
              <a:t>Tighten practice of policy search</a:t>
            </a:r>
            <a:endParaRPr kumimoji="1" lang="ko-KR" altLang="en-US" sz="12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ECBD400-BB94-6E40-DB47-80CFE91A471F}"/>
              </a:ext>
            </a:extLst>
          </p:cNvPr>
          <p:cNvSpPr/>
          <p:nvPr/>
        </p:nvSpPr>
        <p:spPr>
          <a:xfrm>
            <a:off x="10166278" y="1199198"/>
            <a:ext cx="1530850" cy="14738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7A445A0-D72E-DBCD-835E-58DC400122F5}"/>
              </a:ext>
            </a:extLst>
          </p:cNvPr>
          <p:cNvCxnSpPr>
            <a:stCxn id="8" idx="0"/>
            <a:endCxn id="5" idx="0"/>
          </p:cNvCxnSpPr>
          <p:nvPr/>
        </p:nvCxnSpPr>
        <p:spPr>
          <a:xfrm>
            <a:off x="10931703" y="1199198"/>
            <a:ext cx="0" cy="261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DD49933-19D6-04A7-D7AE-016D834C8B2C}"/>
              </a:ext>
            </a:extLst>
          </p:cNvPr>
          <p:cNvCxnSpPr>
            <a:stCxn id="8" idx="2"/>
            <a:endCxn id="5" idx="2"/>
          </p:cNvCxnSpPr>
          <p:nvPr/>
        </p:nvCxnSpPr>
        <p:spPr>
          <a:xfrm flipV="1">
            <a:off x="10166278" y="1928116"/>
            <a:ext cx="236305" cy="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1AFBD89-5238-096E-29C7-2412DDCEB217}"/>
              </a:ext>
            </a:extLst>
          </p:cNvPr>
          <p:cNvCxnSpPr>
            <a:stCxn id="8" idx="6"/>
            <a:endCxn id="5" idx="6"/>
          </p:cNvCxnSpPr>
          <p:nvPr/>
        </p:nvCxnSpPr>
        <p:spPr>
          <a:xfrm flipH="1" flipV="1">
            <a:off x="11460822" y="1928116"/>
            <a:ext cx="236306" cy="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3C62C25-3E36-F6E1-D70B-03380DF56F90}"/>
              </a:ext>
            </a:extLst>
          </p:cNvPr>
          <p:cNvCxnSpPr>
            <a:stCxn id="8" idx="4"/>
            <a:endCxn id="5" idx="4"/>
          </p:cNvCxnSpPr>
          <p:nvPr/>
        </p:nvCxnSpPr>
        <p:spPr>
          <a:xfrm flipV="1">
            <a:off x="10931703" y="2395590"/>
            <a:ext cx="0" cy="27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582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Related Work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766"/>
          </a:xfrm>
        </p:spPr>
        <p:txBody>
          <a:bodyPr>
            <a:normAutofit/>
          </a:bodyPr>
          <a:lstStyle/>
          <a:p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Comprehensive overview of safety in RL</a:t>
            </a:r>
          </a:p>
          <a:p>
            <a:pPr marL="0" indent="0">
              <a:buNone/>
            </a:pP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Garc´ıa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Javier and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Fern´andez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Fernando. A Comprehensive Survey on Safe Reinforcement Learning. Journal of Machine Learning Research, 16:1437–1480, 2015. ISSN 15337928.</a:t>
            </a:r>
          </a:p>
          <a:p>
            <a:pPr marL="0" indent="0">
              <a:buNone/>
            </a:pPr>
            <a:endParaRPr lang="en" altLang="ko-KR" sz="1000" dirty="0">
              <a:effectLst/>
              <a:cs typeface="Times New Roman" panose="02020603050405020304" pitchFamily="18" charset="0"/>
            </a:endParaRPr>
          </a:p>
          <a:p>
            <a:r>
              <a:rPr lang="en" altLang="ko-KR" sz="1600" dirty="0">
                <a:effectLst/>
                <a:cs typeface="Times New Roman" panose="02020603050405020304" pitchFamily="18" charset="0"/>
              </a:rPr>
              <a:t>Safe policy search me</a:t>
            </a:r>
            <a:r>
              <a:rPr lang="en" altLang="ko-KR" sz="1600" dirty="0">
                <a:cs typeface="Times New Roman" panose="02020603050405020304" pitchFamily="18" charset="0"/>
              </a:rPr>
              <a:t>thod with policy gradient</a:t>
            </a:r>
          </a:p>
          <a:p>
            <a:pPr marL="0" indent="0">
              <a:buNone/>
            </a:pP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Uchibe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Eiji and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Doya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Kenji. Constrained reinforcement</a:t>
            </a:r>
            <a:r>
              <a:rPr lang="en" altLang="ko-KR" sz="1000" dirty="0"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learning from intrinsic and extrinsic rewards. 2007</a:t>
            </a:r>
            <a:r>
              <a:rPr lang="en" altLang="ko-KR" sz="1000" dirty="0"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IEEE 6th International Conference on Development and</a:t>
            </a:r>
            <a:r>
              <a:rPr lang="en" altLang="ko-KR" sz="1000" dirty="0"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Learning, ICDL, (February):163–168, 2007.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doi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: 10.</a:t>
            </a:r>
            <a:r>
              <a:rPr lang="en" altLang="ko-KR" sz="1000" dirty="0"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1109/DEVLRN.2007.4354030.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Cons: can’t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prevent</a:t>
            </a:r>
            <a:r>
              <a:rPr lang="en" altLang="ko-KR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policy unsafe in the first place.</a:t>
            </a:r>
          </a:p>
          <a:p>
            <a:r>
              <a:rPr lang="en" altLang="ko-KR" sz="1600" dirty="0">
                <a:effectLst/>
                <a:cs typeface="Times New Roman" panose="02020603050405020304" pitchFamily="18" charset="0"/>
              </a:rPr>
              <a:t>theoretically-motivated policy</a:t>
            </a:r>
            <a:r>
              <a:rPr lang="en" altLang="ko-KR" sz="1600" dirty="0"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gradient method for lifelong learning with safety constraints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Bou Ammar, Haitham,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Tutunov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Rasul, and Eaton, Eric. Safe Policy Search for Lifelong Reinforcement Learning with Sublinear Regret. International Conference on Machine Learning, 37:19, 2015. URL </a:t>
            </a:r>
            <a:r>
              <a:rPr lang="en" altLang="ko-KR" sz="1000" dirty="0">
                <a:solidFill>
                  <a:srgbClr val="001473"/>
                </a:solidFill>
                <a:effectLst/>
                <a:cs typeface="Times New Roman" panose="02020603050405020304" pitchFamily="18" charset="0"/>
                <a:hlinkClick r:id="rId2"/>
              </a:rPr>
              <a:t>http://arxiv.org/abs/1505.0579</a:t>
            </a:r>
            <a:r>
              <a:rPr lang="en" altLang="ko-KR" sz="10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Cons: involves an expensive inner loop optimization / assumes that safety constraints are linear</a:t>
            </a:r>
          </a:p>
          <a:p>
            <a:r>
              <a:rPr lang="en" altLang="ko-KR" sz="1600" dirty="0">
                <a:cs typeface="Times New Roman" panose="02020603050405020304" pitchFamily="18" charset="0"/>
              </a:rPr>
              <a:t>primal-dual </a:t>
            </a:r>
            <a:r>
              <a:rPr lang="en" altLang="ko-KR" sz="1600" dirty="0" err="1">
                <a:cs typeface="Times New Roman" panose="02020603050405020304" pitchFamily="18" charset="0"/>
              </a:rPr>
              <a:t>subgradient</a:t>
            </a:r>
            <a:r>
              <a:rPr lang="en" altLang="ko-KR" sz="1600" dirty="0">
                <a:cs typeface="Times New Roman" panose="02020603050405020304" pitchFamily="18" charset="0"/>
              </a:rPr>
              <a:t> method for risk-constrained reinforcement learning</a:t>
            </a:r>
          </a:p>
          <a:p>
            <a:pPr marL="0" indent="0">
              <a:buNone/>
            </a:pPr>
            <a:r>
              <a:rPr lang="en" altLang="ko-KR" sz="800" dirty="0">
                <a:cs typeface="Times New Roman" panose="02020603050405020304" pitchFamily="18" charset="0"/>
              </a:rPr>
              <a:t>Chow, </a:t>
            </a:r>
            <a:r>
              <a:rPr lang="en" altLang="ko-KR" sz="800" dirty="0" err="1">
                <a:cs typeface="Times New Roman" panose="02020603050405020304" pitchFamily="18" charset="0"/>
              </a:rPr>
              <a:t>Yinlam</a:t>
            </a:r>
            <a:r>
              <a:rPr lang="en" altLang="ko-KR" sz="800" dirty="0">
                <a:cs typeface="Times New Roman" panose="02020603050405020304" pitchFamily="18" charset="0"/>
              </a:rPr>
              <a:t>, </a:t>
            </a:r>
            <a:r>
              <a:rPr lang="en" altLang="ko-KR" sz="800" dirty="0" err="1">
                <a:cs typeface="Times New Roman" panose="02020603050405020304" pitchFamily="18" charset="0"/>
              </a:rPr>
              <a:t>Ghavamzadeh</a:t>
            </a:r>
            <a:r>
              <a:rPr lang="en" altLang="ko-KR" sz="800" dirty="0">
                <a:cs typeface="Times New Roman" panose="02020603050405020304" pitchFamily="18" charset="0"/>
              </a:rPr>
              <a:t>, Mohammad, Janson, Lucas, and </a:t>
            </a:r>
            <a:r>
              <a:rPr lang="en" altLang="ko-KR" sz="800" dirty="0" err="1">
                <a:cs typeface="Times New Roman" panose="02020603050405020304" pitchFamily="18" charset="0"/>
              </a:rPr>
              <a:t>Pavone</a:t>
            </a:r>
            <a:r>
              <a:rPr lang="en" altLang="ko-KR" sz="800" dirty="0">
                <a:cs typeface="Times New Roman" panose="02020603050405020304" pitchFamily="18" charset="0"/>
              </a:rPr>
              <a:t>, Marco. Risk-Constrained Reinforcement Learning with Percentile Risk Criteria. Journal of Machine Learning Research, 1(</a:t>
            </a:r>
            <a:r>
              <a:rPr lang="en" altLang="ko-KR" sz="800" dirty="0" err="1">
                <a:cs typeface="Times New Roman" panose="02020603050405020304" pitchFamily="18" charset="0"/>
              </a:rPr>
              <a:t>xxxx</a:t>
            </a:r>
            <a:r>
              <a:rPr lang="en" altLang="ko-KR" sz="800" dirty="0">
                <a:cs typeface="Times New Roman" panose="02020603050405020304" pitchFamily="18" charset="0"/>
              </a:rPr>
              <a:t>):1–49, 2015.</a:t>
            </a:r>
          </a:p>
          <a:p>
            <a:pPr marL="0" indent="0">
              <a:buNone/>
            </a:pPr>
            <a:endParaRPr lang="en" altLang="ko-KR" sz="1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15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Related Work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application to the</a:t>
            </a:r>
            <a:r>
              <a:rPr lang="ko-KR" altLang="en-US" sz="1600" dirty="0"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deep RL setting</a:t>
            </a:r>
          </a:p>
          <a:p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robotic manipulation,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Held, David,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Mccarthy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Zoe, Zhang, Michael,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Shentu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Fred, and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Abbeel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Pieter. Probabilistically Safe Policy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Transfer. In Proceedings of the IEEE International Conference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on Robotics and Automation (ICRA), 2017.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Cons: can’t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prevent</a:t>
            </a:r>
            <a:r>
              <a:rPr lang="en" altLang="ko-KR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policy unsafe in the first place.</a:t>
            </a:r>
          </a:p>
          <a:p>
            <a:r>
              <a:rPr lang="en" altLang="ko-KR" sz="1600" dirty="0">
                <a:effectLst/>
                <a:cs typeface="Times New Roman" panose="02020603050405020304" pitchFamily="18" charset="0"/>
              </a:rPr>
              <a:t>‘intrinsic fear’ heuristic, motivate agents to avoid rare but catastrophic events.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Lipton, Zachary C., Gao,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Jianfeng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Li, Lihong, Chen,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Jianshu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and Deng, Li. Combating Deep Reinforcement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Learning’s Sisyphean Curse with Intrinsic Fear.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In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arXiv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2017. ISBN 2004012439. URL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http://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arxiv.org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/abs/1611.01211.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Cons: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assumptions restrict</a:t>
            </a:r>
            <a:r>
              <a:rPr lang="ko-KR" altLang="en-US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applicability</a:t>
            </a:r>
          </a:p>
          <a:p>
            <a:r>
              <a:rPr lang="en" altLang="ko-KR" sz="1600" dirty="0">
                <a:effectLst/>
                <a:cs typeface="Times New Roman" panose="02020603050405020304" pitchFamily="18" charset="0"/>
              </a:rPr>
              <a:t>avoid enforcing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constraints on parametrized policies by decomposing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‘desires’ from trajectory planning</a:t>
            </a:r>
            <a:br>
              <a:rPr lang="en" altLang="ko-KR" sz="1600" dirty="0">
                <a:effectLst/>
                <a:cs typeface="Times New Roman" panose="02020603050405020304" pitchFamily="18" charset="0"/>
              </a:rPr>
            </a:br>
            <a:r>
              <a:rPr lang="en" altLang="ko-KR" sz="1600" dirty="0">
                <a:effectLst/>
                <a:cs typeface="Times New Roman" panose="02020603050405020304" pitchFamily="18" charset="0"/>
              </a:rPr>
              <a:t>neural network policy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learns desires for behavior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cs typeface="Times New Roman" panose="02020603050405020304" pitchFamily="18" charset="0"/>
              </a:rPr>
              <a:t>/</a:t>
            </a:r>
            <a:r>
              <a:rPr lang="ko-KR" altLang="en-US" sz="1600" dirty="0"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trajectory planning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algorithm selects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final behavior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and enforces safety.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Shalev-Shwartz, Shai, Shammah, Shaked, and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Shashua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Amnon. Safe, Multi-Agent, Reinforcement Learning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for Autonomous Driving.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arXiv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2016. URL </a:t>
            </a:r>
            <a:r>
              <a:rPr lang="en" altLang="ko-KR" sz="10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http://</a:t>
            </a:r>
            <a:r>
              <a:rPr lang="en" altLang="ko-KR" sz="10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arxiv.org</a:t>
            </a:r>
            <a:r>
              <a:rPr lang="en" altLang="ko-KR" sz="10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/abs/1610.03295</a:t>
            </a:r>
            <a:r>
              <a:rPr lang="en" altLang="ko-KR" sz="100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</a:t>
            </a:r>
            <a:endParaRPr lang="en" altLang="ko-KR" sz="1000" dirty="0">
              <a:solidFill>
                <a:srgbClr val="001473"/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2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This study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first policy search algorithm for CMDPs that both </a:t>
            </a:r>
          </a:p>
          <a:p>
            <a:pPr>
              <a:buAutoNum type="arabicParenR"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guarantees constraint satisfaction throughout training</a:t>
            </a:r>
          </a:p>
          <a:p>
            <a:pPr>
              <a:buAutoNum type="arabicParenR"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works for arbitrary policy classes (including neural networks).</a:t>
            </a:r>
            <a:endParaRPr lang="en-US" altLang="ko-KR" sz="16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" altLang="ko-KR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46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Related Work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application to the</a:t>
            </a:r>
            <a:r>
              <a:rPr lang="ko-KR" altLang="en-US" sz="1600" dirty="0"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deep RL setting</a:t>
            </a:r>
          </a:p>
          <a:p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robotic manipulation,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Held, David,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Mccarthy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Zoe, Zhang, Michael,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Shentu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Fred, and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Abbeel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Pieter. Probabilistically Safe Policy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Transfer. In Proceedings of the IEEE International Conference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on Robotics and Automation (ICRA), 2017.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Cons: can’t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prevent</a:t>
            </a:r>
            <a:r>
              <a:rPr lang="en" altLang="ko-KR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policy unsafe in the first place.</a:t>
            </a:r>
          </a:p>
          <a:p>
            <a:r>
              <a:rPr lang="en" altLang="ko-KR" sz="1600" dirty="0">
                <a:effectLst/>
                <a:cs typeface="Times New Roman" panose="02020603050405020304" pitchFamily="18" charset="0"/>
              </a:rPr>
              <a:t>‘intrinsic fear’ heuristic, motivate agents to avoid rare but catastrophic events.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Lipton, Zachary C., Gao,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Jianfeng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Li, Lihong, Chen,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Jianshu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and Deng, Li. Combating Deep Reinforcement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Learning’s Sisyphean Curse with Intrinsic Fear.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In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arXiv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2017. ISBN 2004012439. URL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http://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arxiv.org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/abs/1611.01211.</a:t>
            </a:r>
          </a:p>
          <a:p>
            <a:pPr marL="0" indent="0">
              <a:buNone/>
            </a:pPr>
            <a:r>
              <a:rPr lang="en" altLang="ko-KR" sz="1200" dirty="0">
                <a:cs typeface="Times New Roman" panose="02020603050405020304" pitchFamily="18" charset="0"/>
              </a:rPr>
              <a:t>Cons: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assumptions restrict</a:t>
            </a:r>
            <a:r>
              <a:rPr lang="ko-KR" altLang="en-US" sz="1200" dirty="0">
                <a:cs typeface="Times New Roman" panose="02020603050405020304" pitchFamily="18" charset="0"/>
              </a:rPr>
              <a:t> </a:t>
            </a:r>
            <a:r>
              <a:rPr lang="en" altLang="ko-KR" sz="1200" dirty="0">
                <a:effectLst/>
                <a:cs typeface="Times New Roman" panose="02020603050405020304" pitchFamily="18" charset="0"/>
              </a:rPr>
              <a:t>applicability</a:t>
            </a:r>
          </a:p>
          <a:p>
            <a:r>
              <a:rPr lang="en" altLang="ko-KR" sz="1600" dirty="0">
                <a:effectLst/>
                <a:cs typeface="Times New Roman" panose="02020603050405020304" pitchFamily="18" charset="0"/>
              </a:rPr>
              <a:t>avoid enforcing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constraints on parametrized policies by decomposing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‘desires’ from trajectory planning</a:t>
            </a:r>
            <a:br>
              <a:rPr lang="en" altLang="ko-KR" sz="1600" dirty="0">
                <a:effectLst/>
                <a:cs typeface="Times New Roman" panose="02020603050405020304" pitchFamily="18" charset="0"/>
              </a:rPr>
            </a:br>
            <a:r>
              <a:rPr lang="en" altLang="ko-KR" sz="1600" dirty="0">
                <a:effectLst/>
                <a:cs typeface="Times New Roman" panose="02020603050405020304" pitchFamily="18" charset="0"/>
              </a:rPr>
              <a:t>neural network policy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learns desires for behavior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cs typeface="Times New Roman" panose="02020603050405020304" pitchFamily="18" charset="0"/>
              </a:rPr>
              <a:t>/</a:t>
            </a:r>
            <a:r>
              <a:rPr lang="ko-KR" altLang="en-US" sz="1600" dirty="0"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trajectory planning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algorithm selects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final behavior</a:t>
            </a:r>
            <a:r>
              <a:rPr lang="ko-KR" altLang="en-US" sz="16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600" dirty="0">
                <a:effectLst/>
                <a:cs typeface="Times New Roman" panose="02020603050405020304" pitchFamily="18" charset="0"/>
              </a:rPr>
              <a:t>and enforces safety.</a:t>
            </a:r>
          </a:p>
          <a:p>
            <a:pPr marL="0" indent="0">
              <a:buNone/>
            </a:pPr>
            <a:r>
              <a:rPr lang="en" altLang="ko-KR" sz="1000" dirty="0">
                <a:effectLst/>
                <a:cs typeface="Times New Roman" panose="02020603050405020304" pitchFamily="18" charset="0"/>
              </a:rPr>
              <a:t>Shalev-Shwartz, Shai, Shammah, Shaked, and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Shashua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Amnon. Safe, Multi-Agent, Reinforcement Learning</a:t>
            </a:r>
            <a:r>
              <a:rPr lang="ko-KR" altLang="en-US" sz="1000" dirty="0">
                <a:effectLst/>
                <a:cs typeface="Times New Roman" panose="02020603050405020304" pitchFamily="18" charset="0"/>
              </a:rPr>
              <a:t> 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for Autonomous Driving. </a:t>
            </a:r>
            <a:r>
              <a:rPr lang="en" altLang="ko-KR" sz="1000" dirty="0" err="1">
                <a:effectLst/>
                <a:cs typeface="Times New Roman" panose="02020603050405020304" pitchFamily="18" charset="0"/>
              </a:rPr>
              <a:t>arXiv</a:t>
            </a:r>
            <a:r>
              <a:rPr lang="en" altLang="ko-KR" sz="1000" dirty="0">
                <a:effectLst/>
                <a:cs typeface="Times New Roman" panose="02020603050405020304" pitchFamily="18" charset="0"/>
              </a:rPr>
              <a:t>, 2016. URL </a:t>
            </a:r>
            <a:r>
              <a:rPr lang="en" altLang="ko-KR" sz="10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http://</a:t>
            </a:r>
            <a:r>
              <a:rPr lang="en" altLang="ko-KR" sz="1000" dirty="0" err="1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arxiv.org</a:t>
            </a:r>
            <a:r>
              <a:rPr lang="en" altLang="ko-KR" sz="1000" dirty="0">
                <a:solidFill>
                  <a:srgbClr val="001473"/>
                </a:solidFill>
                <a:effectLst/>
                <a:cs typeface="Times New Roman" panose="02020603050405020304" pitchFamily="18" charset="0"/>
              </a:rPr>
              <a:t>/abs/1610.03295</a:t>
            </a:r>
            <a:r>
              <a:rPr lang="en" altLang="ko-KR" sz="100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.</a:t>
            </a:r>
            <a:endParaRPr lang="en" altLang="ko-KR" sz="1000" dirty="0">
              <a:solidFill>
                <a:srgbClr val="001473"/>
              </a:solidFill>
              <a:effectLst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" altLang="ko-KR" sz="12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ko-KR" sz="1600" dirty="0">
                <a:cs typeface="Times New Roman" panose="02020603050405020304" pitchFamily="18" charset="0"/>
                <a:sym typeface="Wingdings" pitchFamily="2" charset="2"/>
              </a:rPr>
              <a:t>This study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first policy search algorithm for CMDPs that both </a:t>
            </a:r>
          </a:p>
          <a:p>
            <a:pPr>
              <a:buAutoNum type="arabicParenR"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guarantees constraint satisfaction throughout training</a:t>
            </a:r>
          </a:p>
          <a:p>
            <a:pPr>
              <a:buAutoNum type="arabicParenR"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works for arbitrary policy classes (including neural networks).</a:t>
            </a:r>
            <a:endParaRPr lang="en-US" altLang="ko-KR" sz="16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endParaRPr lang="en" altLang="ko-KR" sz="12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6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Markov Decision Process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600" dirty="0">
                    <a:cs typeface="Times New Roman" panose="02020603050405020304" pitchFamily="18" charset="0"/>
                    <a:sym typeface="Wingdings" pitchFamily="2" charset="2"/>
                  </a:rPr>
                  <a:t>In RL…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Aim to select policy π</a:t>
                </a:r>
                <a:r>
                  <a:rPr lang="ko-KR" altLang="en-US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which maximizes a performance measure,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600" dirty="0">
                    <a:cs typeface="Times New Roman" panose="02020603050405020304" pitchFamily="18" charset="0"/>
                    <a:sym typeface="Wingdings" pitchFamily="2" charset="2"/>
                  </a:rPr>
                  <a:t>Markov Decision Process(MDP)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𝜏</m:t>
                    </m:r>
                  </m:oMath>
                </a14:m>
                <a:r>
                  <a:rPr lang="en-US" altLang="ko-KR" sz="1200" b="0" i="1" dirty="0">
                    <a:latin typeface="Cambria Math" panose="02040503050406030204" pitchFamily="18" charset="0"/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200" b="0" dirty="0">
                    <a:latin typeface="Cambria Math" panose="02040503050406030204" pitchFamily="18" charset="0"/>
                    <a:cs typeface="Times New Roman" panose="02020603050405020304" pitchFamily="18" charset="0"/>
                    <a:sym typeface="Wingdings" pitchFamily="2" charset="2"/>
                  </a:rPr>
                  <a:t>: trajectory</a:t>
                </a:r>
                <a:endParaRPr lang="en-US" altLang="ko-KR" sz="1200" b="0" i="1" dirty="0">
                  <a:latin typeface="Cambria Math" panose="02040503050406030204" pitchFamily="18" charset="0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𝑅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discounted return of a trajectory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On-policy value function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[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𝑅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)|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altLang="ko-KR" sz="1200" b="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On-policy action-value function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</m:t>
                    </m:r>
                    <m:sSub>
                      <m:sSubPr>
                        <m:ctrl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𝜏</m:t>
                        </m:r>
                        <m: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b>
                    </m:sSub>
                    <m: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[</m:t>
                    </m:r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R</m:t>
                    </m:r>
                    <m: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)|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𝑎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Advantage function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𝐴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</m:t>
                    </m:r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𝑄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−</m:t>
                    </m:r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𝑉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Discounted future state distribution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𝑑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1−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𝛾</m:t>
                        </m:r>
                      </m:e>
                    </m:d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𝑡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=0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∞</m:t>
                        </m:r>
                      </m:sup>
                    </m:sSubSup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𝛾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𝑡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𝑃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𝑡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|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Difference in performance between two policies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′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𝐽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𝐽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1−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𝛾</m:t>
                        </m:r>
                      </m:den>
                    </m:f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𝑑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′</m:t>
                                </m:r>
                              </m:sup>
                            </m:sSup>
                          </m:sup>
                        </m:s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endParaRPr lang="en-US" altLang="ko-KR" sz="1200" b="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  <a:blipFill>
                <a:blip r:embed="rId2"/>
                <a:stretch>
                  <a:fillRect l="-362" t="-5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B1593B84-90D6-4EF8-A4D7-A0C08FD29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161" y="2216014"/>
            <a:ext cx="2105677" cy="24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7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Constrained Markov Decision Process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600" dirty="0">
                    <a:cs typeface="Times New Roman" panose="02020603050405020304" pitchFamily="18" charset="0"/>
                    <a:sym typeface="Wingdings" pitchFamily="2" charset="2"/>
                  </a:rPr>
                  <a:t>Constrained Markov Decision Process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MDP w/ constraints(restrict allowable policies)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Expected discounted return of policy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200" dirty="0" err="1">
                    <a:cs typeface="Times New Roman" panose="02020603050405020304" pitchFamily="18" charset="0"/>
                    <a:sym typeface="Wingdings" pitchFamily="2" charset="2"/>
                  </a:rPr>
                  <a:t>w.r.t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cost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𝜏</m:t>
                        </m:r>
                        <m: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sub>
                    </m:sSub>
                    <m: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[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𝑡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=0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∞</m:t>
                        </m:r>
                      </m:sup>
                    </m:sSubSup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𝛾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𝑡</m:t>
                        </m:r>
                      </m:sup>
                    </m:sSup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𝑡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Set of feasible stationary policies for a CMDP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Π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≐{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Π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 :∀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𝑖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𝑖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𝑑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}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Reinforcement learning problem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∗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𝐶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𝐽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(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  <a:blipFill>
                <a:blip r:embed="rId2"/>
                <a:stretch>
                  <a:fillRect l="-362" t="-5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669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Constrained Policy Optimization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600" dirty="0">
                    <a:cs typeface="Times New Roman" panose="02020603050405020304" pitchFamily="18" charset="0"/>
                    <a:sym typeface="Wingdings" pitchFamily="2" charset="2"/>
                  </a:rPr>
                  <a:t>Constrained Policy Optimization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Problem : large or continuous </a:t>
                </a:r>
                <a:r>
                  <a:rPr lang="en-US" altLang="ko-KR" sz="1200" b="1" dirty="0">
                    <a:cs typeface="Times New Roman" panose="02020603050405020304" pitchFamily="18" charset="0"/>
                    <a:sym typeface="Wingdings" pitchFamily="2" charset="2"/>
                  </a:rPr>
                  <a:t>MDP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 solving exactly is intractable </a:t>
                </a: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∵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dimensionality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Policy search algorithms search optimal policy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Π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⊆</m:t>
                    </m:r>
                    <m:r>
                      <m:rPr>
                        <m:sty m:val="p"/>
                      </m:rPr>
                      <a:rPr lang="en-US" altLang="ko-KR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Π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𝜃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parameter)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Local policy search : maximize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𝐽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near most recent iterate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𝑘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𝜃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200" dirty="0" err="1">
                    <a:cs typeface="Times New Roman" panose="02020603050405020304" pitchFamily="18" charset="0"/>
                    <a:sym typeface="Wingdings" pitchFamily="2" charset="2"/>
                  </a:rPr>
                  <a:t>s.t.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𝐷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𝛿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In </a:t>
                </a:r>
                <a:r>
                  <a:rPr lang="en-US" altLang="ko-KR" sz="1200" b="1" dirty="0">
                    <a:cs typeface="Times New Roman" panose="02020603050405020304" pitchFamily="18" charset="0"/>
                    <a:sym typeface="Wingdings" pitchFamily="2" charset="2"/>
                  </a:rPr>
                  <a:t>CMDP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, optimize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Π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∩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Π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sub>
                    </m:sSub>
                  </m:oMath>
                </a14:m>
                <a:endParaRPr lang="en-US" altLang="ko-KR" sz="1200" b="0" dirty="0">
                  <a:ea typeface="Cambria Math" panose="02040503050406030204" pitchFamily="18" charset="0"/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𝑘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𝜃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200" dirty="0" err="1">
                    <a:cs typeface="Times New Roman" panose="02020603050405020304" pitchFamily="18" charset="0"/>
                    <a:sym typeface="Wingdings" pitchFamily="2" charset="2"/>
                  </a:rPr>
                  <a:t>s.t.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J</m:t>
                        </m:r>
                      </m:e>
                      <m:sub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≤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𝑑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=1, …, 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𝑚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𝐷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𝛿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Difficult to implement </a:t>
                </a: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∵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need evaluate whether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is feasible  typically done by off-policy evaluation, challenging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Use trust region optimization</a:t>
                </a:r>
              </a:p>
              <a:p>
                <a:pPr>
                  <a:buFont typeface="Wingdings" pitchFamily="2" charset="2"/>
                  <a:buChar char="à"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Develop principled approx.: replace objective and constraints w/ surrogate function (easy to estimate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200" b="0" dirty="0">
                    <a:cs typeface="Times New Roman" panose="02020603050405020304" pitchFamily="18" charset="0"/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ko-KR" sz="1200" b="0" dirty="0">
                    <a:cs typeface="Times New Roman" panose="02020603050405020304" pitchFamily="18" charset="0"/>
                    <a:sym typeface="Wingdings" pitchFamily="2" charset="2"/>
                  </a:rPr>
                  <a:t>Prove performance guarantee</a:t>
                </a: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b="0" dirty="0">
                    <a:cs typeface="Times New Roman" panose="02020603050405020304" pitchFamily="18" charset="0"/>
                    <a:sym typeface="Wingdings" pitchFamily="2" charset="2"/>
                  </a:rPr>
                  <a:t> - prove bounds on 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diff in returns btw two arbitrary stochastic policies, in terms of avg divergence btw them.</a:t>
                </a:r>
              </a:p>
              <a:p>
                <a:pPr marL="0" indent="0">
                  <a:buNone/>
                </a:pPr>
                <a:r>
                  <a:rPr lang="en-US" altLang="ko-KR" sz="1200" b="0" dirty="0">
                    <a:cs typeface="Times New Roman" panose="02020603050405020304" pitchFamily="18" charset="0"/>
                    <a:sym typeface="Wingdings" pitchFamily="2" charset="2"/>
                  </a:rPr>
                  <a:t> - prove worst-case performance degradation</a:t>
                </a:r>
              </a:p>
              <a:p>
                <a:pPr marL="0" indent="0">
                  <a:buNone/>
                </a:pPr>
                <a:endParaRPr lang="en-US" altLang="ko-KR" sz="1200" b="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  <a:blipFill>
                <a:blip r:embed="rId2"/>
                <a:stretch>
                  <a:fillRect l="-362" t="-5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타원 4">
            <a:extLst>
              <a:ext uri="{FF2B5EF4-FFF2-40B4-BE49-F238E27FC236}">
                <a16:creationId xmlns:a16="http://schemas.microsoft.com/office/drawing/2014/main" id="{382CE613-34C7-FFF4-8DB0-9DBDE42A71BD}"/>
              </a:ext>
            </a:extLst>
          </p:cNvPr>
          <p:cNvSpPr/>
          <p:nvPr/>
        </p:nvSpPr>
        <p:spPr>
          <a:xfrm>
            <a:off x="8179348" y="1756088"/>
            <a:ext cx="1530850" cy="14738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B506E55-CF2A-A9B4-8219-5697B35AF78B}"/>
              </a:ext>
            </a:extLst>
          </p:cNvPr>
          <p:cNvSpPr/>
          <p:nvPr/>
        </p:nvSpPr>
        <p:spPr>
          <a:xfrm>
            <a:off x="8903675" y="2485006"/>
            <a:ext cx="45719" cy="50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DA90335-8AF5-9CE5-312C-CCBEA3D6418C}"/>
              </a:ext>
            </a:extLst>
          </p:cNvPr>
          <p:cNvCxnSpPr>
            <a:stCxn id="13" idx="7"/>
          </p:cNvCxnSpPr>
          <p:nvPr/>
        </p:nvCxnSpPr>
        <p:spPr>
          <a:xfrm flipV="1">
            <a:off x="8942699" y="1512541"/>
            <a:ext cx="1040074" cy="9799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1C79AD7-E460-FEA4-4067-89C6B673E83A}"/>
              </a:ext>
            </a:extLst>
          </p:cNvPr>
          <p:cNvCxnSpPr>
            <a:stCxn id="5" idx="2"/>
            <a:endCxn id="13" idx="2"/>
          </p:cNvCxnSpPr>
          <p:nvPr/>
        </p:nvCxnSpPr>
        <p:spPr>
          <a:xfrm>
            <a:off x="8179348" y="2493006"/>
            <a:ext cx="724327" cy="174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E82BF7-EBF6-30DD-D42E-D0C9C7E830F2}"/>
                  </a:ext>
                </a:extLst>
              </p:cNvPr>
              <p:cNvSpPr txBox="1"/>
              <p:nvPr/>
            </p:nvSpPr>
            <p:spPr>
              <a:xfrm>
                <a:off x="8837552" y="2699604"/>
                <a:ext cx="100893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  <m:t>𝜋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E82BF7-EBF6-30DD-D42E-D0C9C7E83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552" y="2699604"/>
                <a:ext cx="1008934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970684-9EC8-5968-E9F9-3C0FD46BCEB9}"/>
                  </a:ext>
                </a:extLst>
              </p:cNvPr>
              <p:cNvSpPr txBox="1"/>
              <p:nvPr/>
            </p:nvSpPr>
            <p:spPr>
              <a:xfrm>
                <a:off x="9659352" y="1328235"/>
                <a:ext cx="100893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  <m:t>𝜋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  <a:sym typeface="Wingdings" pitchFamily="2" charset="2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ko-KR" altLang="en-US" sz="1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0970684-9EC8-5968-E9F9-3C0FD46BC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352" y="1328235"/>
                <a:ext cx="100893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9F62D2-81C2-3C61-E913-46D387EF4FD2}"/>
                  </a:ext>
                </a:extLst>
              </p:cNvPr>
              <p:cNvSpPr txBox="1"/>
              <p:nvPr/>
            </p:nvSpPr>
            <p:spPr>
              <a:xfrm>
                <a:off x="8043060" y="2251911"/>
                <a:ext cx="100893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m:t>δ</m:t>
                      </m:r>
                    </m:oMath>
                  </m:oMathPara>
                </a14:m>
                <a:endParaRPr lang="en-US" altLang="ko-KR" sz="1200" b="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C9F62D2-81C2-3C61-E913-46D387EF4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060" y="2251911"/>
                <a:ext cx="1008934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타원 21">
            <a:extLst>
              <a:ext uri="{FF2B5EF4-FFF2-40B4-BE49-F238E27FC236}">
                <a16:creationId xmlns:a16="http://schemas.microsoft.com/office/drawing/2014/main" id="{4855B4A6-AEAC-0986-1E6A-E6EB76D9872A}"/>
              </a:ext>
            </a:extLst>
          </p:cNvPr>
          <p:cNvSpPr/>
          <p:nvPr/>
        </p:nvSpPr>
        <p:spPr>
          <a:xfrm>
            <a:off x="9319408" y="2699604"/>
            <a:ext cx="45719" cy="5081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16928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Constrained Policy Optimization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Trust Region Method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Trust Region Method for RL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𝑘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func>
                      <m:func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𝜃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ko-KR" sz="12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~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𝑑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  <a:sym typeface="Wingdings" pitchFamily="2" charset="2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  <a:sym typeface="Wingdings" pitchFamily="2" charset="2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,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~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  <m:t>𝜋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ko-KR" sz="1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  <a:sym typeface="Wingdings" pitchFamily="2" charset="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𝐴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  <a:sym typeface="Wingdings" pitchFamily="2" charset="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  <a:sym typeface="Wingdings" pitchFamily="2" charset="2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  <a:sym typeface="Wingdings" pitchFamily="2" charset="2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,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  <a:sym typeface="Wingdings" pitchFamily="2" charset="2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:r>
                  <a:rPr lang="en-US" altLang="ko-KR" sz="1200" dirty="0" err="1">
                    <a:cs typeface="Times New Roman" panose="02020603050405020304" pitchFamily="18" charset="0"/>
                    <a:sym typeface="Wingdings" pitchFamily="2" charset="2"/>
                  </a:rPr>
                  <a:t>s.t.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𝐾𝐿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𝛿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𝐾𝐿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s</m:t>
                        </m:r>
                        <m: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~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[</m:t>
                    </m:r>
                    <m:sSub>
                      <m:sSubPr>
                        <m:ctrl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KL</m:t>
                        </m:r>
                      </m:sub>
                    </m:sSub>
                    <m:r>
                      <a:rPr lang="en-US" altLang="ko-KR" sz="1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𝛿</m:t>
                    </m:r>
                    <m:r>
                      <a:rPr lang="en-US" altLang="ko-KR" sz="1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&gt;0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is step size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Trust region :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{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∈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Π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𝜃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 :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acc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𝐾𝐿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𝜋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𝛿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}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Why this update?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guarantee monotonic performance improvement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optimize lower bound  solve performance collapse after bad updates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Trust Region Optimization for CMDPs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Pros : guaranteed monotonically nondecreasing returns satisfy original constraint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Cons : discount factor close to 1  penalties on policy divergence are steep; learning slowly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CPO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Use trust region instead penalties on policy divergence; enable larger step size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70766"/>
              </a:xfrm>
              <a:blipFill>
                <a:blip r:embed="rId2"/>
                <a:stretch>
                  <a:fillRect l="-121" t="-5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04F0F42B-B652-16FF-3CF1-8497CCFEE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038" y="4192470"/>
            <a:ext cx="3576403" cy="9399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87F777-E489-AE31-2191-CBC43EA01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291" y="5552954"/>
            <a:ext cx="2876072" cy="93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96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Questions: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1. CPO succeed satisfy constraints + trained w/ thousands of parameters?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2. CPO vs. prime-dual optimization : baseline, constraint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3. Constrain cost upper bound vs. directly constrain cost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4. Constraint vs. fixed penalties</a:t>
            </a:r>
          </a:p>
          <a:p>
            <a:pPr marL="0" indent="0">
              <a:buNone/>
            </a:pPr>
            <a:endParaRPr lang="en-US" altLang="ko-KR" sz="12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Design experiment</a:t>
            </a:r>
          </a:p>
          <a:p>
            <a:pPr>
              <a:buAutoNum type="arabicPeriod"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Circle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reward – run wide circle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constrain – stay within target circle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2. Gather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reward – collect apple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constrain – avoid red bomb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BAB026-8B29-926C-052A-785AA277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0" y="3429000"/>
            <a:ext cx="2800350" cy="2565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1D0674C-5A0D-65D2-1503-E154B2B2F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579" y="3429000"/>
            <a:ext cx="2580916" cy="2565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35B27EA-EC24-FE49-3D3E-29F0586045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560" y="3429000"/>
            <a:ext cx="2608157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1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4627" y="1822694"/>
                <a:ext cx="10515600" cy="4970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3 agents</a:t>
                </a:r>
              </a:p>
              <a:p>
                <a:pPr>
                  <a:buAutoNum type="arabicPeriod"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point-mass </a:t>
                </a:r>
              </a:p>
              <a:p>
                <a:pPr>
                  <a:buAutoNum type="arabicPeriod"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quadruped robot</a:t>
                </a:r>
              </a:p>
              <a:p>
                <a:pPr>
                  <a:buAutoNum type="arabicPeriod"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Simple humanoid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Use neural network policies w/ two hidden layers 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of size (64, 32)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Evaluate based on C</a:t>
                </a:r>
                <a:r>
                  <a:rPr lang="en-US" altLang="ko-KR" sz="1200" baseline="30000" dirty="0">
                    <a:cs typeface="Times New Roman" panose="02020603050405020304" pitchFamily="18" charset="0"/>
                    <a:sym typeface="Wingdings" pitchFamily="2" charset="2"/>
                  </a:rPr>
                  <a:t>+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return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 :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𝑆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×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×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𝑆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ℝ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auxiliary cost function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To account approximation, build factor of safety to minimize constraint violation.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+</m:t>
                        </m:r>
                      </m:sup>
                    </m:sSubSup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𝐶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+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Δ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𝑎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, </m:t>
                    </m:r>
                    <m:sSup>
                      <m:s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′</m:t>
                        </m:r>
                      </m:sup>
                    </m:sSup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constrain upper bounds on original constrain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Δ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𝑎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,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  <a:sym typeface="Wingdings" pitchFamily="2" charset="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ℝ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: probability of entering an unsafe state within a fixed time horizon. 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y-axis: avg performance over several seeds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x-axis: training iteration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4627" y="1822694"/>
                <a:ext cx="10515600" cy="4970766"/>
              </a:xfrm>
              <a:blipFill>
                <a:blip r:embed="rId3"/>
                <a:stretch>
                  <a:fillRect t="-5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EA9AF6CB-6BD5-5970-AEC8-15A929B5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676" y="0"/>
            <a:ext cx="8257324" cy="41459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A4A075-1D06-E3E0-762E-0B0AB6B1A238}"/>
              </a:ext>
            </a:extLst>
          </p:cNvPr>
          <p:cNvSpPr txBox="1"/>
          <p:nvPr/>
        </p:nvSpPr>
        <p:spPr>
          <a:xfrm>
            <a:off x="7630160" y="4141766"/>
            <a:ext cx="3525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*TRPO : Trust region policy optimization</a:t>
            </a:r>
            <a:b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</a:b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- state-of-the-art unconstrained RL algorithm</a:t>
            </a:r>
          </a:p>
        </p:txBody>
      </p:sp>
    </p:spTree>
    <p:extLst>
      <p:ext uri="{BB962C8B-B14F-4D97-AF65-F5344CB8AC3E}">
        <p14:creationId xmlns:p14="http://schemas.microsoft.com/office/powerpoint/2010/main" val="2722761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4627" y="1822694"/>
                <a:ext cx="10515600" cy="497076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CPO - successful at approximately enforcing constraints in all environments.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PDO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usually converges to constraint satisfying policies in the end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not consistently constraint-satisfying throughout training (spike at Ant-Circle)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sensitive to initial value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PDO-0 : 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=0</m:t>
                    </m:r>
                  </m:oMath>
                </a14:m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no prior knowledge</a:t>
                </a:r>
              </a:p>
              <a:p>
                <a:pPr marL="0" indent="0">
                  <a:buNone/>
                </a:pPr>
                <a:endParaRPr lang="en-US" altLang="ko-KR" sz="120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PDO-1000 : 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Wingdings" pitchFamily="2" charset="2"/>
                      </a:rPr>
                      <m:t>=1000</m:t>
                    </m:r>
                  </m:oMath>
                </a14:m>
                <a:endParaRPr lang="en-US" altLang="ko-KR" sz="1200" b="0" dirty="0">
                  <a:cs typeface="Times New Roman" panose="02020603050405020304" pitchFamily="18" charset="0"/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PDO more conservative </a:t>
                </a:r>
                <a:r>
                  <a:rPr lang="en-US" altLang="ko-KR" sz="1200" dirty="0" err="1">
                    <a:cs typeface="Times New Roman" panose="02020603050405020304" pitchFamily="18" charset="0"/>
                    <a:sym typeface="Wingdings" pitchFamily="2" charset="2"/>
                  </a:rPr>
                  <a:t>w.r.t.</a:t>
                </a: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constraint</a:t>
                </a:r>
              </a:p>
              <a:p>
                <a:pPr marL="0" indent="0">
                  <a:buNone/>
                </a:pPr>
                <a:r>
                  <a:rPr lang="en-US" altLang="ko-KR" sz="1200" dirty="0">
                    <a:cs typeface="Times New Roman" panose="02020603050405020304" pitchFamily="18" charset="0"/>
                    <a:sym typeface="Wingdings" pitchFamily="2" charset="2"/>
                  </a:rPr>
                  <a:t> - low performance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A32D487-B8EE-ED14-A5C0-CC2FAF4DB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4627" y="1822694"/>
                <a:ext cx="10515600" cy="4970766"/>
              </a:xfrm>
              <a:blipFill>
                <a:blip r:embed="rId3"/>
                <a:stretch>
                  <a:fillRect t="-5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EA9AF6CB-6BD5-5970-AEC8-15A929B51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120" y="3195267"/>
            <a:ext cx="7294880" cy="366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73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627" y="1822694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Questions:</a:t>
            </a:r>
          </a:p>
          <a:p>
            <a:pPr>
              <a:buAutoNum type="arabicPeriod"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CPO succeed satisfy constraints + trained w/ thousands of parameters?</a:t>
            </a:r>
          </a:p>
          <a:p>
            <a:pPr>
              <a:buAutoNum type="arabicPeriod"/>
            </a:pPr>
            <a:endParaRPr lang="en-US" altLang="ko-KR" sz="12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2. CPO vs. prime-dual optimization : baseline, constraint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CPO outperforms PDO on enforcing constraint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– w/o compromising performance </a:t>
            </a:r>
            <a:r>
              <a:rPr lang="en-US" altLang="ko-KR" sz="1200" dirty="0" err="1">
                <a:cs typeface="Times New Roman" panose="02020603050405020304" pitchFamily="18" charset="0"/>
                <a:sym typeface="Wingdings" pitchFamily="2" charset="2"/>
              </a:rPr>
              <a:t>w.r.t.</a:t>
            </a: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return</a:t>
            </a:r>
          </a:p>
          <a:p>
            <a:pPr marL="0" indent="0">
              <a:buNone/>
            </a:pPr>
            <a:endParaRPr lang="en-US" altLang="ko-KR" sz="12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3. Constrain cost upper bound vs. directly constrain cost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cost shaping help, almost accounting CPO’s inherent approximation errors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However, CPO satisfy constraint w/o cost shaping.</a:t>
            </a:r>
          </a:p>
          <a:p>
            <a:pPr marL="0" indent="0">
              <a:buNone/>
            </a:pPr>
            <a:endParaRPr lang="en-US" altLang="ko-KR" sz="12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4. Constraint vs. fixed penalties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Constraint – CPO / fixed penalties – TRPO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fixed penalties highly sensitive to penalty coefficient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   penalty coefficient 1 : reward maximize / accumulate massive constraint costs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   penalty coefficient 5 : cost minimize  never get reward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CPO : automatically pick penalty coefficient  reach balance btw reward / constraint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9AF6CB-6BD5-5970-AEC8-15A929B51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62" y="0"/>
            <a:ext cx="6427638" cy="322729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1F68279-9EAF-95C0-A620-28CC4F2B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115" y="3270628"/>
            <a:ext cx="3043430" cy="32203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7119A9-F0C2-1690-829D-73ACD95CF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376" y="3974561"/>
            <a:ext cx="3397624" cy="193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1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009D5-DA0E-2056-22D3-6AB0A51DF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What I’ve done and to do…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32D487-B8EE-ED14-A5C0-CC2FAF4D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627" y="1822694"/>
            <a:ext cx="10515600" cy="4970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Reviewing paper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Done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understand what the paper</a:t>
            </a:r>
            <a:r>
              <a:rPr lang="ko-KR" altLang="en-US" sz="1200" dirty="0"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wants to suggest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To do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recall Probability and Introductory Random Process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study reinforce learning (MDP, CMDP, prime-dual, … )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understand equation in the paper in detail</a:t>
            </a:r>
          </a:p>
          <a:p>
            <a:pPr marL="0" indent="0">
              <a:buNone/>
            </a:pPr>
            <a:endParaRPr lang="en-US" altLang="ko-KR" sz="1200" dirty="0"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Realizing(or executing) the paper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Stuck at downloading </a:t>
            </a:r>
            <a:r>
              <a:rPr lang="en-US" altLang="ko-KR" sz="1200" dirty="0" err="1">
                <a:cs typeface="Times New Roman" panose="02020603050405020304" pitchFamily="18" charset="0"/>
                <a:sym typeface="Wingdings" pitchFamily="2" charset="2"/>
              </a:rPr>
              <a:t>rllab</a:t>
            </a: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due to difference in architecture (x86-64, aarch64)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Also, lots of missing materials written in the script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Way to solve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Download every dependency step by step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 - use garage...?</a:t>
            </a:r>
          </a:p>
          <a:p>
            <a:pPr marL="0" indent="0">
              <a:buNone/>
            </a:pPr>
            <a:r>
              <a:rPr lang="en-US" altLang="ko-KR" sz="1200" dirty="0">
                <a:cs typeface="Times New Roman" panose="02020603050405020304" pitchFamily="18" charset="0"/>
                <a:sym typeface="Wingdings" pitchFamily="2" charset="2"/>
              </a:rPr>
              <a:t>may or may not be able to succeed…</a:t>
            </a:r>
          </a:p>
        </p:txBody>
      </p:sp>
    </p:spTree>
    <p:extLst>
      <p:ext uri="{BB962C8B-B14F-4D97-AF65-F5344CB8AC3E}">
        <p14:creationId xmlns:p14="http://schemas.microsoft.com/office/powerpoint/2010/main" val="3569871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4138</TotalTime>
  <Words>2445</Words>
  <Application>Microsoft Macintosh PowerPoint</Application>
  <PresentationFormat>와이드스크린</PresentationFormat>
  <Paragraphs>254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맑은 고딕</vt:lpstr>
      <vt:lpstr>Arial</vt:lpstr>
      <vt:lpstr>Cambria Math</vt:lpstr>
      <vt:lpstr>Helvetica</vt:lpstr>
      <vt:lpstr>Times New Roman</vt:lpstr>
      <vt:lpstr>Wingdings</vt:lpstr>
      <vt:lpstr>Office 테마</vt:lpstr>
      <vt:lpstr>Review: Constrained Policy Optimization</vt:lpstr>
      <vt:lpstr>Abstract</vt:lpstr>
      <vt:lpstr>Abstract</vt:lpstr>
      <vt:lpstr>Discussion</vt:lpstr>
      <vt:lpstr>Introduction</vt:lpstr>
      <vt:lpstr>Introduction</vt:lpstr>
      <vt:lpstr>Related Work</vt:lpstr>
      <vt:lpstr>Related Work</vt:lpstr>
      <vt:lpstr>Related Work</vt:lpstr>
      <vt:lpstr>Markov Decision Process</vt:lpstr>
      <vt:lpstr>Constrained Markov Decision Process</vt:lpstr>
      <vt:lpstr>Constrained Policy Optimization</vt:lpstr>
      <vt:lpstr>Constrained Policy Optimization</vt:lpstr>
      <vt:lpstr>Experiments</vt:lpstr>
      <vt:lpstr>Experiments</vt:lpstr>
      <vt:lpstr>Experiments</vt:lpstr>
      <vt:lpstr>Experiments</vt:lpstr>
      <vt:lpstr>What I’ve done and to do…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한의석</dc:creator>
  <cp:lastModifiedBy>한의석</cp:lastModifiedBy>
  <cp:revision>45</cp:revision>
  <cp:lastPrinted>2024-07-08T05:41:39Z</cp:lastPrinted>
  <dcterms:created xsi:type="dcterms:W3CDTF">2024-07-04T05:44:16Z</dcterms:created>
  <dcterms:modified xsi:type="dcterms:W3CDTF">2024-07-08T14:24:33Z</dcterms:modified>
</cp:coreProperties>
</file>