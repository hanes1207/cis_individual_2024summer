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9" r:id="rId2"/>
    <p:sldId id="490" r:id="rId3"/>
    <p:sldId id="549" r:id="rId4"/>
    <p:sldId id="550" r:id="rId5"/>
    <p:sldId id="551" r:id="rId6"/>
    <p:sldId id="556" r:id="rId7"/>
    <p:sldId id="557" r:id="rId8"/>
    <p:sldId id="554" r:id="rId9"/>
    <p:sldId id="555" r:id="rId10"/>
    <p:sldId id="492" r:id="rId11"/>
    <p:sldId id="563" r:id="rId12"/>
    <p:sldId id="564" r:id="rId13"/>
    <p:sldId id="567" r:id="rId14"/>
    <p:sldId id="569" r:id="rId15"/>
    <p:sldId id="570" r:id="rId16"/>
    <p:sldId id="571" r:id="rId17"/>
    <p:sldId id="574" r:id="rId18"/>
    <p:sldId id="575" r:id="rId19"/>
    <p:sldId id="576" r:id="rId20"/>
    <p:sldId id="572" r:id="rId21"/>
    <p:sldId id="577" r:id="rId22"/>
    <p:sldId id="578" r:id="rId23"/>
    <p:sldId id="580" r:id="rId24"/>
    <p:sldId id="586" r:id="rId25"/>
    <p:sldId id="585" r:id="rId26"/>
    <p:sldId id="581" r:id="rId27"/>
    <p:sldId id="582" r:id="rId28"/>
    <p:sldId id="559" r:id="rId29"/>
    <p:sldId id="584" r:id="rId30"/>
    <p:sldId id="499" r:id="rId31"/>
    <p:sldId id="558" r:id="rId32"/>
    <p:sldId id="561" r:id="rId33"/>
    <p:sldId id="560" r:id="rId34"/>
    <p:sldId id="562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34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1C4FF8-075B-4E4B-A656-C100EDE11BF4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8CC42-58F7-41CD-96AC-A329304070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07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475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511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50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주어진 정책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 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대해서 우리는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η(π)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Aπ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알고 있는 상황이다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η(~π)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η(π)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 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대신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~π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trajectory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뽑았을 때 얻게 되는 이익의 기댓값을 더해준 값이다</a:t>
            </a:r>
            <a:endParaRPr lang="en-US" altLang="ko-KR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참고로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행동을 뽑았을 때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Eat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∼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π(at|st)[Aπ(st,at)]=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것을 생각하면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Eat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∼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~π(at|st)[Aπ(st,at)]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~π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사용했을 때 얻게 되는 추가 이득인 것을 받아들이기 쉽다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930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910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기존 정보를 믿고 확 가는 느낌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562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천천히 조금 가는 느낌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868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500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함수의 기댓값은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이라는 것을 염두하면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π′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πnew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다르면 다를수록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ϵ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커지게 된다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π′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πnew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비슷하면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2ϵγ(1−γ)2α2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가까워지고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π′=πnew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이면 식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(4)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봤던 것처럼 등호가 성립하게 된다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911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344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314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0341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338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496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Trust region: </a:t>
            </a:r>
            <a:r>
              <a:rPr lang="ko-KR" altLang="en-US" sz="12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적당히 큰 </a:t>
            </a:r>
            <a:r>
              <a:rPr lang="en-US" altLang="ko-KR" sz="12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size</a:t>
            </a:r>
            <a:r>
              <a:rPr lang="ko-KR" altLang="en-US" sz="12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</a:t>
            </a:r>
            <a:r>
              <a:rPr lang="en-US" altLang="ko-KR" sz="12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</a:t>
            </a:r>
            <a:r>
              <a:rPr lang="ko-KR" altLang="en-US" sz="12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안정적으로 증가시킬 수 있는 영역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916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1311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03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on-policy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알고리즘들에서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 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함수를 추정하는 다양한 방식들이 있기 때문이다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6323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2510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2475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028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233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6179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885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8584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526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7905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/>
              <a:t>KL divergence: https://hyunw.kim/blog/2017/10/27/KL_divergence.html</a:t>
            </a:r>
          </a:p>
          <a:p>
            <a:pPr marL="171450" indent="-171450">
              <a:buFontTx/>
              <a:buChar char="-"/>
            </a:pPr>
            <a:r>
              <a:rPr lang="en-US" altLang="ko-KR"/>
              <a:t>overall 1: https://hiddenbeginner.github.io/rl/2022/09/18/trpo.html</a:t>
            </a:r>
          </a:p>
          <a:p>
            <a:pPr marL="171450" indent="-171450">
              <a:buFontTx/>
              <a:buChar char="-"/>
            </a:pPr>
            <a:r>
              <a:rPr lang="en-US" altLang="ko-KR"/>
              <a:t>overall 2: https://rlwithme.tistory.com/6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6728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1361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4818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5820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22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5994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8CC42-58F7-41CD-96AC-A3293040707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850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41540-3281-4DB7-966F-AB1311B13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C0EA99-A2CE-41D7-BC44-C68685318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CE047-4EEC-4593-A17B-2C35D108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F45A81-40A5-47F7-99D2-6AFB3711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52B3CA-D2DF-46F0-8A03-80C67B2F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63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370E4-DEB5-4F76-907F-AD6D6C203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AAAC2-10DF-48D6-ADA2-A55CC4DDD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802FE-2AE5-4021-B39D-74194BE9F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507D76-3C8F-482C-8F2A-5FB82C7B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BDCF37-4196-43D2-A9C5-D1ECEDA6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724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6EDFC-BACB-41CA-871D-A777E6F3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82557A-2438-4B3F-9360-F01B7CEB2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FE9BD7-7A0E-4E4F-9C4E-FD2DE0E8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6E10D7-8A2D-4B57-B62D-9C202195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554C8A-B10E-4174-8B97-265E5F09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47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BEEE1-717B-4198-A968-28733FF2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9B746-EDAB-4C96-AF89-F1E504C43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D093A0-5878-4916-927F-5FB649EA4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54AE-8886-4B9E-8F30-EA99ADE38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8D7D8E-9EEA-40AB-AE75-033E691EF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D6837A-E5FB-4ABA-9F7D-2CFA2189A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1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747B1B-31AC-40D5-B803-C50FBE2F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329F81-835E-4EC7-A246-ACBC47D5E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24B508-8C37-4DEC-A781-5AB88755C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8B9D0B-03F8-4EE0-B595-1F1138397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5F5BA1-35CF-4C65-8921-14D0D038E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C87DC8-C3CB-4F42-B04E-D569890D5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50DBEE-0565-4534-8DFF-FC09C3F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8E2C0A-F1D8-4E75-837C-E16218C74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71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345AD-561C-4576-9C3A-7A49571F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942BED1-01C1-4667-A998-A91C6986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346A4B-4481-4831-8961-526D3579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D30D7A-58D8-40E9-9ADC-74C645BF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8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4839FA-1939-4873-BEBA-0D2163C4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69B8AC-0F42-4019-9316-D2D8078C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4463CA-40B9-4C61-8A20-A51A3CB4E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86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59AE5-C496-4844-A2D2-9314390A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E1A244-A75A-4F43-A9E9-AB3FF3F8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3B36E0-923C-45D6-825A-80DA95C73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720FE8-54D3-4E70-88E6-B844867F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DE23C6-2317-4966-8482-196612DD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44C84D-42AB-4687-B787-AC433333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5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C9199-4E99-4EA9-9478-BBF0248B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A72429-0D28-4E95-B5A3-13C4E5D04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1D4B93-B0A9-404C-B9DF-A45271647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39C86C-4849-48C9-A147-58FBE898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B8B7D1-A34C-4B6A-ABDA-C181BC42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711ED5-72F2-48D6-9696-6A23F170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56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B3E24-8FD5-4344-B663-033C6889A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390737-CE7F-434E-8436-890CBA688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A2B0F-F526-4B9F-AF0E-96BF4220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E46F1-F182-4928-BADA-AB10585E6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9547BF-CFF1-4D03-A08A-2F5B9572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55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3759AD-1EE7-4E49-8264-A584DE3E3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5678D1-B6B0-40B0-A7D8-BB9BE50EE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5A3EB-318B-4C34-A3D2-94BE9BBE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7440A5-6311-4A5F-A954-84D183709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31ED3E-79CD-4DAB-9FC5-F9FE9CB0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73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D72F1D-2153-4642-ADA1-477A8589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109480-88DC-46D0-945A-4B80C7A34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A9346F-4276-404E-8B5A-56E6C9D37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8CD3D-1DE8-4180-A3E1-F550B187E17E}" type="datetimeFigureOut">
              <a:rPr lang="ko-KR" altLang="en-US" smtClean="0"/>
              <a:t>2024-08-15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B4D588-9898-45E9-932B-47F8E9AE6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96DA17-3F71-4C4E-AF92-A2722C115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B66C3-EC36-4F8F-9956-6069237E91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6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0.png"/><Relationship Id="rId5" Type="http://schemas.openxmlformats.org/officeDocument/2006/relationships/image" Target="../media/image32.png"/><Relationship Id="rId10" Type="http://schemas.openxmlformats.org/officeDocument/2006/relationships/image" Target="../media/image39.png"/><Relationship Id="rId4" Type="http://schemas.openxmlformats.org/officeDocument/2006/relationships/image" Target="../media/image1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62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52.png"/><Relationship Id="rId9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62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52.png"/><Relationship Id="rId9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62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52.png"/><Relationship Id="rId9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6B57D8-8349-4962-B206-E64644358C1A}"/>
              </a:ext>
            </a:extLst>
          </p:cNvPr>
          <p:cNvSpPr/>
          <p:nvPr/>
        </p:nvSpPr>
        <p:spPr>
          <a:xfrm>
            <a:off x="510988" y="2582614"/>
            <a:ext cx="1117002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Trust Region Policy Optimization</a:t>
            </a:r>
          </a:p>
          <a:p>
            <a:pPr algn="ctr"/>
            <a:endParaRPr lang="en-US" altLang="ko-KR" sz="32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24.08.16</a:t>
            </a:r>
          </a:p>
          <a:p>
            <a:pPr algn="ctr"/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Kangyeon Kim</a:t>
            </a:r>
            <a:endParaRPr lang="ko-KR" alt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ED9F87C-BC37-40C3-AB0E-F1014B6AD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623" y="5352490"/>
            <a:ext cx="2348754" cy="13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07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48DF61C-EF40-4EEC-AB4E-9995B6630D11}"/>
              </a:ext>
            </a:extLst>
          </p:cNvPr>
          <p:cNvSpPr txBox="1"/>
          <p:nvPr/>
        </p:nvSpPr>
        <p:spPr>
          <a:xfrm>
            <a:off x="537880" y="1839834"/>
            <a:ext cx="111162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</a:p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 distribution</a:t>
            </a: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expected discounted cost:</a:t>
            </a:r>
          </a:p>
          <a:p>
            <a:pPr algn="just"/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(1) infinite-horizon discounted MDP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7256695-A459-4CA3-8EC0-7F3063A23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379" y="2199188"/>
            <a:ext cx="1619476" cy="30484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C5DA886-2371-491E-89CC-674142FE20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38" y="1192981"/>
            <a:ext cx="2076740" cy="34294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890E511-684B-4974-A13C-A82757B225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556" y="1887244"/>
            <a:ext cx="1409897" cy="25721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085F18E-F5B9-4D17-8C15-D6E15BAF36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1281" y="3429000"/>
            <a:ext cx="6849431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48DF61C-EF40-4EEC-AB4E-9995B6630D11}"/>
              </a:ext>
            </a:extLst>
          </p:cNvPr>
          <p:cNvSpPr txBox="1"/>
          <p:nvPr/>
        </p:nvSpPr>
        <p:spPr>
          <a:xfrm>
            <a:off x="537880" y="1839834"/>
            <a:ext cx="11116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action value function, value function, and the advantage function: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(1) infinite-horizon discounted MDP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CAD9A24-6BF9-4F08-87F8-01EE79733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38" y="1192981"/>
            <a:ext cx="2076740" cy="34294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88B26D7-2445-40A7-9447-BF2C9CCD2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179" y="2239944"/>
            <a:ext cx="6925642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66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48DF61C-EF40-4EEC-AB4E-9995B6630D11}"/>
              </a:ext>
            </a:extLst>
          </p:cNvPr>
          <p:cNvSpPr txBox="1"/>
          <p:nvPr/>
        </p:nvSpPr>
        <p:spPr>
          <a:xfrm>
            <a:off x="537880" y="1839834"/>
            <a:ext cx="111162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return of  another policy     :</a:t>
            </a: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discounted visitation frequencies:</a:t>
            </a:r>
          </a:p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Rewrite eq (1):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(1) infinite-horizon discounted MDP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18DDBF-647A-4AAA-8CB3-FFA4C5AAF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957" y="1899164"/>
            <a:ext cx="257211" cy="3143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84B67A1-72AE-43C8-B7AC-36DD680FEC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38" y="1192981"/>
            <a:ext cx="2076740" cy="3429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66FAC0-3AD3-4EA2-BC89-96E95586A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232" y="2394573"/>
            <a:ext cx="6887536" cy="87642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AC5B2E5-C00F-48A7-B625-CFC0B9D89F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2957" y="3646923"/>
            <a:ext cx="6230219" cy="37152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2DAC6FF-6E78-46E1-BBC2-CFE2913B4F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1281" y="4266838"/>
            <a:ext cx="6849431" cy="2591162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8FBF2DE-A83F-450D-AC4B-660CCF3D20F1}"/>
              </a:ext>
            </a:extLst>
          </p:cNvPr>
          <p:cNvGrpSpPr/>
          <p:nvPr/>
        </p:nvGrpSpPr>
        <p:grpSpPr>
          <a:xfrm>
            <a:off x="3957839" y="6985107"/>
            <a:ext cx="3677272" cy="489600"/>
            <a:chOff x="3975769" y="4764584"/>
            <a:chExt cx="3677272" cy="48960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ED9FDFCB-A34A-429D-9F5E-0D5FD2CBAD83}"/>
                </a:ext>
              </a:extLst>
            </p:cNvPr>
            <p:cNvCxnSpPr>
              <a:cxnSpLocks/>
            </p:cNvCxnSpPr>
            <p:nvPr/>
          </p:nvCxnSpPr>
          <p:spPr>
            <a:xfrm>
              <a:off x="5267339" y="4764584"/>
              <a:ext cx="1094132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7A93704-1B7E-4DC8-9C55-C9CC8E2CB41B}"/>
                </a:ext>
              </a:extLst>
            </p:cNvPr>
            <p:cNvSpPr txBox="1"/>
            <p:nvPr/>
          </p:nvSpPr>
          <p:spPr>
            <a:xfrm>
              <a:off x="3975769" y="4992574"/>
              <a:ext cx="367727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difficult to get expectation(or sampling) from new policy</a:t>
              </a:r>
              <a:endParaRPr lang="ko-KR" altLang="en-US" sz="11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273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/>
              <p:nvPr/>
            </p:nvSpPr>
            <p:spPr>
              <a:xfrm>
                <a:off x="537880" y="1839834"/>
                <a:ext cx="1111623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non-negative advantage at every state is guaranteed to increase policy performance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sz="2000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(by definition)</a:t>
                </a:r>
                <a:endParaRPr lang="ko-KR" altLang="en-US" sz="2000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0" y="1839834"/>
                <a:ext cx="11116235" cy="3785652"/>
              </a:xfrm>
              <a:prstGeom prst="rect">
                <a:avLst/>
              </a:prstGeom>
              <a:blipFill>
                <a:blip r:embed="rId3"/>
                <a:stretch>
                  <a:fillRect l="-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 continue) policy update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8A75E6-35A4-4285-A3E7-4FA5BD69A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650" y="1672759"/>
            <a:ext cx="6944694" cy="7716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C6A7EB-0292-42AD-BDF1-68A4EF105A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985" y="1250139"/>
            <a:ext cx="952633" cy="28579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BA141EF-195B-4798-81E1-04C6A9A8D13D}"/>
              </a:ext>
            </a:extLst>
          </p:cNvPr>
          <p:cNvCxnSpPr>
            <a:cxnSpLocks/>
          </p:cNvCxnSpPr>
          <p:nvPr/>
        </p:nvCxnSpPr>
        <p:spPr>
          <a:xfrm>
            <a:off x="6095997" y="3330389"/>
            <a:ext cx="0" cy="685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F8C8A10-4BA2-49E7-BC05-A90BC325FD69}"/>
              </a:ext>
            </a:extLst>
          </p:cNvPr>
          <p:cNvGrpSpPr/>
          <p:nvPr/>
        </p:nvGrpSpPr>
        <p:grpSpPr>
          <a:xfrm>
            <a:off x="4257360" y="4587968"/>
            <a:ext cx="3677272" cy="406465"/>
            <a:chOff x="4190697" y="5092728"/>
            <a:chExt cx="3677272" cy="406465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73C4CE2-7A90-4F4C-BF9A-A97899AE3E39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05" y="5092728"/>
              <a:ext cx="309605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15668C-F850-4AC5-AB85-8A1F98C29173}"/>
                </a:ext>
              </a:extLst>
            </p:cNvPr>
            <p:cNvSpPr txBox="1"/>
            <p:nvPr/>
          </p:nvSpPr>
          <p:spPr>
            <a:xfrm>
              <a:off x="4190697" y="5129861"/>
              <a:ext cx="367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classic deterministic policy update</a:t>
              </a:r>
              <a:endParaRPr lang="ko-KR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29D2A43D-2009-4262-80F7-848F106E5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313" y="2842173"/>
            <a:ext cx="3029373" cy="35247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06CB3DB-E2D1-47EF-9CD1-D8BE22AB8E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155" y="4140105"/>
            <a:ext cx="314368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95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/>
              <p:nvPr/>
            </p:nvSpPr>
            <p:spPr>
              <a:xfrm>
                <a:off x="537880" y="1839834"/>
                <a:ext cx="11116235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non-negative expected advantage at every state is guaranteed to increase policy performance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0" y="1839834"/>
                <a:ext cx="11116235" cy="3477875"/>
              </a:xfrm>
              <a:prstGeom prst="rect">
                <a:avLst/>
              </a:prstGeom>
              <a:blipFill>
                <a:blip r:embed="rId3"/>
                <a:stretch>
                  <a:fillRect l="-4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 continue) policy update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8A75E6-35A4-4285-A3E7-4FA5BD69A0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3650" y="1672759"/>
            <a:ext cx="6944694" cy="7716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C6A7EB-0292-42AD-BDF1-68A4EF105A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5985" y="1250139"/>
            <a:ext cx="952633" cy="28579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BA141EF-195B-4798-81E1-04C6A9A8D13D}"/>
              </a:ext>
            </a:extLst>
          </p:cNvPr>
          <p:cNvCxnSpPr>
            <a:cxnSpLocks/>
          </p:cNvCxnSpPr>
          <p:nvPr/>
        </p:nvCxnSpPr>
        <p:spPr>
          <a:xfrm>
            <a:off x="6095997" y="3330389"/>
            <a:ext cx="0" cy="685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F8C8A10-4BA2-49E7-BC05-A90BC325FD69}"/>
              </a:ext>
            </a:extLst>
          </p:cNvPr>
          <p:cNvGrpSpPr/>
          <p:nvPr/>
        </p:nvGrpSpPr>
        <p:grpSpPr>
          <a:xfrm>
            <a:off x="4257360" y="4587968"/>
            <a:ext cx="3677272" cy="406465"/>
            <a:chOff x="4190697" y="5092728"/>
            <a:chExt cx="3677272" cy="406465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773C4CE2-7A90-4F4C-BF9A-A97899AE3E39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05" y="5092728"/>
              <a:ext cx="3096057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15668C-F850-4AC5-AB85-8A1F98C29173}"/>
                </a:ext>
              </a:extLst>
            </p:cNvPr>
            <p:cNvSpPr txBox="1"/>
            <p:nvPr/>
          </p:nvSpPr>
          <p:spPr>
            <a:xfrm>
              <a:off x="4190697" y="5129861"/>
              <a:ext cx="367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classic deterministic policy update</a:t>
              </a:r>
              <a:endParaRPr lang="ko-KR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29D2A43D-2009-4262-80F7-848F106E52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313" y="2842173"/>
            <a:ext cx="3029373" cy="35247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06CB3DB-E2D1-47EF-9CD1-D8BE22AB8E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4155" y="4140105"/>
            <a:ext cx="3143689" cy="323895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FD0AC0A8-DF2F-4718-8F58-8186B0D69901}"/>
              </a:ext>
            </a:extLst>
          </p:cNvPr>
          <p:cNvGrpSpPr/>
          <p:nvPr/>
        </p:nvGrpSpPr>
        <p:grpSpPr>
          <a:xfrm>
            <a:off x="4257360" y="3959735"/>
            <a:ext cx="3677272" cy="1586216"/>
            <a:chOff x="4257360" y="3959735"/>
            <a:chExt cx="3677272" cy="158621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88FE38-D0B0-4AEC-84E1-3A8E9A03A259}"/>
                </a:ext>
              </a:extLst>
            </p:cNvPr>
            <p:cNvSpPr txBox="1"/>
            <p:nvPr/>
          </p:nvSpPr>
          <p:spPr>
            <a:xfrm>
              <a:off x="4257360" y="5176619"/>
              <a:ext cx="3677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estimation and approximation error</a:t>
              </a:r>
              <a:endParaRPr lang="ko-KR" altLang="en-US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십자형 20">
              <a:extLst>
                <a:ext uri="{FF2B5EF4-FFF2-40B4-BE49-F238E27FC236}">
                  <a16:creationId xmlns:a16="http://schemas.microsoft.com/office/drawing/2014/main" id="{7843A14B-846F-484C-8CBF-1BD36DAD4D54}"/>
                </a:ext>
              </a:extLst>
            </p:cNvPr>
            <p:cNvSpPr/>
            <p:nvPr/>
          </p:nvSpPr>
          <p:spPr>
            <a:xfrm rot="2700000">
              <a:off x="5467572" y="3959735"/>
              <a:ext cx="1256846" cy="1256846"/>
            </a:xfrm>
            <a:prstGeom prst="plus">
              <a:avLst>
                <a:gd name="adj" fmla="val 45823"/>
              </a:avLst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F7627A3B-765D-457B-B78F-E34106111C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340" y="5558558"/>
            <a:ext cx="2829320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6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 continue) policy update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8A75E6-35A4-4285-A3E7-4FA5BD69A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650" y="1672759"/>
            <a:ext cx="6944694" cy="7716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C6A7EB-0292-42AD-BDF1-68A4EF105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985" y="1250139"/>
            <a:ext cx="952633" cy="28579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BA141EF-195B-4798-81E1-04C6A9A8D13D}"/>
              </a:ext>
            </a:extLst>
          </p:cNvPr>
          <p:cNvCxnSpPr>
            <a:cxnSpLocks/>
          </p:cNvCxnSpPr>
          <p:nvPr/>
        </p:nvCxnSpPr>
        <p:spPr>
          <a:xfrm>
            <a:off x="6095997" y="2618120"/>
            <a:ext cx="0" cy="6857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AD93F989-66AD-4A3A-9653-741F73CCB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6995" y="3566584"/>
            <a:ext cx="6878010" cy="704948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DD101A04-4C67-4779-8C37-AFD8987AFC6C}"/>
              </a:ext>
            </a:extLst>
          </p:cNvPr>
          <p:cNvGrpSpPr/>
          <p:nvPr/>
        </p:nvGrpSpPr>
        <p:grpSpPr>
          <a:xfrm>
            <a:off x="1586748" y="2194640"/>
            <a:ext cx="9018498" cy="2807790"/>
            <a:chOff x="389376" y="3235053"/>
            <a:chExt cx="9018498" cy="280779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8150C1B9-AD45-47E0-8C63-E26CCA03DB9C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05" y="5092728"/>
              <a:ext cx="68279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D6552F-DAE4-4799-B256-A314EF0807CE}"/>
                </a:ext>
              </a:extLst>
            </p:cNvPr>
            <p:cNvSpPr txBox="1"/>
            <p:nvPr/>
          </p:nvSpPr>
          <p:spPr>
            <a:xfrm>
              <a:off x="2702269" y="5320718"/>
              <a:ext cx="4392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approximation (surrogate objective)</a:t>
              </a:r>
              <a:endParaRPr lang="ko-KR" altLang="en-US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E1B2F98-C25C-4334-AE39-D3387CE39878}"/>
                </a:ext>
              </a:extLst>
            </p:cNvPr>
            <p:cNvSpPr txBox="1"/>
            <p:nvPr/>
          </p:nvSpPr>
          <p:spPr>
            <a:xfrm>
              <a:off x="389376" y="5673511"/>
              <a:ext cx="9018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ignore changes in state visitation density due to changes in the policy</a:t>
              </a:r>
              <a:endParaRPr lang="ko-KR" altLang="en-US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1FD71322-D3E8-4E9A-9EA9-83822BE640C1}"/>
                </a:ext>
              </a:extLst>
            </p:cNvPr>
            <p:cNvCxnSpPr>
              <a:cxnSpLocks/>
            </p:cNvCxnSpPr>
            <p:nvPr/>
          </p:nvCxnSpPr>
          <p:spPr>
            <a:xfrm>
              <a:off x="4481305" y="3235053"/>
              <a:ext cx="68279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AF9A07-8627-4722-8C6A-89E6E5BE25E8}"/>
                </a:ext>
              </a:extLst>
            </p:cNvPr>
            <p:cNvSpPr txBox="1"/>
            <p:nvPr/>
          </p:nvSpPr>
          <p:spPr>
            <a:xfrm>
              <a:off x="4898625" y="3747520"/>
              <a:ext cx="2196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hard to estimate..!</a:t>
              </a:r>
              <a:endParaRPr lang="ko-KR" altLang="en-US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217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/>
              <p:nvPr/>
            </p:nvSpPr>
            <p:spPr>
              <a:xfrm>
                <a:off x="537879" y="1839834"/>
                <a:ext cx="11116235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have parameterized policy:</a:t>
                </a: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Then, how can decide sufficiently small step that improve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policy update                   ?</a:t>
                </a: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79" y="1839834"/>
                <a:ext cx="11116235" cy="4401205"/>
              </a:xfrm>
              <a:prstGeom prst="rect">
                <a:avLst/>
              </a:prstGeom>
              <a:blipFill>
                <a:blip r:embed="rId3"/>
                <a:stretch>
                  <a:fillRect l="-5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 continue) policy update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8024BF-A90E-4E23-8C4C-BD1E58F29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995" y="1757708"/>
            <a:ext cx="6878010" cy="7049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415668C-F850-4AC5-AB85-8A1F98C29173}"/>
              </a:ext>
            </a:extLst>
          </p:cNvPr>
          <p:cNvSpPr txBox="1"/>
          <p:nvPr/>
        </p:nvSpPr>
        <p:spPr>
          <a:xfrm>
            <a:off x="2178416" y="5373693"/>
            <a:ext cx="783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policy iteration update</a:t>
            </a:r>
          </a:p>
          <a:p>
            <a:pPr algn="ctr"/>
            <a:r>
              <a:rPr lang="en-US" altLang="ko-KR" sz="1400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 4.1 from Approximately Optimal Approximate Reinforcement Learning</a:t>
            </a:r>
            <a:endParaRPr lang="ko-KR" altLang="en-US" sz="1400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B39C8A-E07A-4177-8277-159D02CB3C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7942" y="2861843"/>
            <a:ext cx="6916115" cy="95263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F46897-7F17-4221-8051-6DE93D1FC1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9825" y="4987770"/>
            <a:ext cx="1086002" cy="28579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9566FE7-51A1-4B8B-AEFB-4E4C760945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985" y="1250139"/>
            <a:ext cx="952633" cy="285790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A574D8B-504F-4589-9881-DEF10E5FCC1E}"/>
              </a:ext>
            </a:extLst>
          </p:cNvPr>
          <p:cNvCxnSpPr>
            <a:cxnSpLocks/>
          </p:cNvCxnSpPr>
          <p:nvPr/>
        </p:nvCxnSpPr>
        <p:spPr>
          <a:xfrm>
            <a:off x="3585203" y="2191713"/>
            <a:ext cx="30078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87815D1-2B4D-49CB-8586-EDDA6F82519A}"/>
              </a:ext>
            </a:extLst>
          </p:cNvPr>
          <p:cNvCxnSpPr>
            <a:cxnSpLocks/>
          </p:cNvCxnSpPr>
          <p:nvPr/>
        </p:nvCxnSpPr>
        <p:spPr>
          <a:xfrm>
            <a:off x="6884894" y="2191713"/>
            <a:ext cx="762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F24476-A99D-43EA-96E9-4403FCC36832}"/>
                  </a:ext>
                </a:extLst>
              </p:cNvPr>
              <p:cNvSpPr txBox="1"/>
              <p:nvPr/>
            </p:nvSpPr>
            <p:spPr>
              <a:xfrm>
                <a:off x="2656986" y="3813541"/>
                <a:ext cx="6878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(first</a:t>
                </a:r>
                <a:r>
                  <a:rPr lang="ko-KR" altLang="en-US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order) step that improves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𝑳</m:t>
                        </m:r>
                      </m:e>
                      <m:sub>
                        <m:r>
                          <a:rPr lang="ko-KR" altLang="en-US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𝝅</m:t>
                        </m:r>
                      </m:sub>
                    </m:sSub>
                  </m:oMath>
                </a14:m>
                <a:r>
                  <a:rPr lang="ko-KR" altLang="en-US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will also improve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𝜼</m:t>
                    </m:r>
                  </m:oMath>
                </a14:m>
                <a:endParaRPr lang="ko-KR" altLang="en-US" b="1" i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F24476-A99D-43EA-96E9-4403FCC3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986" y="3813541"/>
                <a:ext cx="6878020" cy="369332"/>
              </a:xfrm>
              <a:prstGeom prst="rect">
                <a:avLst/>
              </a:prstGeom>
              <a:blipFill>
                <a:blip r:embed="rId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4DFB073-EE13-4101-B49B-6B8EBB30329C}"/>
              </a:ext>
            </a:extLst>
          </p:cNvPr>
          <p:cNvSpPr txBox="1"/>
          <p:nvPr/>
        </p:nvSpPr>
        <p:spPr>
          <a:xfrm>
            <a:off x="7131128" y="2895728"/>
            <a:ext cx="3254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(because advantage is zero)</a:t>
            </a:r>
            <a:endParaRPr lang="ko-KR" altLang="en-US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blog.kakaocdn.net/dn/ptGvu/btrtXyOGzHj/tlyiPwRv0RzM5vqKtZ8PQk/img.png">
            <a:extLst>
              <a:ext uri="{FF2B5EF4-FFF2-40B4-BE49-F238E27FC236}">
                <a16:creationId xmlns:a16="http://schemas.microsoft.com/office/drawing/2014/main" id="{E83BC22E-E8D3-4E42-AD5A-D20ACE9CB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7067" y="3265060"/>
            <a:ext cx="1086002" cy="59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45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/>
              <p:nvPr/>
            </p:nvSpPr>
            <p:spPr>
              <a:xfrm>
                <a:off x="537879" y="1839834"/>
                <a:ext cx="1111623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Tx/>
                  <a:buChar char="-"/>
                </a:pPr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how can decide sufficiently small step that improve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ko-KR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policy update                   ?</a:t>
                </a:r>
              </a:p>
              <a:p>
                <a:pPr marL="342900" indent="-342900" algn="just">
                  <a:buFontTx/>
                  <a:buChar char="-"/>
                </a:pPr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ko-KR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8DF61C-EF40-4EEC-AB4E-9995B6630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79" y="1839834"/>
                <a:ext cx="11116235" cy="1631216"/>
              </a:xfrm>
              <a:prstGeom prst="rect">
                <a:avLst/>
              </a:prstGeom>
              <a:blipFill>
                <a:blip r:embed="rId3"/>
                <a:stretch>
                  <a:fillRect l="-439" t="-22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1. Preliminaries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6CC1C0-54A4-4064-9F06-2A79460398E3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(1 continue) policy update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15668C-F850-4AC5-AB85-8A1F98C29173}"/>
              </a:ext>
            </a:extLst>
          </p:cNvPr>
          <p:cNvSpPr txBox="1"/>
          <p:nvPr/>
        </p:nvSpPr>
        <p:spPr>
          <a:xfrm>
            <a:off x="4257360" y="2324170"/>
            <a:ext cx="367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policy iteration update</a:t>
            </a:r>
            <a:endParaRPr lang="ko-KR" altLang="en-US" b="1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F46897-7F17-4221-8051-6DE93D1FC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9120" y="1911186"/>
            <a:ext cx="1086002" cy="2857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2253E0E-5A9A-4FC0-BB31-A3F9C36719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1758" y="3288125"/>
            <a:ext cx="6868484" cy="447737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8BCB9F0-82F7-43DF-AE24-B749CA59E450}"/>
              </a:ext>
            </a:extLst>
          </p:cNvPr>
          <p:cNvCxnSpPr>
            <a:cxnSpLocks/>
          </p:cNvCxnSpPr>
          <p:nvPr/>
        </p:nvCxnSpPr>
        <p:spPr>
          <a:xfrm flipH="1">
            <a:off x="6095998" y="3876439"/>
            <a:ext cx="2" cy="53729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5E515220-A243-4424-B7DF-53992D4F6F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5985" y="1250139"/>
            <a:ext cx="952633" cy="28579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9B12F30-FCA4-44DB-8936-FA2D1836D3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9863" y="4555415"/>
            <a:ext cx="6792273" cy="125747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DC34B3E-E73F-49FF-AB68-A7E566CBB3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4629" y="2971280"/>
            <a:ext cx="316274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4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Monotonic Improvement Guarantee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88BED-56D0-4DE6-BD04-FFFD84B3554A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[Theorem 1]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C3DA1E-722E-4E05-A0A2-98F39E12E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6047" y="2357181"/>
            <a:ext cx="6839905" cy="30007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FDF0174-4A48-4714-9614-0F00AD727E6A}"/>
              </a:ext>
            </a:extLst>
          </p:cNvPr>
          <p:cNvSpPr/>
          <p:nvPr/>
        </p:nvSpPr>
        <p:spPr>
          <a:xfrm>
            <a:off x="537885" y="5604305"/>
            <a:ext cx="111162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extend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to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general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stochastic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policies,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rather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than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just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mixture</a:t>
            </a:r>
            <a:r>
              <a:rPr lang="ko-KR" altLang="en-US" i="1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policies.</a:t>
            </a:r>
            <a:b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i="1">
                <a:latin typeface="times" panose="02020603050405020304" pitchFamily="18" charset="0"/>
                <a:cs typeface="times" panose="02020603050405020304" pitchFamily="18" charset="0"/>
              </a:rPr>
              <a:t>(replacing alpha with a distance measure)</a:t>
            </a:r>
          </a:p>
          <a:p>
            <a:endParaRPr lang="en-US" altLang="ko-KR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726C90-529C-4ACD-B709-DDA26D2E6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734" y="2022334"/>
            <a:ext cx="3448531" cy="35247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AA2DEC7-7B58-4707-9ADD-F48D6CB4C68F}"/>
              </a:ext>
            </a:extLst>
          </p:cNvPr>
          <p:cNvSpPr/>
          <p:nvPr/>
        </p:nvSpPr>
        <p:spPr>
          <a:xfrm>
            <a:off x="4724400" y="3146612"/>
            <a:ext cx="2707341" cy="43927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152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Monotonic Improvement Guarantee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C3DA1E-722E-4E05-A0A2-98F39E12E7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5411"/>
          <a:stretch/>
        </p:blipFill>
        <p:spPr>
          <a:xfrm>
            <a:off x="2676047" y="1210262"/>
            <a:ext cx="6839905" cy="22382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AFAD9A-81DA-49F6-803E-C8ECF0C3F7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5545" y="5139976"/>
            <a:ext cx="7020905" cy="1162212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9EE454BD-0FCA-4118-9E23-1F77A9C9D2F5}"/>
              </a:ext>
            </a:extLst>
          </p:cNvPr>
          <p:cNvGrpSpPr/>
          <p:nvPr/>
        </p:nvGrpSpPr>
        <p:grpSpPr>
          <a:xfrm>
            <a:off x="2152291" y="3965939"/>
            <a:ext cx="3737521" cy="504534"/>
            <a:chOff x="3523891" y="3965939"/>
            <a:chExt cx="5144218" cy="69442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9D13C1E-0E8A-4AA0-8F6B-9563A673D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85971" y="3965939"/>
              <a:ext cx="3820058" cy="31436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54A07C8-DED8-41EA-97BB-35E6F5D50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23891" y="4355522"/>
              <a:ext cx="5144218" cy="304843"/>
            </a:xfrm>
            <a:prstGeom prst="rect">
              <a:avLst/>
            </a:prstGeom>
          </p:spPr>
        </p:pic>
      </p:grp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78E8F8F-3E33-489B-8E2C-36B6B74D6CB5}"/>
              </a:ext>
            </a:extLst>
          </p:cNvPr>
          <p:cNvCxnSpPr>
            <a:cxnSpLocks/>
          </p:cNvCxnSpPr>
          <p:nvPr/>
        </p:nvCxnSpPr>
        <p:spPr>
          <a:xfrm>
            <a:off x="6096000" y="3703986"/>
            <a:ext cx="0" cy="10900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14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Monotonic Improvement Guarantee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88BED-56D0-4DE6-BD04-FFFD84B3554A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[Algorithm 1]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411BF54-A1F2-48F8-B704-257CB076BFD7}"/>
              </a:ext>
            </a:extLst>
          </p:cNvPr>
          <p:cNvGrpSpPr/>
          <p:nvPr/>
        </p:nvGrpSpPr>
        <p:grpSpPr>
          <a:xfrm>
            <a:off x="537880" y="2024635"/>
            <a:ext cx="5486404" cy="3911439"/>
            <a:chOff x="2841811" y="1902139"/>
            <a:chExt cx="6508378" cy="464003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17A681D-9F50-4224-9F78-8C11BB21F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1811" y="1902139"/>
              <a:ext cx="6508378" cy="436434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B4851F4-0240-414B-9220-6B91197457DD}"/>
                    </a:ext>
                  </a:extLst>
                </p:cNvPr>
                <p:cNvSpPr txBox="1"/>
                <p:nvPr/>
              </p:nvSpPr>
              <p:spPr>
                <a:xfrm>
                  <a:off x="2904566" y="6177067"/>
                  <a:ext cx="6382864" cy="365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b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* assume exact evaluation of the advantage values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ko-KR" altLang="en-US" sz="1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𝝅</m:t>
                          </m:r>
                        </m:sub>
                      </m:sSub>
                    </m:oMath>
                  </a14:m>
                  <a:r>
                    <a:rPr lang="en-US" altLang="ko-KR" sz="1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B4851F4-0240-414B-9220-6B9119745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4566" y="6177067"/>
                  <a:ext cx="6382864" cy="365108"/>
                </a:xfrm>
                <a:prstGeom prst="rect">
                  <a:avLst/>
                </a:prstGeom>
                <a:blipFill>
                  <a:blip r:embed="rId5"/>
                  <a:stretch>
                    <a:fillRect l="-340"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3C9814-4934-4607-8C1E-C8CBD3D558F0}"/>
                </a:ext>
              </a:extLst>
            </p:cNvPr>
            <p:cNvSpPr/>
            <p:nvPr/>
          </p:nvSpPr>
          <p:spPr>
            <a:xfrm>
              <a:off x="3630705" y="3906303"/>
              <a:ext cx="5692589" cy="176506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0" name="Picture 2" descr="https://blog.kakaocdn.net/dn/b4VPDX/btrt1IQlwNP/XZrTtn8XHzAZ0BNpQIcKKk/img.png">
            <a:extLst>
              <a:ext uri="{FF2B5EF4-FFF2-40B4-BE49-F238E27FC236}">
                <a16:creationId xmlns:a16="http://schemas.microsoft.com/office/drawing/2014/main" id="{B6A7AEF0-8CA7-4C98-A5CB-234D51B4C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463" y="2822405"/>
            <a:ext cx="5377825" cy="2591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86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4B8D2665-FB2C-4C83-81E9-48373B4B1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885" y="4376367"/>
            <a:ext cx="6916115" cy="3905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2. Monotonic Improvement Guarantee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88BED-56D0-4DE6-BD04-FFFD84B3554A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[Algorithm 1]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411BF54-A1F2-48F8-B704-257CB076BFD7}"/>
              </a:ext>
            </a:extLst>
          </p:cNvPr>
          <p:cNvGrpSpPr/>
          <p:nvPr/>
        </p:nvGrpSpPr>
        <p:grpSpPr>
          <a:xfrm>
            <a:off x="537880" y="2024635"/>
            <a:ext cx="5486404" cy="3911439"/>
            <a:chOff x="2841811" y="1902139"/>
            <a:chExt cx="6508378" cy="464003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17A681D-9F50-4224-9F78-8C11BB21F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41811" y="1902139"/>
              <a:ext cx="6508378" cy="436434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B4851F4-0240-414B-9220-6B91197457DD}"/>
                    </a:ext>
                  </a:extLst>
                </p:cNvPr>
                <p:cNvSpPr txBox="1"/>
                <p:nvPr/>
              </p:nvSpPr>
              <p:spPr>
                <a:xfrm>
                  <a:off x="2904566" y="6177067"/>
                  <a:ext cx="6382864" cy="3651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b="1">
                      <a:solidFill>
                        <a:srgbClr val="C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* assume exact evaluation of the advantage values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ko-KR" altLang="en-US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" panose="02020603050405020304" pitchFamily="18" charset="0"/>
                            </a:rPr>
                            <m:t>𝝅</m:t>
                          </m:r>
                        </m:sub>
                      </m:sSub>
                    </m:oMath>
                  </a14:m>
                  <a:r>
                    <a:rPr lang="en-US" altLang="ko-KR" sz="1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B4851F4-0240-414B-9220-6B9119745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4566" y="6177067"/>
                  <a:ext cx="6382864" cy="365108"/>
                </a:xfrm>
                <a:prstGeom prst="rect">
                  <a:avLst/>
                </a:prstGeom>
                <a:blipFill>
                  <a:blip r:embed="rId6"/>
                  <a:stretch>
                    <a:fillRect l="-340" t="-1961" b="-1960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D3C9814-4934-4607-8C1E-C8CBD3D558F0}"/>
                </a:ext>
              </a:extLst>
            </p:cNvPr>
            <p:cNvSpPr/>
            <p:nvPr/>
          </p:nvSpPr>
          <p:spPr>
            <a:xfrm>
              <a:off x="3630705" y="3906303"/>
              <a:ext cx="5692589" cy="1765069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E8B916A8-A2FC-42C4-A3E7-C1181EFCDEF4}"/>
              </a:ext>
            </a:extLst>
          </p:cNvPr>
          <p:cNvGrpSpPr/>
          <p:nvPr/>
        </p:nvGrpSpPr>
        <p:grpSpPr>
          <a:xfrm>
            <a:off x="6819539" y="2753590"/>
            <a:ext cx="4048690" cy="333422"/>
            <a:chOff x="6738857" y="2388510"/>
            <a:chExt cx="4048690" cy="33342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AC352CCE-E8BF-4F78-A6FB-03ECB9E76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38857" y="2388510"/>
              <a:ext cx="1152686" cy="32389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3FBE22B-2AB8-4854-BE07-3A12C6409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891543" y="2388510"/>
              <a:ext cx="2896004" cy="333422"/>
            </a:xfrm>
            <a:prstGeom prst="rect">
              <a:avLst/>
            </a:prstGeom>
          </p:spPr>
        </p:pic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A6E7D2EE-D620-4957-9A9E-3560320BC1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8057" y="3267073"/>
            <a:ext cx="2534004" cy="3715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CD9881E-CD58-4735-99C8-761AFBA3EC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3847" y="3709117"/>
            <a:ext cx="1962424" cy="3620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8F0F0A-B844-4E31-8606-AF9D4ED795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9318" y="4823858"/>
            <a:ext cx="3791479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4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3. Optimization of Parameterized Policies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E4AE53-9F11-4839-9973-4A5AE114D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247267"/>
            <a:ext cx="6868484" cy="485843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8CDBB76-F233-4A26-BFEC-53BB5DCDB552}"/>
              </a:ext>
            </a:extLst>
          </p:cNvPr>
          <p:cNvCxnSpPr>
            <a:cxnSpLocks/>
          </p:cNvCxnSpPr>
          <p:nvPr/>
        </p:nvCxnSpPr>
        <p:spPr>
          <a:xfrm>
            <a:off x="3972123" y="1803467"/>
            <a:ext cx="0" cy="10900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8943F0B-94AB-456F-8854-3A9B94FF6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07" y="3060153"/>
            <a:ext cx="6849431" cy="97168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4416FE-534C-48A4-AC28-06C4A624F7F9}"/>
              </a:ext>
            </a:extLst>
          </p:cNvPr>
          <p:cNvSpPr/>
          <p:nvPr/>
        </p:nvSpPr>
        <p:spPr>
          <a:xfrm>
            <a:off x="4214172" y="1970145"/>
            <a:ext cx="6606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problem: very small step size due to penalty coefficient C</a:t>
            </a:r>
          </a:p>
          <a:p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solution to take larger steps in a robust way: trust region constraint</a:t>
            </a:r>
          </a:p>
        </p:txBody>
      </p:sp>
      <p:pic>
        <p:nvPicPr>
          <p:cNvPr id="3074" name="Picture 2" descr="https://blog.kakaocdn.net/dn/1QGB8/btrtYU4TLN4/iLw2nKzkrdIM8wrgJY71wk/img.png">
            <a:extLst>
              <a:ext uri="{FF2B5EF4-FFF2-40B4-BE49-F238E27FC236}">
                <a16:creationId xmlns:a16="http://schemas.microsoft.com/office/drawing/2014/main" id="{0678DBCB-51D3-4574-86FC-9832B88213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896"/>
          <a:stretch/>
        </p:blipFill>
        <p:spPr bwMode="auto">
          <a:xfrm>
            <a:off x="2085674" y="4770513"/>
            <a:ext cx="4719386" cy="168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E189D6-3027-4656-B897-1240251F5E43}"/>
              </a:ext>
            </a:extLst>
          </p:cNvPr>
          <p:cNvSpPr/>
          <p:nvPr/>
        </p:nvSpPr>
        <p:spPr>
          <a:xfrm>
            <a:off x="5890012" y="3681909"/>
            <a:ext cx="575458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이론적으로 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delta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를 설정해줄 것이라고 생각했지만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실험적으로 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delta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를 넣어준다고 한다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..</a:t>
            </a:r>
          </a:p>
          <a:p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따라서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trust region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이 너무 커서 새로운 정책과 기존 정책의 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distance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가 크다면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optimal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policy</a:t>
            </a:r>
            <a:r>
              <a:rPr lang="ko-KR" altLang="en-US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로 수렴을 보장할 수 없다</a:t>
            </a:r>
            <a:r>
              <a:rPr lang="en-US" altLang="ko-KR" sz="11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588318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3. Optimization of Parameterized Policies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E4AE53-9F11-4839-9973-4A5AE114D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247267"/>
            <a:ext cx="6868484" cy="485843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8CDBB76-F233-4A26-BFEC-53BB5DCDB552}"/>
              </a:ext>
            </a:extLst>
          </p:cNvPr>
          <p:cNvCxnSpPr>
            <a:cxnSpLocks/>
          </p:cNvCxnSpPr>
          <p:nvPr/>
        </p:nvCxnSpPr>
        <p:spPr>
          <a:xfrm>
            <a:off x="3972123" y="1803467"/>
            <a:ext cx="0" cy="10900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8943F0B-94AB-456F-8854-3A9B94FF6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07" y="3060153"/>
            <a:ext cx="6849431" cy="97168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A4416FE-534C-48A4-AC28-06C4A624F7F9}"/>
              </a:ext>
            </a:extLst>
          </p:cNvPr>
          <p:cNvSpPr/>
          <p:nvPr/>
        </p:nvSpPr>
        <p:spPr>
          <a:xfrm>
            <a:off x="4214172" y="1970145"/>
            <a:ext cx="6606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problem: very small step size due to penalty coefficient C</a:t>
            </a:r>
          </a:p>
          <a:p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solution to take larger steps in a robust way: trust region constraint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0F2AC52-B3AC-4C2D-B81A-5C5908A58B8A}"/>
              </a:ext>
            </a:extLst>
          </p:cNvPr>
          <p:cNvCxnSpPr>
            <a:cxnSpLocks/>
          </p:cNvCxnSpPr>
          <p:nvPr/>
        </p:nvCxnSpPr>
        <p:spPr>
          <a:xfrm>
            <a:off x="3972123" y="4308838"/>
            <a:ext cx="0" cy="10900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4B6374-EB23-4101-AF84-6AB06C7ED162}"/>
              </a:ext>
            </a:extLst>
          </p:cNvPr>
          <p:cNvSpPr/>
          <p:nvPr/>
        </p:nvSpPr>
        <p:spPr>
          <a:xfrm>
            <a:off x="4214171" y="4318965"/>
            <a:ext cx="7717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problem: impractical to solve due to the large number of constraints (state space)</a:t>
            </a:r>
          </a:p>
          <a:p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solution: heuristic approximation which considers the average KL divergence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CDBEF07-7151-4804-B766-AA6178658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81" y="5520701"/>
            <a:ext cx="6830378" cy="10574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62B851B-5D56-4242-9385-5A79620B13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8188" y="4908769"/>
            <a:ext cx="5189812" cy="324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33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14BD7D-806D-4F18-9595-0AABB7FE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076856"/>
            <a:ext cx="6858957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64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14BD7D-806D-4F18-9595-0AABB7FE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076856"/>
            <a:ext cx="6858957" cy="1257475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66D4B16-346E-40FB-B33A-F2B81CDBE4B4}"/>
              </a:ext>
            </a:extLst>
          </p:cNvPr>
          <p:cNvCxnSpPr>
            <a:cxnSpLocks/>
          </p:cNvCxnSpPr>
          <p:nvPr/>
        </p:nvCxnSpPr>
        <p:spPr>
          <a:xfrm>
            <a:off x="2306792" y="1638580"/>
            <a:ext cx="137770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8092580-B31C-4CB5-96FA-C4425DC2E710}"/>
              </a:ext>
            </a:extLst>
          </p:cNvPr>
          <p:cNvGrpSpPr/>
          <p:nvPr/>
        </p:nvGrpSpPr>
        <p:grpSpPr>
          <a:xfrm>
            <a:off x="1107141" y="2766066"/>
            <a:ext cx="5728447" cy="663389"/>
            <a:chOff x="999564" y="2934796"/>
            <a:chExt cx="5728447" cy="663389"/>
          </a:xfrm>
        </p:grpSpPr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5B1FF6C1-83B8-40D2-920F-CBFB86B5D636}"/>
                </a:ext>
              </a:extLst>
            </p:cNvPr>
            <p:cNvCxnSpPr>
              <a:cxnSpLocks/>
            </p:cNvCxnSpPr>
            <p:nvPr/>
          </p:nvCxnSpPr>
          <p:spPr>
            <a:xfrm>
              <a:off x="3411070" y="3244079"/>
              <a:ext cx="788894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88B6EFA-2AF9-457A-B4E0-DDDF07920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0773" y="3072605"/>
              <a:ext cx="1991003" cy="34294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CDEB7D6-BE24-4E93-AB4A-D1FE84203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79258" y="3077087"/>
              <a:ext cx="2095792" cy="38105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56BDE93-0C74-46B3-9AB4-56CC460A0A7A}"/>
                </a:ext>
              </a:extLst>
            </p:cNvPr>
            <p:cNvSpPr/>
            <p:nvPr/>
          </p:nvSpPr>
          <p:spPr>
            <a:xfrm>
              <a:off x="999564" y="2934796"/>
              <a:ext cx="5728447" cy="66338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1815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14BD7D-806D-4F18-9595-0AABB7FE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076856"/>
            <a:ext cx="6858957" cy="1257475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66D4B16-346E-40FB-B33A-F2B81CDBE4B4}"/>
              </a:ext>
            </a:extLst>
          </p:cNvPr>
          <p:cNvCxnSpPr>
            <a:cxnSpLocks/>
          </p:cNvCxnSpPr>
          <p:nvPr/>
        </p:nvCxnSpPr>
        <p:spPr>
          <a:xfrm>
            <a:off x="5005168" y="1638580"/>
            <a:ext cx="137770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70F1668-299B-440B-83E3-58B27B63251C}"/>
              </a:ext>
            </a:extLst>
          </p:cNvPr>
          <p:cNvGrpSpPr/>
          <p:nvPr/>
        </p:nvGrpSpPr>
        <p:grpSpPr>
          <a:xfrm>
            <a:off x="2416464" y="2766066"/>
            <a:ext cx="3101790" cy="663389"/>
            <a:chOff x="2420470" y="2766066"/>
            <a:chExt cx="3101790" cy="66338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B8092580-B31C-4CB5-96FA-C4425DC2E710}"/>
                </a:ext>
              </a:extLst>
            </p:cNvPr>
            <p:cNvGrpSpPr/>
            <p:nvPr/>
          </p:nvGrpSpPr>
          <p:grpSpPr>
            <a:xfrm>
              <a:off x="2420470" y="2766066"/>
              <a:ext cx="3101790" cy="663389"/>
              <a:chOff x="2312893" y="2934796"/>
              <a:chExt cx="3101790" cy="663389"/>
            </a:xfrm>
          </p:grpSpPr>
          <p:cxnSp>
            <p:nvCxnSpPr>
              <p:cNvPr id="8" name="직선 화살표 연결선 7">
                <a:extLst>
                  <a:ext uri="{FF2B5EF4-FFF2-40B4-BE49-F238E27FC236}">
                    <a16:creationId xmlns:a16="http://schemas.microsoft.com/office/drawing/2014/main" id="{5B1FF6C1-83B8-40D2-920F-CBFB86B5D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1070" y="3244079"/>
                <a:ext cx="788894" cy="0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156BDE93-0C74-46B3-9AB4-56CC460A0A7A}"/>
                  </a:ext>
                </a:extLst>
              </p:cNvPr>
              <p:cNvSpPr/>
              <p:nvPr/>
            </p:nvSpPr>
            <p:spPr>
              <a:xfrm>
                <a:off x="2312893" y="2934796"/>
                <a:ext cx="3101790" cy="66338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557A8F02-2E83-44DD-9D90-4912B2461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74519" y="2954865"/>
              <a:ext cx="638264" cy="285790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646B509-2301-4AAA-A682-5C0F008E2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13405" y="2893395"/>
              <a:ext cx="619211" cy="3620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95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14BD7D-806D-4F18-9595-0AABB7FE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076856"/>
            <a:ext cx="6858957" cy="1257475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66D4B16-346E-40FB-B33A-F2B81CDBE4B4}"/>
              </a:ext>
            </a:extLst>
          </p:cNvPr>
          <p:cNvCxnSpPr>
            <a:cxnSpLocks/>
          </p:cNvCxnSpPr>
          <p:nvPr/>
        </p:nvCxnSpPr>
        <p:spPr>
          <a:xfrm>
            <a:off x="3614684" y="1638580"/>
            <a:ext cx="54494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A7D021F2-F632-44B7-AD01-0A6E3EB24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98" y="3033657"/>
            <a:ext cx="6820852" cy="79068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322228-FBF7-49D4-AD55-38BB43C94737}"/>
              </a:ext>
            </a:extLst>
          </p:cNvPr>
          <p:cNvSpPr/>
          <p:nvPr/>
        </p:nvSpPr>
        <p:spPr>
          <a:xfrm>
            <a:off x="650416" y="2896055"/>
            <a:ext cx="7077159" cy="104096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7E2F53-F918-43FE-B796-F9FAD3621849}"/>
              </a:ext>
            </a:extLst>
          </p:cNvPr>
          <p:cNvSpPr txBox="1"/>
          <p:nvPr/>
        </p:nvSpPr>
        <p:spPr>
          <a:xfrm>
            <a:off x="650416" y="3937021"/>
            <a:ext cx="5380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* q denote the sampling distribution.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1FBE73-FA49-4998-A156-ED51653968E4}"/>
              </a:ext>
            </a:extLst>
          </p:cNvPr>
          <p:cNvSpPr txBox="1"/>
          <p:nvPr/>
        </p:nvSpPr>
        <p:spPr>
          <a:xfrm>
            <a:off x="650416" y="2557501"/>
            <a:ext cx="53805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sampling estimator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920D6B-F1A6-40BE-890C-CF2CA276EA9D}"/>
              </a:ext>
            </a:extLst>
          </p:cNvPr>
          <p:cNvSpPr/>
          <p:nvPr/>
        </p:nvSpPr>
        <p:spPr>
          <a:xfrm>
            <a:off x="673190" y="4244798"/>
            <a:ext cx="26675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(can</a:t>
            </a:r>
            <a:r>
              <a:rPr lang="ko-KR" altLang="en-US" sz="12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ko-KR" sz="1200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recycle the sample from old policy)</a:t>
            </a:r>
          </a:p>
        </p:txBody>
      </p:sp>
    </p:spTree>
    <p:extLst>
      <p:ext uri="{BB962C8B-B14F-4D97-AF65-F5344CB8AC3E}">
        <p14:creationId xmlns:p14="http://schemas.microsoft.com/office/powerpoint/2010/main" val="3188331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14BD7D-806D-4F18-9595-0AABB7FE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076856"/>
            <a:ext cx="6858957" cy="1257475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B1FF6C1-83B8-40D2-920F-CBFB86B5D636}"/>
              </a:ext>
            </a:extLst>
          </p:cNvPr>
          <p:cNvCxnSpPr>
            <a:cxnSpLocks/>
          </p:cNvCxnSpPr>
          <p:nvPr/>
        </p:nvCxnSpPr>
        <p:spPr>
          <a:xfrm>
            <a:off x="3944470" y="2437604"/>
            <a:ext cx="0" cy="6462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5D0FC39B-0A52-429B-99EC-97A527D67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44" y="3278200"/>
            <a:ext cx="6820852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57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14BD7D-806D-4F18-9595-0AABB7FE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1" y="1076856"/>
            <a:ext cx="6858957" cy="1257475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B1FF6C1-83B8-40D2-920F-CBFB86B5D636}"/>
              </a:ext>
            </a:extLst>
          </p:cNvPr>
          <p:cNvCxnSpPr>
            <a:cxnSpLocks/>
          </p:cNvCxnSpPr>
          <p:nvPr/>
        </p:nvCxnSpPr>
        <p:spPr>
          <a:xfrm>
            <a:off x="3944470" y="2437604"/>
            <a:ext cx="0" cy="6462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5D0FC39B-0A52-429B-99EC-97A527D67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44" y="3278200"/>
            <a:ext cx="6820852" cy="1228896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3C0526C-7061-4A2F-8979-8A3A4924C2F5}"/>
              </a:ext>
            </a:extLst>
          </p:cNvPr>
          <p:cNvCxnSpPr>
            <a:cxnSpLocks/>
          </p:cNvCxnSpPr>
          <p:nvPr/>
        </p:nvCxnSpPr>
        <p:spPr>
          <a:xfrm>
            <a:off x="3944470" y="4678781"/>
            <a:ext cx="0" cy="64625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F31AF6-AEB5-4081-88C6-5D2B602D4A90}"/>
              </a:ext>
            </a:extLst>
          </p:cNvPr>
          <p:cNvSpPr/>
          <p:nvPr/>
        </p:nvSpPr>
        <p:spPr>
          <a:xfrm>
            <a:off x="534044" y="5450965"/>
            <a:ext cx="6400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Now, we need to replace the expectations by sample averages and</a:t>
            </a:r>
            <a:b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	           replace the Q value by an empirical estimate.</a:t>
            </a:r>
          </a:p>
        </p:txBody>
      </p:sp>
    </p:spTree>
    <p:extLst>
      <p:ext uri="{BB962C8B-B14F-4D97-AF65-F5344CB8AC3E}">
        <p14:creationId xmlns:p14="http://schemas.microsoft.com/office/powerpoint/2010/main" val="2172262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0FC39B-0A52-429B-99EC-97A527D67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4" y="1101421"/>
            <a:ext cx="3354390" cy="60435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5C99CA6-0097-4BD9-8E52-6622F623A8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4756"/>
          <a:stretch/>
        </p:blipFill>
        <p:spPr>
          <a:xfrm>
            <a:off x="534044" y="2789265"/>
            <a:ext cx="3154945" cy="224821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85A01C-6AA7-417A-AE90-549313A97E3F}"/>
              </a:ext>
            </a:extLst>
          </p:cNvPr>
          <p:cNvSpPr/>
          <p:nvPr/>
        </p:nvSpPr>
        <p:spPr>
          <a:xfrm>
            <a:off x="3888434" y="2789265"/>
            <a:ext cx="49389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[single path]</a:t>
            </a:r>
          </a:p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based on sampling individual trajectories.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B7A1D0-67F4-443C-ADF8-F151CB6FB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8081" y="3881977"/>
            <a:ext cx="1076475" cy="295316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8809CDFF-1C25-4C5B-A3C2-AE0D93BED1EE}"/>
              </a:ext>
            </a:extLst>
          </p:cNvPr>
          <p:cNvGrpSpPr/>
          <p:nvPr/>
        </p:nvGrpSpPr>
        <p:grpSpPr>
          <a:xfrm>
            <a:off x="3978081" y="4314323"/>
            <a:ext cx="2379814" cy="314369"/>
            <a:chOff x="3978081" y="3713688"/>
            <a:chExt cx="2379814" cy="314369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365FB68-FD58-4D7C-A943-9FD0CEFD7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78081" y="3727978"/>
              <a:ext cx="1095528" cy="28579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E7EF9CB-297F-4DE4-8933-D8E1816D1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5683" y="3713688"/>
              <a:ext cx="1162212" cy="314369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03EAA45-9D06-490D-9033-77DCA42E11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27" y="4309841"/>
            <a:ext cx="3953427" cy="285790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8CA7CE8-2354-4A65-9004-ACB7BEE7A2DC}"/>
              </a:ext>
            </a:extLst>
          </p:cNvPr>
          <p:cNvCxnSpPr>
            <a:cxnSpLocks/>
          </p:cNvCxnSpPr>
          <p:nvPr/>
        </p:nvCxnSpPr>
        <p:spPr>
          <a:xfrm>
            <a:off x="6508376" y="4463627"/>
            <a:ext cx="3406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61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0FC39B-0A52-429B-99EC-97A527D67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4" y="1101421"/>
            <a:ext cx="3354390" cy="60435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85A01C-6AA7-417A-AE90-549313A97E3F}"/>
              </a:ext>
            </a:extLst>
          </p:cNvPr>
          <p:cNvSpPr/>
          <p:nvPr/>
        </p:nvSpPr>
        <p:spPr>
          <a:xfrm>
            <a:off x="4329317" y="1887435"/>
            <a:ext cx="66434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[vine]</a:t>
            </a:r>
          </a:p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constructing a rollout set and then</a:t>
            </a:r>
          </a:p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performing multiple actions from each state in rollout set.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B7A1D0-67F4-443C-ADF8-F151CB6FB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964" y="3165639"/>
            <a:ext cx="1076475" cy="295316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8CA7CE8-2354-4A65-9004-ACB7BEE7A2DC}"/>
              </a:ext>
            </a:extLst>
          </p:cNvPr>
          <p:cNvCxnSpPr>
            <a:cxnSpLocks/>
          </p:cNvCxnSpPr>
          <p:nvPr/>
        </p:nvCxnSpPr>
        <p:spPr>
          <a:xfrm>
            <a:off x="5029481" y="3756652"/>
            <a:ext cx="3406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B7EE594A-B05E-4487-AFA1-CEADE2FC5C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5574"/>
          <a:stretch/>
        </p:blipFill>
        <p:spPr>
          <a:xfrm>
            <a:off x="534044" y="1856040"/>
            <a:ext cx="3795273" cy="224821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D111BE1-0497-42AF-A362-18DF60DF1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8964" y="3618520"/>
            <a:ext cx="390580" cy="276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8D692F-6C77-4583-BD49-C0AA6E9897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7686" y="3632809"/>
            <a:ext cx="1657581" cy="2476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E041CC5-6FBC-477D-AE9F-FE02F1B3FD9D}"/>
              </a:ext>
            </a:extLst>
          </p:cNvPr>
          <p:cNvSpPr/>
          <p:nvPr/>
        </p:nvSpPr>
        <p:spPr>
          <a:xfrm>
            <a:off x="7226421" y="3571985"/>
            <a:ext cx="1272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‘rollout set’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646A2F-C0BC-4D3F-B704-9CC4E606F3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64" y="4052349"/>
            <a:ext cx="1886213" cy="36200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513147-D51F-4EAD-8A7A-39D47AA39FCE}"/>
              </a:ext>
            </a:extLst>
          </p:cNvPr>
          <p:cNvSpPr/>
          <p:nvPr/>
        </p:nvSpPr>
        <p:spPr>
          <a:xfrm>
            <a:off x="6357622" y="4056206"/>
            <a:ext cx="3253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sample k actions from each state.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380C20-D742-4885-99C5-14E03D1101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439" y="4471888"/>
            <a:ext cx="1438476" cy="36200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C05F2B-C37D-4375-B0BF-ED5180F478CD}"/>
              </a:ext>
            </a:extLst>
          </p:cNvPr>
          <p:cNvSpPr/>
          <p:nvPr/>
        </p:nvSpPr>
        <p:spPr>
          <a:xfrm>
            <a:off x="5370140" y="4821078"/>
            <a:ext cx="6449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(or any choice of distribution which can achieve better exploration)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F4D676-EF16-4950-9C6F-188A491A25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964" y="5358599"/>
            <a:ext cx="1638529" cy="36200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CC3E27-B1CC-434C-B48D-CDD19B903F33}"/>
              </a:ext>
            </a:extLst>
          </p:cNvPr>
          <p:cNvSpPr/>
          <p:nvPr/>
        </p:nvSpPr>
        <p:spPr>
          <a:xfrm>
            <a:off x="6095998" y="5401284"/>
            <a:ext cx="3234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estimate by performing a rollout.</a:t>
            </a:r>
          </a:p>
        </p:txBody>
      </p:sp>
    </p:spTree>
    <p:extLst>
      <p:ext uri="{BB962C8B-B14F-4D97-AF65-F5344CB8AC3E}">
        <p14:creationId xmlns:p14="http://schemas.microsoft.com/office/powerpoint/2010/main" val="4257519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098" name="Picture 2" descr="https://blog.kakaocdn.net/dn/dj98OV/btrtXyg2hyl/Q67DVvUKz112aVPY03lguK/img.png">
            <a:extLst>
              <a:ext uri="{FF2B5EF4-FFF2-40B4-BE49-F238E27FC236}">
                <a16:creationId xmlns:a16="http://schemas.microsoft.com/office/drawing/2014/main" id="{5F51848C-9013-419B-8B0C-892C007A7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381" y="1330250"/>
            <a:ext cx="5345234" cy="5211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254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0FC39B-0A52-429B-99EC-97A527D67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4" y="1101421"/>
            <a:ext cx="3354390" cy="60435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85A01C-6AA7-417A-AE90-549313A97E3F}"/>
              </a:ext>
            </a:extLst>
          </p:cNvPr>
          <p:cNvSpPr/>
          <p:nvPr/>
        </p:nvSpPr>
        <p:spPr>
          <a:xfrm>
            <a:off x="4329317" y="1887435"/>
            <a:ext cx="66434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[vine]</a:t>
            </a:r>
          </a:p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constructing a rollout set and then</a:t>
            </a:r>
          </a:p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performing multiple actions from each state in rollout set.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B7A1D0-67F4-443C-ADF8-F151CB6FB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964" y="3165639"/>
            <a:ext cx="1076475" cy="295316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8CA7CE8-2354-4A65-9004-ACB7BEE7A2DC}"/>
              </a:ext>
            </a:extLst>
          </p:cNvPr>
          <p:cNvCxnSpPr>
            <a:cxnSpLocks/>
          </p:cNvCxnSpPr>
          <p:nvPr/>
        </p:nvCxnSpPr>
        <p:spPr>
          <a:xfrm>
            <a:off x="5029481" y="3756652"/>
            <a:ext cx="3406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B7EE594A-B05E-4487-AFA1-CEADE2FC5C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5574"/>
          <a:stretch/>
        </p:blipFill>
        <p:spPr>
          <a:xfrm>
            <a:off x="534044" y="1856040"/>
            <a:ext cx="3795273" cy="224821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D111BE1-0497-42AF-A362-18DF60DF1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8964" y="3618520"/>
            <a:ext cx="390580" cy="276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8D692F-6C77-4583-BD49-C0AA6E9897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7686" y="3632809"/>
            <a:ext cx="1657581" cy="2476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E041CC5-6FBC-477D-AE9F-FE02F1B3FD9D}"/>
              </a:ext>
            </a:extLst>
          </p:cNvPr>
          <p:cNvSpPr/>
          <p:nvPr/>
        </p:nvSpPr>
        <p:spPr>
          <a:xfrm>
            <a:off x="7226421" y="3571985"/>
            <a:ext cx="1272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‘rollout set’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646A2F-C0BC-4D3F-B704-9CC4E606F3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64" y="4052349"/>
            <a:ext cx="1886213" cy="36200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513147-D51F-4EAD-8A7A-39D47AA39FCE}"/>
              </a:ext>
            </a:extLst>
          </p:cNvPr>
          <p:cNvSpPr/>
          <p:nvPr/>
        </p:nvSpPr>
        <p:spPr>
          <a:xfrm>
            <a:off x="6357622" y="4056206"/>
            <a:ext cx="3253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sample k actions from each state.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380C20-D742-4885-99C5-14E03D1101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439" y="4471888"/>
            <a:ext cx="1438476" cy="36200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C05F2B-C37D-4375-B0BF-ED5180F478CD}"/>
              </a:ext>
            </a:extLst>
          </p:cNvPr>
          <p:cNvSpPr/>
          <p:nvPr/>
        </p:nvSpPr>
        <p:spPr>
          <a:xfrm>
            <a:off x="5370140" y="4821078"/>
            <a:ext cx="6449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(or any choice of distribution which can achieve better exploration)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F4D676-EF16-4950-9C6F-188A491A25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964" y="5358599"/>
            <a:ext cx="1638529" cy="36200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CC3E27-B1CC-434C-B48D-CDD19B903F33}"/>
              </a:ext>
            </a:extLst>
          </p:cNvPr>
          <p:cNvSpPr/>
          <p:nvPr/>
        </p:nvSpPr>
        <p:spPr>
          <a:xfrm>
            <a:off x="6095998" y="5401284"/>
            <a:ext cx="3234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estimate by performing a rollout.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BF05A4-11C7-4F6F-9416-99EF220F8F2C}"/>
              </a:ext>
            </a:extLst>
          </p:cNvPr>
          <p:cNvSpPr/>
          <p:nvPr/>
        </p:nvSpPr>
        <p:spPr>
          <a:xfrm>
            <a:off x="534044" y="5818767"/>
            <a:ext cx="99725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[advantage]</a:t>
            </a:r>
          </a:p>
          <a:p>
            <a:r>
              <a:rPr lang="en-US" altLang="ko-KR">
                <a:latin typeface="times" panose="02020603050405020304" pitchFamily="18" charset="0"/>
                <a:cs typeface="times" panose="02020603050405020304" pitchFamily="18" charset="0"/>
              </a:rPr>
              <a:t>local estimate of the objective has much lower variance given the same number of Q-value samples in the surrogate objective. </a:t>
            </a:r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(better estimates of the advantage values)</a:t>
            </a:r>
          </a:p>
        </p:txBody>
      </p:sp>
    </p:spTree>
    <p:extLst>
      <p:ext uri="{BB962C8B-B14F-4D97-AF65-F5344CB8AC3E}">
        <p14:creationId xmlns:p14="http://schemas.microsoft.com/office/powerpoint/2010/main" val="2105519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4. Sample-based estimation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D0FC39B-0A52-429B-99EC-97A527D67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44" y="1101421"/>
            <a:ext cx="3354390" cy="60435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85A01C-6AA7-417A-AE90-549313A97E3F}"/>
              </a:ext>
            </a:extLst>
          </p:cNvPr>
          <p:cNvSpPr/>
          <p:nvPr/>
        </p:nvSpPr>
        <p:spPr>
          <a:xfrm>
            <a:off x="4329317" y="1887435"/>
            <a:ext cx="66434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[vine]</a:t>
            </a:r>
          </a:p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constructing a rollout set and then</a:t>
            </a:r>
          </a:p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performing multiple actions from each state in rollout set.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B7A1D0-67F4-443C-ADF8-F151CB6FB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964" y="3165639"/>
            <a:ext cx="1076475" cy="295316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8CA7CE8-2354-4A65-9004-ACB7BEE7A2DC}"/>
              </a:ext>
            </a:extLst>
          </p:cNvPr>
          <p:cNvCxnSpPr>
            <a:cxnSpLocks/>
          </p:cNvCxnSpPr>
          <p:nvPr/>
        </p:nvCxnSpPr>
        <p:spPr>
          <a:xfrm>
            <a:off x="5029481" y="3756652"/>
            <a:ext cx="34065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B7EE594A-B05E-4487-AFA1-CEADE2FC5C9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5574"/>
          <a:stretch/>
        </p:blipFill>
        <p:spPr>
          <a:xfrm>
            <a:off x="534044" y="1856040"/>
            <a:ext cx="3795273" cy="224821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D111BE1-0497-42AF-A362-18DF60DF12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8964" y="3618520"/>
            <a:ext cx="390580" cy="276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F8D692F-6C77-4583-BD49-C0AA6E9897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7686" y="3632809"/>
            <a:ext cx="1657581" cy="24768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E041CC5-6FBC-477D-AE9F-FE02F1B3FD9D}"/>
              </a:ext>
            </a:extLst>
          </p:cNvPr>
          <p:cNvSpPr/>
          <p:nvPr/>
        </p:nvSpPr>
        <p:spPr>
          <a:xfrm>
            <a:off x="7226421" y="3571985"/>
            <a:ext cx="1272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‘rollout set’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6646A2F-C0BC-4D3F-B704-9CC4E606F3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64" y="4052349"/>
            <a:ext cx="1886213" cy="362001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513147-D51F-4EAD-8A7A-39D47AA39FCE}"/>
              </a:ext>
            </a:extLst>
          </p:cNvPr>
          <p:cNvSpPr/>
          <p:nvPr/>
        </p:nvSpPr>
        <p:spPr>
          <a:xfrm>
            <a:off x="6357622" y="4056206"/>
            <a:ext cx="3253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sample k actions from each state.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380C20-D742-4885-99C5-14E03D1101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439" y="4471888"/>
            <a:ext cx="1438476" cy="36200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C05F2B-C37D-4375-B0BF-ED5180F478CD}"/>
              </a:ext>
            </a:extLst>
          </p:cNvPr>
          <p:cNvSpPr/>
          <p:nvPr/>
        </p:nvSpPr>
        <p:spPr>
          <a:xfrm>
            <a:off x="5370140" y="4821078"/>
            <a:ext cx="6449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(or any choice of distribution which can achieve better exploration)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DF4D676-EF16-4950-9C6F-188A491A25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964" y="5358599"/>
            <a:ext cx="1638529" cy="36200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CC3E27-B1CC-434C-B48D-CDD19B903F33}"/>
              </a:ext>
            </a:extLst>
          </p:cNvPr>
          <p:cNvSpPr/>
          <p:nvPr/>
        </p:nvSpPr>
        <p:spPr>
          <a:xfrm>
            <a:off x="6095998" y="5401284"/>
            <a:ext cx="3234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i="1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estimate by performing a rollout.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0BF05A4-11C7-4F6F-9416-99EF220F8F2C}"/>
              </a:ext>
            </a:extLst>
          </p:cNvPr>
          <p:cNvSpPr/>
          <p:nvPr/>
        </p:nvSpPr>
        <p:spPr>
          <a:xfrm>
            <a:off x="534044" y="5818767"/>
            <a:ext cx="99725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>
                <a:latin typeface="times" panose="02020603050405020304" pitchFamily="18" charset="0"/>
                <a:cs typeface="times" panose="02020603050405020304" pitchFamily="18" charset="0"/>
              </a:rPr>
              <a:t>[disadvantage]</a:t>
            </a:r>
          </a:p>
          <a:p>
            <a:r>
              <a:rPr lang="en-US" altLang="ko-KR">
                <a:latin typeface="times" panose="02020603050405020304" pitchFamily="18" charset="0"/>
                <a:cs typeface="times" panose="02020603050405020304" pitchFamily="18" charset="0"/>
              </a:rPr>
              <a:t>more calls to the simulator for each of these advantage estimates</a:t>
            </a:r>
            <a:endParaRPr lang="en-US" altLang="ko-KR" i="1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8734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5. Practical Algorithm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046F4C-4DBA-4056-BE79-171F795B0B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830"/>
          <a:stretch/>
        </p:blipFill>
        <p:spPr>
          <a:xfrm>
            <a:off x="3384174" y="2317257"/>
            <a:ext cx="5423648" cy="222348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2FF806-73B2-4C3E-A85B-CFF56DBD03BD}"/>
              </a:ext>
            </a:extLst>
          </p:cNvPr>
          <p:cNvSpPr/>
          <p:nvPr/>
        </p:nvSpPr>
        <p:spPr>
          <a:xfrm>
            <a:off x="651308" y="5880856"/>
            <a:ext cx="80980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i="1">
                <a:solidFill>
                  <a:srgbClr val="C00000"/>
                </a:solidFill>
              </a:rPr>
              <a:t>* Conjugate gradient method: </a:t>
            </a:r>
            <a:br>
              <a:rPr lang="en-US" altLang="ko-KR" sz="1200" i="1">
                <a:solidFill>
                  <a:srgbClr val="C00000"/>
                </a:solidFill>
              </a:rPr>
            </a:br>
            <a:r>
              <a:rPr lang="ko-KR" altLang="en-US" sz="1200" i="1">
                <a:solidFill>
                  <a:srgbClr val="C00000"/>
                </a:solidFill>
              </a:rPr>
              <a:t>결과적으로 </a:t>
            </a:r>
            <a:r>
              <a:rPr lang="en-US" altLang="ko-KR" sz="1200" i="1">
                <a:solidFill>
                  <a:srgbClr val="C00000"/>
                </a:solidFill>
              </a:rPr>
              <a:t>objective</a:t>
            </a:r>
            <a:r>
              <a:rPr lang="ko-KR" altLang="en-US" sz="1200" i="1">
                <a:solidFill>
                  <a:srgbClr val="C00000"/>
                </a:solidFill>
              </a:rPr>
              <a:t>는 </a:t>
            </a:r>
            <a:r>
              <a:rPr lang="en-US" altLang="ko-KR" sz="1200" i="1">
                <a:solidFill>
                  <a:srgbClr val="C00000"/>
                </a:solidFill>
              </a:rPr>
              <a:t>1</a:t>
            </a:r>
            <a:r>
              <a:rPr lang="ko-KR" altLang="en-US" sz="1200" i="1">
                <a:solidFill>
                  <a:srgbClr val="C00000"/>
                </a:solidFill>
              </a:rPr>
              <a:t>차근사하고 </a:t>
            </a:r>
            <a:r>
              <a:rPr lang="en-US" altLang="ko-KR" sz="1200" i="1">
                <a:solidFill>
                  <a:srgbClr val="C00000"/>
                </a:solidFill>
              </a:rPr>
              <a:t>constraint</a:t>
            </a:r>
            <a:r>
              <a:rPr lang="ko-KR" altLang="en-US" sz="1200" i="1">
                <a:solidFill>
                  <a:srgbClr val="C00000"/>
                </a:solidFill>
              </a:rPr>
              <a:t>는 </a:t>
            </a:r>
            <a:r>
              <a:rPr lang="en-US" altLang="ko-KR" sz="1200" i="1">
                <a:solidFill>
                  <a:srgbClr val="C00000"/>
                </a:solidFill>
              </a:rPr>
              <a:t>2</a:t>
            </a:r>
            <a:r>
              <a:rPr lang="ko-KR" altLang="en-US" sz="1200" i="1">
                <a:solidFill>
                  <a:srgbClr val="C00000"/>
                </a:solidFill>
              </a:rPr>
              <a:t>차근사</a:t>
            </a:r>
            <a:r>
              <a:rPr lang="en-US" altLang="ko-KR" sz="1200" i="1">
                <a:solidFill>
                  <a:srgbClr val="C00000"/>
                </a:solidFill>
              </a:rPr>
              <a:t>(Hessian)</a:t>
            </a:r>
            <a:r>
              <a:rPr lang="ko-KR" altLang="en-US" sz="1200" i="1">
                <a:solidFill>
                  <a:srgbClr val="C00000"/>
                </a:solidFill>
              </a:rPr>
              <a:t>하여 최적화 문제를 풀게 된다</a:t>
            </a:r>
            <a:r>
              <a:rPr lang="en-US" altLang="ko-KR" sz="1200" i="1">
                <a:solidFill>
                  <a:srgbClr val="C00000"/>
                </a:solidFill>
              </a:rPr>
              <a:t>.</a:t>
            </a:r>
            <a:endParaRPr lang="ko-KR" altLang="en-US" sz="1200" i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534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6B57D8-8349-4962-B206-E64644358C1A}"/>
              </a:ext>
            </a:extLst>
          </p:cNvPr>
          <p:cNvSpPr/>
          <p:nvPr/>
        </p:nvSpPr>
        <p:spPr>
          <a:xfrm>
            <a:off x="510988" y="2582614"/>
            <a:ext cx="1117002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Trust Region Policy Optimization</a:t>
            </a:r>
          </a:p>
          <a:p>
            <a:pPr algn="ctr"/>
            <a:endParaRPr lang="en-US" altLang="ko-KR" sz="32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ctr"/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24.08.16</a:t>
            </a:r>
          </a:p>
          <a:p>
            <a:pPr algn="ctr"/>
            <a:r>
              <a:rPr lang="en-US" altLang="ko-KR" sz="2000">
                <a:latin typeface="times" panose="02020603050405020304" pitchFamily="18" charset="0"/>
                <a:cs typeface="times" panose="02020603050405020304" pitchFamily="18" charset="0"/>
              </a:rPr>
              <a:t>Kangyeon Kim</a:t>
            </a:r>
            <a:endParaRPr lang="ko-KR" altLang="en-US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ED9F87C-BC37-40C3-AB0E-F1014B6AD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623" y="5352490"/>
            <a:ext cx="2348754" cy="13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16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48DF61C-EF40-4EEC-AB4E-9995B6630D11}"/>
              </a:ext>
            </a:extLst>
          </p:cNvPr>
          <p:cNvSpPr txBox="1"/>
          <p:nvPr/>
        </p:nvSpPr>
        <p:spPr>
          <a:xfrm>
            <a:off x="537880" y="1839834"/>
            <a:ext cx="111162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High variance</a:t>
            </a:r>
          </a:p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Delayed reward problem</a:t>
            </a:r>
          </a:p>
          <a:p>
            <a:pPr marL="285750" indent="-285750" algn="just">
              <a:buFontTx/>
              <a:buChar char="-"/>
            </a:pP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Sample inefficiency</a:t>
            </a:r>
          </a:p>
          <a:p>
            <a:pPr marL="285750" indent="-285750" algn="just">
              <a:buFontTx/>
              <a:buChar char="-"/>
            </a:pPr>
            <a:r>
              <a:rPr lang="en-US" altLang="ko-KR" sz="2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highly affects training</a:t>
            </a:r>
          </a:p>
          <a:p>
            <a:pPr algn="just"/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ko-KR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35924F8-A436-4C83-9B10-E200639367FC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D4904-A953-4827-ACE8-CD7C1599369E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Appendix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2D9797-926A-44A4-AC96-5562375F26E1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Motivation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477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3ECA96-DD09-4A7B-932D-6C4579B69354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1F2EF-8839-4AA9-947B-37E5B07E7827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Appendix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FB189-1D51-422F-B2DF-CE34D4EEF4D4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[Proof of Lemma 1]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0690CA6-9A76-4AD4-8DB0-18FF54CBE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948" y="1621921"/>
            <a:ext cx="8200104" cy="499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384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3ECA96-DD09-4A7B-932D-6C4579B69354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1F2EF-8839-4AA9-947B-37E5B07E7827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Appendix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FB189-1D51-422F-B2DF-CE34D4EEF4D4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[Proof of Theorem 1]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2DBBA8F-749E-407C-BE17-DE206138E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706" y="1708639"/>
            <a:ext cx="9502588" cy="4297878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8C587DF-A651-4CCF-87E9-EA2EE22794E3}"/>
              </a:ext>
            </a:extLst>
          </p:cNvPr>
          <p:cNvCxnSpPr/>
          <p:nvPr/>
        </p:nvCxnSpPr>
        <p:spPr>
          <a:xfrm>
            <a:off x="7539318" y="5056094"/>
            <a:ext cx="3307976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32C19C-6738-447E-9001-F011982D3282}"/>
              </a:ext>
            </a:extLst>
          </p:cNvPr>
          <p:cNvCxnSpPr>
            <a:cxnSpLocks/>
          </p:cNvCxnSpPr>
          <p:nvPr/>
        </p:nvCxnSpPr>
        <p:spPr>
          <a:xfrm>
            <a:off x="1407459" y="5271247"/>
            <a:ext cx="943983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EA53F25-2842-4F57-A8FF-A4E6519C0BB2}"/>
              </a:ext>
            </a:extLst>
          </p:cNvPr>
          <p:cNvCxnSpPr>
            <a:cxnSpLocks/>
          </p:cNvCxnSpPr>
          <p:nvPr/>
        </p:nvCxnSpPr>
        <p:spPr>
          <a:xfrm>
            <a:off x="1407459" y="5513294"/>
            <a:ext cx="155089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428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3ECA96-DD09-4A7B-932D-6C4579B69354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1F2EF-8839-4AA9-947B-37E5B07E7827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Appendix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FB189-1D51-422F-B2DF-CE34D4EEF4D4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[Proof of Theorem 1]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6F4E498-0B30-48E9-8629-29DE38AD2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553" y="1647962"/>
            <a:ext cx="8408894" cy="491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57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3ECA96-DD09-4A7B-932D-6C4579B69354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1F2EF-8839-4AA9-947B-37E5B07E7827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Appendix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FB189-1D51-422F-B2DF-CE34D4EEF4D4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[Proof of Theorem 1]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9869E91-7204-467B-8DDF-4383D2E70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669" y="1539968"/>
            <a:ext cx="7260662" cy="531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20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C76DCAF-C2B9-4AE9-8B3F-53748445B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5246" y="6111689"/>
            <a:ext cx="1326777" cy="74631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3ECA96-DD09-4A7B-932D-6C4579B69354}"/>
              </a:ext>
            </a:extLst>
          </p:cNvPr>
          <p:cNvSpPr/>
          <p:nvPr/>
        </p:nvSpPr>
        <p:spPr>
          <a:xfrm>
            <a:off x="537882" y="905435"/>
            <a:ext cx="11116235" cy="45719"/>
          </a:xfrm>
          <a:prstGeom prst="rect">
            <a:avLst/>
          </a:prstGeom>
          <a:solidFill>
            <a:srgbClr val="2338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1F2EF-8839-4AA9-947B-37E5B07E7827}"/>
              </a:ext>
            </a:extLst>
          </p:cNvPr>
          <p:cNvSpPr txBox="1"/>
          <p:nvPr/>
        </p:nvSpPr>
        <p:spPr>
          <a:xfrm>
            <a:off x="537881" y="320660"/>
            <a:ext cx="11116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>
                <a:latin typeface="times" panose="02020603050405020304" pitchFamily="18" charset="0"/>
                <a:cs typeface="times" panose="02020603050405020304" pitchFamily="18" charset="0"/>
              </a:rPr>
              <a:t>Appendix</a:t>
            </a:r>
            <a:endParaRPr lang="ko-KR" altLang="en-US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7FB189-1D51-422F-B2DF-CE34D4EEF4D4}"/>
              </a:ext>
            </a:extLst>
          </p:cNvPr>
          <p:cNvSpPr txBox="1"/>
          <p:nvPr/>
        </p:nvSpPr>
        <p:spPr>
          <a:xfrm>
            <a:off x="537880" y="1141802"/>
            <a:ext cx="1111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atin typeface="times" panose="02020603050405020304" pitchFamily="18" charset="0"/>
                <a:cs typeface="times" panose="02020603050405020304" pitchFamily="18" charset="0"/>
              </a:rPr>
              <a:t>[Proof of Theorem 1]</a:t>
            </a:r>
            <a:endParaRPr lang="en-US" altLang="ko-KR" sz="2400" i="1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21F59B-74C9-4077-9600-156046640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577" y="1535929"/>
            <a:ext cx="8088845" cy="526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53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16380</TotalTime>
  <Words>1120</Words>
  <Application>Microsoft Office PowerPoint</Application>
  <PresentationFormat>와이드스크린</PresentationFormat>
  <Paragraphs>213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맑은 고딕</vt:lpstr>
      <vt:lpstr>Arial</vt:lpstr>
      <vt:lpstr>Cambria Math</vt:lpstr>
      <vt:lpstr>times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Cislab</dc:creator>
  <cp:lastModifiedBy>김강연</cp:lastModifiedBy>
  <cp:revision>1128</cp:revision>
  <dcterms:created xsi:type="dcterms:W3CDTF">2024-03-20T12:59:50Z</dcterms:created>
  <dcterms:modified xsi:type="dcterms:W3CDTF">2024-08-15T19:32:28Z</dcterms:modified>
</cp:coreProperties>
</file>