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7" r:id="rId2"/>
    <p:sldId id="318" r:id="rId3"/>
    <p:sldId id="260" r:id="rId4"/>
    <p:sldId id="262" r:id="rId5"/>
    <p:sldId id="271" r:id="rId6"/>
    <p:sldId id="276" r:id="rId7"/>
    <p:sldId id="277" r:id="rId8"/>
    <p:sldId id="267" r:id="rId9"/>
    <p:sldId id="279" r:id="rId10"/>
    <p:sldId id="280" r:id="rId11"/>
    <p:sldId id="281" r:id="rId12"/>
    <p:sldId id="284" r:id="rId13"/>
    <p:sldId id="285" r:id="rId14"/>
    <p:sldId id="289" r:id="rId15"/>
    <p:sldId id="286" r:id="rId16"/>
    <p:sldId id="288" r:id="rId17"/>
    <p:sldId id="290" r:id="rId18"/>
    <p:sldId id="291" r:id="rId19"/>
    <p:sldId id="292" r:id="rId20"/>
    <p:sldId id="319" r:id="rId21"/>
    <p:sldId id="320" r:id="rId22"/>
    <p:sldId id="301" r:id="rId23"/>
    <p:sldId id="321" r:id="rId24"/>
    <p:sldId id="304" r:id="rId25"/>
    <p:sldId id="302" r:id="rId26"/>
    <p:sldId id="303" r:id="rId27"/>
    <p:sldId id="305" r:id="rId28"/>
    <p:sldId id="307" r:id="rId29"/>
    <p:sldId id="308" r:id="rId30"/>
    <p:sldId id="309" r:id="rId31"/>
    <p:sldId id="310" r:id="rId32"/>
    <p:sldId id="312" r:id="rId33"/>
    <p:sldId id="311" r:id="rId34"/>
    <p:sldId id="314" r:id="rId35"/>
    <p:sldId id="315" r:id="rId36"/>
    <p:sldId id="298" r:id="rId37"/>
    <p:sldId id="313" r:id="rId38"/>
    <p:sldId id="293" r:id="rId39"/>
    <p:sldId id="297" r:id="rId40"/>
    <p:sldId id="317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3"/>
    <p:restoredTop sz="89430"/>
  </p:normalViewPr>
  <p:slideViewPr>
    <p:cSldViewPr snapToGrid="0">
      <p:cViewPr varScale="1">
        <p:scale>
          <a:sx n="111" d="100"/>
          <a:sy n="111" d="100"/>
        </p:scale>
        <p:origin x="8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3E8A35-E106-C14F-876C-2AABF01ED860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1CE2E-C888-0E46-82F6-08A954B4821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80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15306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반대로 </a:t>
            </a:r>
            <a:r>
              <a:rPr kumimoji="1" lang="en-US" altLang="ko-KR" dirty="0"/>
              <a:t>offline RL</a:t>
            </a:r>
            <a:r>
              <a:rPr kumimoji="1" lang="ko-KR" altLang="en-US" dirty="0"/>
              <a:t>은 실제 환경과의 상호작용 없이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이미 얻어진 큰 데이터셋을 기반으로 학습한다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이때 이 데이터셋을 수집한 </a:t>
            </a:r>
            <a:r>
              <a:rPr kumimoji="1" lang="en-US" altLang="ko-KR" dirty="0"/>
              <a:t>policy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learning</a:t>
            </a:r>
            <a:r>
              <a:rPr kumimoji="1" lang="ko-KR" altLang="en-US" dirty="0"/>
              <a:t>하는 </a:t>
            </a:r>
            <a:r>
              <a:rPr kumimoji="1" lang="en-US" altLang="ko-KR" dirty="0"/>
              <a:t>policy</a:t>
            </a:r>
            <a:r>
              <a:rPr kumimoji="1" lang="ko-KR" altLang="en-US" dirty="0"/>
              <a:t>와 다를 수 있고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아예 </a:t>
            </a:r>
            <a:r>
              <a:rPr kumimoji="1" lang="en-US" altLang="ko-KR" dirty="0"/>
              <a:t>policy </a:t>
            </a:r>
            <a:r>
              <a:rPr kumimoji="1" lang="ko-KR" altLang="en-US" dirty="0"/>
              <a:t>없이 사람이 </a:t>
            </a:r>
            <a:r>
              <a:rPr kumimoji="1" lang="en-US" altLang="ko-KR" dirty="0"/>
              <a:t>action</a:t>
            </a:r>
            <a:r>
              <a:rPr kumimoji="1" lang="ko-KR" altLang="en-US" dirty="0"/>
              <a:t>을 취한 결과일 수도 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따라서 </a:t>
            </a:r>
            <a:r>
              <a:rPr kumimoji="1" lang="en-US" altLang="ko-KR" dirty="0" err="1"/>
              <a:t>pi_beta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learned policy pi</a:t>
            </a:r>
            <a:r>
              <a:rPr kumimoji="1" lang="ko-KR" altLang="en-US" dirty="0"/>
              <a:t>와 다르게 표기한다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3821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 논문에서 해결하고자 하는 주요한 문제인 </a:t>
            </a:r>
            <a:r>
              <a:rPr kumimoji="1" lang="en-US" altLang="ko-KR" dirty="0"/>
              <a:t>distributional shift</a:t>
            </a:r>
            <a:r>
              <a:rPr kumimoji="1" lang="ko-KR" altLang="en-US" dirty="0"/>
              <a:t>는 바로 이 </a:t>
            </a:r>
            <a:r>
              <a:rPr kumimoji="1" lang="en-US" altLang="ko-KR" dirty="0"/>
              <a:t>Pi </a:t>
            </a:r>
            <a:r>
              <a:rPr kumimoji="1" lang="ko-KR" altLang="en-US" dirty="0"/>
              <a:t>와 </a:t>
            </a:r>
            <a:r>
              <a:rPr kumimoji="1" lang="en-US" altLang="ko-KR" dirty="0" err="1"/>
              <a:t>pi_beta</a:t>
            </a:r>
            <a:r>
              <a:rPr kumimoji="1" lang="ko-KR" altLang="en-US" dirty="0"/>
              <a:t>의 차이에서 기인한다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policy</a:t>
            </a:r>
            <a:r>
              <a:rPr kumimoji="1" lang="ko-KR" altLang="en-US" dirty="0"/>
              <a:t> </a:t>
            </a:r>
            <a:r>
              <a:rPr kumimoji="1" lang="en-US" altLang="ko-KR" dirty="0"/>
              <a:t>evaluation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improvement </a:t>
            </a:r>
            <a:r>
              <a:rPr kumimoji="1" lang="ko-KR" altLang="en-US" dirty="0"/>
              <a:t>에서는 그저 </a:t>
            </a:r>
            <a:r>
              <a:rPr kumimoji="1" lang="en-US" altLang="ko-KR" dirty="0"/>
              <a:t>value function Q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maximize</a:t>
            </a:r>
            <a:r>
              <a:rPr kumimoji="1" lang="ko-KR" altLang="en-US" dirty="0"/>
              <a:t>하는 </a:t>
            </a:r>
            <a:r>
              <a:rPr kumimoji="1" lang="en-US" altLang="ko-KR" dirty="0"/>
              <a:t>policy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찾기 때문에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pi_beta</a:t>
            </a:r>
            <a:r>
              <a:rPr kumimoji="1" lang="ko-KR" altLang="en-US" dirty="0"/>
              <a:t>에서 보지 못했던</a:t>
            </a:r>
            <a:r>
              <a:rPr kumimoji="1" lang="en-US" altLang="ko-KR" dirty="0"/>
              <a:t>, </a:t>
            </a:r>
            <a:r>
              <a:rPr kumimoji="1" lang="ko-KR" altLang="en-US" dirty="0"/>
              <a:t>즉 </a:t>
            </a:r>
            <a:r>
              <a:rPr kumimoji="1" lang="en-US" altLang="ko-KR" dirty="0"/>
              <a:t>out-of-distribution action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대해서 높은 </a:t>
            </a:r>
            <a:r>
              <a:rPr kumimoji="1" lang="en-US" altLang="ko-KR" dirty="0"/>
              <a:t>Q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가질 확률이 크고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그렇게 되면 이러한 행동을 선택할 확률이 높아진다</a:t>
            </a:r>
            <a:r>
              <a:rPr kumimoji="1" lang="en-US" altLang="ko-KR" dirty="0"/>
              <a:t>, </a:t>
            </a:r>
            <a:r>
              <a:rPr kumimoji="1" lang="ko-KR" altLang="en-US" dirty="0"/>
              <a:t>즉 편향된다는 것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예를 들어 사람이 직접 돌아다니며 수집한 데이터셋이 있는데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 사람이 선로에 들어간 적이 없다면 선로에 들어가는 행동을</a:t>
            </a:r>
            <a:r>
              <a:rPr kumimoji="1" lang="en-US" altLang="ko-KR" dirty="0"/>
              <a:t> </a:t>
            </a:r>
            <a:r>
              <a:rPr kumimoji="1" lang="ko-KR" altLang="en-US" dirty="0"/>
              <a:t>높은 </a:t>
            </a:r>
            <a:r>
              <a:rPr kumimoji="1" lang="en-US" altLang="ko-KR" dirty="0"/>
              <a:t>Q value</a:t>
            </a:r>
            <a:r>
              <a:rPr kumimoji="1" lang="ko-KR" altLang="en-US" dirty="0"/>
              <a:t>로 낙관적으로 평가할 수 있고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잘못된 </a:t>
            </a:r>
            <a:r>
              <a:rPr kumimoji="1" lang="en-US" altLang="ko-KR" dirty="0"/>
              <a:t>policy </a:t>
            </a:r>
            <a:r>
              <a:rPr kumimoji="1" lang="ko-KR" altLang="en-US" dirty="0"/>
              <a:t>학습으로 이어질 수 있음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3398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이전의 </a:t>
            </a:r>
            <a:r>
              <a:rPr kumimoji="1" lang="en-US" altLang="ko-KR" dirty="0"/>
              <a:t>offline RL </a:t>
            </a:r>
            <a:r>
              <a:rPr kumimoji="1" lang="ko-KR" altLang="en-US" dirty="0"/>
              <a:t>연구에서는 이 문제를 </a:t>
            </a:r>
            <a:r>
              <a:rPr kumimoji="1" lang="en-US" altLang="ko-KR" dirty="0"/>
              <a:t>learned policy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제약을 거는 것으로 해결하려 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하지만 저자는 이러한 방법은 근본적인 원인을 해결한 것이 아니므로 실제 </a:t>
            </a:r>
            <a:r>
              <a:rPr kumimoji="1" lang="en-US" altLang="ko-KR" dirty="0"/>
              <a:t>test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할 때 문제가 발생할 수 있으며</a:t>
            </a:r>
            <a:r>
              <a:rPr kumimoji="1" lang="en-US" altLang="ko-KR" dirty="0"/>
              <a:t>, </a:t>
            </a:r>
            <a:r>
              <a:rPr kumimoji="1" lang="ko-KR" altLang="en-US" dirty="0"/>
              <a:t>또한 </a:t>
            </a:r>
            <a:r>
              <a:rPr kumimoji="1" lang="en-US" altLang="ko-KR" dirty="0" err="1"/>
              <a:t>pi_k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추정하는 </a:t>
            </a:r>
            <a:r>
              <a:rPr kumimoji="1" lang="en-US" altLang="ko-KR" dirty="0"/>
              <a:t>estimator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추가해야 돼서 알고리즘이 </a:t>
            </a:r>
            <a:r>
              <a:rPr kumimoji="1" lang="ko-KR" altLang="en-US" dirty="0" err="1"/>
              <a:t>복잡해진다고</a:t>
            </a:r>
            <a:r>
              <a:rPr kumimoji="1" lang="ko-KR" altLang="en-US" dirty="0"/>
              <a:t> 주장한다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2926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policy evaluation 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이 </a:t>
            </a:r>
            <a:r>
              <a:rPr kumimoji="1" lang="en-US" altLang="ko-KR" dirty="0"/>
              <a:t>Q-value maximization term </a:t>
            </a:r>
            <a:r>
              <a:rPr kumimoji="1" lang="ko-KR" altLang="en-US" dirty="0"/>
              <a:t>을 추가함으로써 </a:t>
            </a:r>
            <a:r>
              <a:rPr kumimoji="1" lang="en-US" altLang="ko-KR" dirty="0"/>
              <a:t>true Q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tight</a:t>
            </a:r>
            <a:r>
              <a:rPr kumimoji="1" lang="ko-KR" altLang="en-US" dirty="0"/>
              <a:t>하게 </a:t>
            </a:r>
            <a:r>
              <a:rPr kumimoji="1" lang="en-US" altLang="ko-KR" dirty="0"/>
              <a:t>bound</a:t>
            </a:r>
            <a:r>
              <a:rPr kumimoji="1" lang="ko-KR" altLang="en-US" dirty="0"/>
              <a:t>할 수 있음을 보였고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5283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여기에 </a:t>
            </a:r>
            <a:r>
              <a:rPr kumimoji="1" lang="en-US" altLang="ko-KR" dirty="0"/>
              <a:t>policy improvement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동시에 진행하면서 </a:t>
            </a:r>
            <a:r>
              <a:rPr kumimoji="1" lang="en-US" altLang="ko-KR" dirty="0" err="1"/>
              <a:t>regularlizer</a:t>
            </a:r>
            <a:r>
              <a:rPr kumimoji="1" lang="ko-KR" altLang="en-US" dirty="0"/>
              <a:t>까지 추가한 게 </a:t>
            </a:r>
            <a:r>
              <a:rPr kumimoji="1" lang="en-US" altLang="ko-KR" dirty="0"/>
              <a:t>CQL</a:t>
            </a:r>
            <a:r>
              <a:rPr kumimoji="1" lang="ko-KR" altLang="en-US" dirty="0"/>
              <a:t>이었다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6862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이때 </a:t>
            </a:r>
            <a:r>
              <a:rPr kumimoji="1" lang="en-US" altLang="ko-KR" dirty="0"/>
              <a:t>prior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uniform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선택하면 </a:t>
            </a:r>
            <a:r>
              <a:rPr kumimoji="1" lang="en-US" altLang="ko-KR" dirty="0"/>
              <a:t>CQL(H).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9614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07223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0221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7808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1899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49692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74622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08019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??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873095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743605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95197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16265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68848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8444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7234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879976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68088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90495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30099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27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994726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06815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29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579999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30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54872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31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259447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32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848837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33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290233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34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69744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35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227959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36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085917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37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968992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38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030855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39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99074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9AFC6-5112-3045-8985-0C59BCC9647C}" type="slidenum">
              <a:rPr kumimoji="1" lang="ko-KR" altLang="en-US" smtClean="0"/>
              <a:t>40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315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54DB2B-0E11-D278-5269-87C03B6CA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21D80B-7D27-B145-299A-6D5EC22F6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E79AE5-F437-0149-C65A-27EB7DED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B2CE-1F2B-C64F-8506-45F8FFA302AA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D869D6-C98C-9AC5-33BE-23387BA39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E65891-2731-D1CD-F4EA-9079F44D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4EBA-33C1-2E4A-A235-47178ECED75B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8" name="그림 7" descr="폰트, 로고, 원, 상징이(가) 표시된 사진&#10;&#10;자동 생성된 설명">
            <a:extLst>
              <a:ext uri="{FF2B5EF4-FFF2-40B4-BE49-F238E27FC236}">
                <a16:creationId xmlns:a16="http://schemas.microsoft.com/office/drawing/2014/main" id="{E8344758-C3E3-4DE0-3804-66EBDFF81F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76000" y="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47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42F0E-7E1C-B820-38A3-4EECD9562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BC1F5C-4605-5A09-F9A8-594710F66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F71858-EE32-63BF-5C19-3C880B8C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B2CE-1F2B-C64F-8506-45F8FFA302AA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69EFAC-6CCB-AC50-CE8F-55AB782D1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4B903-4F40-0D2A-6A66-554626BF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4EBA-33C1-2E4A-A235-47178ECED75B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7" name="그림 6" descr="폰트, 로고, 원, 상징이(가) 표시된 사진&#10;&#10;자동 생성된 설명">
            <a:extLst>
              <a:ext uri="{FF2B5EF4-FFF2-40B4-BE49-F238E27FC236}">
                <a16:creationId xmlns:a16="http://schemas.microsoft.com/office/drawing/2014/main" id="{01F3FC8F-6AC4-4372-0CF2-0F7318F02A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76000" y="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66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9ECFC-EDCC-962D-9AA7-B5670F24A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137A50-6AFD-4130-AC14-A438D24D7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15B8E1-D312-0FFE-6FB8-8E88BAD52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B2CE-1F2B-C64F-8506-45F8FFA302AA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73C133-4748-0D06-C70A-318ABC7E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1DC748-EC09-2358-BA74-6F0A4DBA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4EBA-33C1-2E4A-A235-47178ECED7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06691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71B669-E091-C3B0-281A-AA35A220F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BE336E-6913-D29B-0AA6-085272FEF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921CBD-6014-B52A-558F-EFBED2CDC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0FB810-5F0F-442A-A506-133223947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B2CE-1F2B-C64F-8506-45F8FFA302AA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D0C585-0A09-9DF3-5ADE-D9FB90364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E86FE0-8A30-A083-4F33-C7617C32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4EBA-33C1-2E4A-A235-47178ECED7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9465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30A76-4022-9E2E-CB3C-EB544EC9E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F63372-4EF9-17F8-46E2-448ED180F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2124B6-D279-9B1D-79EF-2C812CE80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D0F70D-9998-B444-45EC-4FC4CDE75F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75B762-0008-A7B5-3A97-C91431CB4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D46835-C947-9500-E39D-DCB1E5852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B2CE-1F2B-C64F-8506-45F8FFA302AA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E667EC8-311D-9E34-81DE-7C0B4CF7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F399648-8CB8-D52E-8D42-810441C1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4EBA-33C1-2E4A-A235-47178ECED7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97068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896B3-50E9-BFE4-47BF-6E37382C9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9A291E-CB6A-FB36-F803-2494CF70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B2CE-1F2B-C64F-8506-45F8FFA302AA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0B05CF-885A-1C89-5285-123E24F4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F2C196-FC0E-31C8-343A-88ED09D56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4EBA-33C1-2E4A-A235-47178ECED7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37714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779ABD-74A2-B91A-DFF5-69E18B17F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B2CE-1F2B-C64F-8506-45F8FFA302AA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8AFF0E-89F6-DEBA-F9C0-5F2BE4B42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BB9FEB-4FB9-099A-B753-E793F145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4EBA-33C1-2E4A-A235-47178ECED7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039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055F8-9112-DEEA-BDAE-BD7ECB3C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916139-CAD1-5CB9-DC2A-EED221DC3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E17FBF-3411-8113-119C-3CBD8728D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D3F8CF-631D-65EC-7FA1-6BC597504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B2CE-1F2B-C64F-8506-45F8FFA302AA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DC8264-6B44-7E44-D088-B3BFDA48D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5C76C6-4B65-4D57-115B-C5C386C16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4EBA-33C1-2E4A-A235-47178ECED7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9847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04833-8625-8DE5-6E2C-DAC4F7BBF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D0373-8FEC-288E-F301-C49B13A43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7E2A5D-51E2-6E02-668E-B58CA1A06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D12C1D-943D-229B-33E9-8CDA4E945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B2CE-1F2B-C64F-8506-45F8FFA302AA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522A63-59A8-18B3-A38A-4289BEAE5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29D2A4-6EB6-09D5-057F-10A98589B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4EBA-33C1-2E4A-A235-47178ECED7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586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4B045-9384-B13D-08FF-045F8153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6B6477-4512-AA5F-8835-A3AD7F975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6FCD7D-59D5-BE65-594F-5EB9A8A3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B2CE-1F2B-C64F-8506-45F8FFA302AA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22AD6A-0044-D9BA-D644-D55514CB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92951D-5E5B-D0F5-52FE-52825852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4EBA-33C1-2E4A-A235-47178ECED7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565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B13BC6E-F2DB-F48D-3983-4774EB74B2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34245-0FBD-37D4-4E80-312501F58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CE4959-319B-E4B4-D400-6E08C2D8E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B2CE-1F2B-C64F-8506-45F8FFA302AA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6A6362-4EF4-6A3E-AAAC-74BE578C3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E5BDA4-230C-E87E-235C-94DB93BE4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84EBA-33C1-2E4A-A235-47178ECED7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82328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552205-3582-7624-42A1-DD3ABA4DF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1D25DB-3B2A-6939-0CE4-C94D09D9D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4A7577-03C8-33F0-D130-97F4365535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90B2CE-1F2B-C64F-8506-45F8FFA302AA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C2D1C-8CC7-A0E8-2DE5-135C6825C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8CE01F-F6DF-4BF9-6730-727F0399A7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B84EBA-33C1-2E4A-A235-47178ECED7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1457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towardsdatascience.com/the-power-of-offline-reinforcement-learning-5e3d3942421c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xhere.com/ko/photo/945907" TargetMode="Externa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thank-you-note-thank-thank-you-note-1428147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5C6F5-F72D-8B0A-8DA6-156A2D8733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Lab Meeting</a:t>
            </a:r>
            <a:endParaRPr kumimoji="1"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A69C6E-31EA-E4F7-4EB8-5B00009130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08/28/2024, </a:t>
            </a:r>
            <a:r>
              <a:rPr kumimoji="1" lang="ko-KR" altLang="en-US" dirty="0"/>
              <a:t>최준명</a:t>
            </a:r>
          </a:p>
        </p:txBody>
      </p:sp>
    </p:spTree>
    <p:extLst>
      <p:ext uri="{BB962C8B-B14F-4D97-AF65-F5344CB8AC3E}">
        <p14:creationId xmlns:p14="http://schemas.microsoft.com/office/powerpoint/2010/main" val="105906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79BB17-9473-C912-3536-F50CE53F6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Index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23ECC0-7300-3ABB-70E2-F2E540F15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kumimoji="1" lang="en-US" altLang="ko-KR" dirty="0"/>
              <a:t>Paper review</a:t>
            </a:r>
          </a:p>
          <a:p>
            <a:pPr marL="514350" indent="-514350">
              <a:buAutoNum type="arabicPeriod"/>
            </a:pPr>
            <a:endParaRPr kumimoji="1" lang="en-US" altLang="ko-KR" dirty="0"/>
          </a:p>
          <a:p>
            <a:pPr marL="514350" indent="-514350">
              <a:buAutoNum type="arabicPeriod"/>
            </a:pPr>
            <a:r>
              <a:rPr kumimoji="1" lang="en-US" altLang="ko-KR" dirty="0"/>
              <a:t>Implementation Analysis</a:t>
            </a:r>
          </a:p>
          <a:p>
            <a:pPr marL="514350" indent="-514350">
              <a:buAutoNum type="arabicPeriod"/>
            </a:pPr>
            <a:endParaRPr kumimoji="1" lang="en-US" altLang="ko-KR" dirty="0"/>
          </a:p>
          <a:p>
            <a:pPr marL="514350" indent="-514350">
              <a:buAutoNum type="arabicPeriod"/>
            </a:pPr>
            <a:r>
              <a:rPr kumimoji="1" lang="en-US" altLang="ko-KR" dirty="0"/>
              <a:t>Experiment</a:t>
            </a:r>
          </a:p>
          <a:p>
            <a:pPr marL="514350" indent="-514350">
              <a:buAutoNum type="arabicPeriod"/>
            </a:pPr>
            <a:endParaRPr kumimoji="1" lang="en-US" altLang="ko-KR" dirty="0"/>
          </a:p>
          <a:p>
            <a:pPr marL="514350" indent="-514350">
              <a:buAutoNum type="arabicPeriod"/>
            </a:pPr>
            <a:r>
              <a:rPr kumimoji="1" lang="en-US" altLang="ko-KR" dirty="0"/>
              <a:t>Further research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4301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8634C-6FF0-AE22-EF34-B998547F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1. Paper review</a:t>
            </a:r>
            <a:endParaRPr kumimoji="1" lang="ko-KR" altLang="en-US" sz="3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032B82-F8AB-1ABD-48AE-38F04E2E3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27294"/>
            <a:ext cx="5940552" cy="259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2EF4A0-C569-E475-B504-04F5FFC5EB27}"/>
              </a:ext>
            </a:extLst>
          </p:cNvPr>
          <p:cNvSpPr txBox="1"/>
          <p:nvPr/>
        </p:nvSpPr>
        <p:spPr>
          <a:xfrm>
            <a:off x="838200" y="6338986"/>
            <a:ext cx="8802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image: </a:t>
            </a:r>
            <a:r>
              <a:rPr kumimoji="1" lang="en-US" altLang="ko-KR" sz="1400" dirty="0">
                <a:hlinkClick r:id="rId4"/>
              </a:rPr>
              <a:t>https://towardsdatascience.com/the-power-of-offline-reinforcement-learning-5e3d3942421c</a:t>
            </a:r>
            <a:endParaRPr kumimoji="1" lang="ko-KR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7DAD3D-B183-5394-C26C-C3F2470CBEF1}"/>
                  </a:ext>
                </a:extLst>
              </p:cNvPr>
              <p:cNvSpPr txBox="1"/>
              <p:nvPr/>
            </p:nvSpPr>
            <p:spPr>
              <a:xfrm>
                <a:off x="1011936" y="4962892"/>
                <a:ext cx="10341864" cy="1225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dirty="0"/>
                  <a:t>No interaction with environment, learn from (large)fixed dataset.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kumimoji="1" lang="en-US" altLang="ko-KR" dirty="0"/>
                  <a:t>: policy used in collecting data from environment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ko-KR" dirty="0"/>
                  <a:t>: policy used in calculating target value Q</a:t>
                </a:r>
              </a:p>
              <a:p>
                <a:endParaRPr kumimoji="1"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7DAD3D-B183-5394-C26C-C3F2470CB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36" y="4962892"/>
                <a:ext cx="10341864" cy="1225079"/>
              </a:xfrm>
              <a:prstGeom prst="rect">
                <a:avLst/>
              </a:prstGeom>
              <a:blipFill>
                <a:blip r:embed="rId5"/>
                <a:stretch>
                  <a:fillRect l="-490" t="-20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50979A0-2255-05E0-8FC5-E26D6A545C2E}"/>
              </a:ext>
            </a:extLst>
          </p:cNvPr>
          <p:cNvSpPr txBox="1"/>
          <p:nvPr/>
        </p:nvSpPr>
        <p:spPr>
          <a:xfrm>
            <a:off x="4317358" y="843240"/>
            <a:ext cx="6065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Offline RL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30941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4CEB1-6107-E2A3-35E1-C93CB2A4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1. Paper review</a:t>
            </a:r>
            <a:endParaRPr kumimoji="1" lang="ko-KR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D400356-CA6D-C027-0700-06BDC75DA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8999"/>
                <a:ext cx="10515600" cy="2747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kumimoji="1" lang="en-US" altLang="ko-KR" sz="1800" dirty="0"/>
              </a:p>
              <a:p>
                <a:pPr marL="0" indent="0">
                  <a:buNone/>
                </a:pPr>
                <a:r>
                  <a:rPr kumimoji="1" lang="en-US" altLang="ko-KR" sz="1800" dirty="0"/>
                  <a:t>Policy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𝑜𝑟</m:t>
                        </m:r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ko-KR" sz="1800" dirty="0"/>
                  <a:t> is learned to maximize Q-value 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kumimoji="1" lang="en-US" altLang="ko-KR" sz="1800" u="sng" dirty="0">
                    <a:solidFill>
                      <a:srgbClr val="FF0000"/>
                    </a:solidFill>
                    <a:sym typeface="Wingdings" pitchFamily="2" charset="2"/>
                  </a:rPr>
                  <a:t>can be biased to out-of-distribution actions</a:t>
                </a:r>
                <a:r>
                  <a:rPr kumimoji="1" lang="en-US" altLang="ko-KR" sz="1800" dirty="0">
                    <a:solidFill>
                      <a:srgbClr val="FF0000"/>
                    </a:solidFill>
                    <a:sym typeface="Wingdings" pitchFamily="2" charset="2"/>
                  </a:rPr>
                  <a:t>(unseen in datasets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𝛽</m:t>
                        </m:r>
                      </m:sub>
                    </m:sSub>
                  </m:oMath>
                </a14:m>
                <a:r>
                  <a:rPr kumimoji="1" lang="en-US" altLang="ko-KR" sz="1800" dirty="0">
                    <a:solidFill>
                      <a:srgbClr val="FF0000"/>
                    </a:solidFill>
                    <a:sym typeface="Wingdings" pitchFamily="2" charset="2"/>
                  </a:rPr>
                  <a:t>)</a:t>
                </a:r>
              </a:p>
              <a:p>
                <a:pPr>
                  <a:buFont typeface="Wingdings" pitchFamily="2" charset="2"/>
                  <a:buChar char="à"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D400356-CA6D-C027-0700-06BDC75DA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8999"/>
                <a:ext cx="10515600" cy="2747963"/>
              </a:xfrm>
              <a:blipFill>
                <a:blip r:embed="rId3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F6B8246D-9D97-632E-287C-7FD964D33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90688"/>
            <a:ext cx="10242996" cy="13255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11A189-F1AE-A1E2-EC5A-CEC4D0EA2DA3}"/>
              </a:ext>
            </a:extLst>
          </p:cNvPr>
          <p:cNvSpPr txBox="1"/>
          <p:nvPr/>
        </p:nvSpPr>
        <p:spPr>
          <a:xfrm>
            <a:off x="838200" y="6338986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400" b="0" dirty="0">
                <a:effectLst/>
              </a:rPr>
              <a:t>Offline Reinforcement Learning: Tutorial, Review, and Perspectives on Open Problems – Sergey Levine et el. (2020) </a:t>
            </a:r>
            <a:endParaRPr lang="en" altLang="ko-KR" sz="1400" dirty="0"/>
          </a:p>
          <a:p>
            <a:endParaRPr kumimoji="1" lang="ko-KR" altLang="en-US" sz="1400" dirty="0"/>
          </a:p>
        </p:txBody>
      </p:sp>
      <p:pic>
        <p:nvPicPr>
          <p:cNvPr id="13" name="그림 12" descr="야외, 나무, 트랙, 기차이(가) 표시된 사진&#10;&#10;자동 생성된 설명">
            <a:extLst>
              <a:ext uri="{FF2B5EF4-FFF2-40B4-BE49-F238E27FC236}">
                <a16:creationId xmlns:a16="http://schemas.microsoft.com/office/drawing/2014/main" id="{D4F82B62-030C-A576-7773-4EDDBF1A19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215437" y="4029075"/>
            <a:ext cx="2715417" cy="2036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8EA1B6-25C5-D7A9-4E25-A06A053DAF9E}"/>
              </a:ext>
            </a:extLst>
          </p:cNvPr>
          <p:cNvSpPr txBox="1"/>
          <p:nvPr/>
        </p:nvSpPr>
        <p:spPr>
          <a:xfrm>
            <a:off x="4305783" y="843241"/>
            <a:ext cx="6065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Problem: Distributional Shift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58291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4CEB1-6107-E2A3-35E1-C93CB2A4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1. Paper review</a:t>
            </a:r>
            <a:endParaRPr kumimoji="1" lang="ko-KR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D400356-CA6D-C027-0700-06BDC75DA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820752"/>
                <a:ext cx="10515600" cy="235621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Typical solution to the problem : constraining the learned policy(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However, the policy may </a:t>
                </a:r>
                <a:r>
                  <a:rPr kumimoji="1" lang="en-US" altLang="ko-KR" sz="1800" dirty="0">
                    <a:solidFill>
                      <a:srgbClr val="FF0000"/>
                    </a:solidFill>
                    <a:sym typeface="Wingdings" pitchFamily="2" charset="2"/>
                  </a:rPr>
                  <a:t>suffer from state distribution shift at test time.</a:t>
                </a:r>
              </a:p>
              <a:p>
                <a:pPr marL="0" indent="0"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+require fitting an additional behavior policy estimator.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D400356-CA6D-C027-0700-06BDC75DA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820752"/>
                <a:ext cx="10515600" cy="2356210"/>
              </a:xfrm>
              <a:blipFill>
                <a:blip r:embed="rId3"/>
                <a:stretch>
                  <a:fillRect l="-603" t="-26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 descr="텍스트, 폰트, 친필, 화이트이(가) 표시된 사진&#10;&#10;자동 생성된 설명">
            <a:extLst>
              <a:ext uri="{FF2B5EF4-FFF2-40B4-BE49-F238E27FC236}">
                <a16:creationId xmlns:a16="http://schemas.microsoft.com/office/drawing/2014/main" id="{543AF278-8CB7-4DBF-B205-101E22CF9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04416"/>
            <a:ext cx="8123084" cy="12328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DA83B1-AB8D-97FF-8118-5DAF979DA648}"/>
              </a:ext>
            </a:extLst>
          </p:cNvPr>
          <p:cNvSpPr txBox="1"/>
          <p:nvPr/>
        </p:nvSpPr>
        <p:spPr>
          <a:xfrm>
            <a:off x="944880" y="3037248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200" b="0" i="1" dirty="0">
                <a:effectLst/>
              </a:rPr>
              <a:t>Offline Reinforcement Learning: Tutorial, Review, and Perspectives on Open Problems – Sergey Levine et el. (2020) </a:t>
            </a:r>
            <a:endParaRPr lang="en" altLang="ko-KR" sz="1200" i="1" dirty="0"/>
          </a:p>
          <a:p>
            <a:endParaRPr kumimoji="1" lang="ko-KR" altLang="en-US" sz="1200" i="1" dirty="0"/>
          </a:p>
        </p:txBody>
      </p:sp>
      <p:sp>
        <p:nvSpPr>
          <p:cNvPr id="4" name="액자 3">
            <a:extLst>
              <a:ext uri="{FF2B5EF4-FFF2-40B4-BE49-F238E27FC236}">
                <a16:creationId xmlns:a16="http://schemas.microsoft.com/office/drawing/2014/main" id="{00DA7B92-030F-B1FA-0903-EFEAC96F3824}"/>
              </a:ext>
            </a:extLst>
          </p:cNvPr>
          <p:cNvSpPr/>
          <p:nvPr/>
        </p:nvSpPr>
        <p:spPr>
          <a:xfrm>
            <a:off x="5495972" y="2453545"/>
            <a:ext cx="1978253" cy="567950"/>
          </a:xfrm>
          <a:prstGeom prst="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94F98-7600-4746-2FA1-27C77368E444}"/>
              </a:ext>
            </a:extLst>
          </p:cNvPr>
          <p:cNvSpPr txBox="1"/>
          <p:nvPr/>
        </p:nvSpPr>
        <p:spPr>
          <a:xfrm>
            <a:off x="4271059" y="858667"/>
            <a:ext cx="6065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Problem: Distributional Shift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37330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94431-54FD-5D4E-9733-985B27F5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1. Paper review</a:t>
            </a:r>
            <a:endParaRPr kumimoji="1" lang="ko-KR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2663A386-9741-8DA2-744D-56A5F5AA96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428999"/>
                <a:ext cx="10515600" cy="2747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b="0" dirty="0">
                    <a:sym typeface="Wingdings" pitchFamily="2" charset="2"/>
                  </a:rPr>
                  <a:t>To minimize ‘blue’, we have to maximize second expectation(red one)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kumimoji="1" lang="en-US" altLang="ko-KR" sz="1800" dirty="0">
                    <a:sym typeface="Wingdings" pitchFamily="2" charset="2"/>
                  </a:rPr>
                  <a:t>maximize Q for actions in</a:t>
                </a:r>
                <a14:m>
                  <m:oMath xmlns:m="http://schemas.openxmlformats.org/officeDocument/2006/math">
                    <m: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𝛽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^</m:t>
                    </m:r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 (in-distribution, seen actions)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kumimoji="1" lang="en-US" altLang="ko-KR" sz="1800" dirty="0">
                    <a:sym typeface="Wingdings" pitchFamily="2" charset="2"/>
                  </a:rPr>
                  <a:t>penalizes penalties of overestimation</a:t>
                </a:r>
              </a:p>
              <a:p>
                <a:pPr>
                  <a:buFont typeface="Wingdings" pitchFamily="2" charset="2"/>
                  <a:buChar char="à"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However,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^</m:t>
                    </m:r>
                    <m:sSup>
                      <m:sSup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𝑄</m:t>
                        </m:r>
                      </m:e>
                      <m:sup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 might not lower-bound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𝑄</m:t>
                        </m:r>
                      </m:e>
                      <m:sup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 pointwise in this method.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2663A386-9741-8DA2-744D-56A5F5AA9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8999"/>
                <a:ext cx="10515600" cy="2747963"/>
              </a:xfrm>
              <a:prstGeom prst="rect">
                <a:avLst/>
              </a:prstGeom>
              <a:blipFill>
                <a:blip r:embed="rId3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 descr="텍스트, 폰트, 친필, 서예이(가) 표시된 사진&#10;&#10;자동 생성된 설명">
            <a:extLst>
              <a:ext uri="{FF2B5EF4-FFF2-40B4-BE49-F238E27FC236}">
                <a16:creationId xmlns:a16="http://schemas.microsoft.com/office/drawing/2014/main" id="{1EA0824A-61F9-7332-0810-8AB3719766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011"/>
          <a:stretch/>
        </p:blipFill>
        <p:spPr>
          <a:xfrm>
            <a:off x="838200" y="1977065"/>
            <a:ext cx="8612542" cy="11318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D5EFC3-66B8-46B0-D773-004C069267C8}"/>
              </a:ext>
            </a:extLst>
          </p:cNvPr>
          <p:cNvSpPr txBox="1"/>
          <p:nvPr/>
        </p:nvSpPr>
        <p:spPr>
          <a:xfrm>
            <a:off x="5144471" y="1506022"/>
            <a:ext cx="320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Q-value maximization term</a:t>
            </a:r>
            <a:endParaRPr kumimoji="1" lang="ko-KR" altLang="en-US" dirty="0"/>
          </a:p>
        </p:txBody>
      </p:sp>
      <p:sp>
        <p:nvSpPr>
          <p:cNvPr id="4" name="액자 3">
            <a:extLst>
              <a:ext uri="{FF2B5EF4-FFF2-40B4-BE49-F238E27FC236}">
                <a16:creationId xmlns:a16="http://schemas.microsoft.com/office/drawing/2014/main" id="{921E2FF7-E35D-180C-9895-E25D3C976CDB}"/>
              </a:ext>
            </a:extLst>
          </p:cNvPr>
          <p:cNvSpPr/>
          <p:nvPr/>
        </p:nvSpPr>
        <p:spPr>
          <a:xfrm>
            <a:off x="2865120" y="1977065"/>
            <a:ext cx="4949952" cy="558871"/>
          </a:xfrm>
          <a:prstGeom prst="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6B47B6-CA7D-9A5D-C1AD-47026C069B56}"/>
              </a:ext>
            </a:extLst>
          </p:cNvPr>
          <p:cNvSpPr txBox="1"/>
          <p:nvPr/>
        </p:nvSpPr>
        <p:spPr>
          <a:xfrm>
            <a:off x="4271059" y="850313"/>
            <a:ext cx="6065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Conservative Off-Policy Evaluation 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95390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461DC-64EE-CFBE-3665-604D3AD39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1. Paper review</a:t>
            </a:r>
            <a:endParaRPr kumimoji="1" lang="ko-KR" altLang="en-US" sz="3600" dirty="0"/>
          </a:p>
        </p:txBody>
      </p:sp>
      <p:pic>
        <p:nvPicPr>
          <p:cNvPr id="6" name="내용 개체 틀 5" descr="텍스트, 폰트, 라인, 화이트이(가) 표시된 사진&#10;&#10;자동 생성된 설명">
            <a:extLst>
              <a:ext uri="{FF2B5EF4-FFF2-40B4-BE49-F238E27FC236}">
                <a16:creationId xmlns:a16="http://schemas.microsoft.com/office/drawing/2014/main" id="{27A58F33-58E1-4686-B846-913B51B12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852928"/>
            <a:ext cx="9525000" cy="13462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Alternating between policy evaluation and improvement is computationally expensive.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Instead, choose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𝜇</m:t>
                    </m:r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 to approximate the policy that maximize Q-function iterate.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  <a:blipFill>
                <a:blip r:embed="rId4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362472"/>
                <a:ext cx="10515600" cy="14987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b="0" dirty="0">
                    <a:sym typeface="Wingdings" pitchFamily="2" charset="2"/>
                  </a:rPr>
                  <a:t>+ Added </a:t>
                </a:r>
                <a:r>
                  <a:rPr kumimoji="1" lang="en-US" altLang="ko-KR" sz="1800" b="0" dirty="0" err="1">
                    <a:sym typeface="Wingdings" pitchFamily="2" charset="2"/>
                  </a:rPr>
                  <a:t>regularizer</a:t>
                </a:r>
                <a:r>
                  <a:rPr kumimoji="1" lang="en-US" altLang="ko-KR" sz="1800" b="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ℛ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𝜇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 and denoted by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𝐶𝑄𝐿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ℛ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Property of CQL varies depending on this </a:t>
                </a:r>
                <a:r>
                  <a:rPr kumimoji="1" lang="en-US" altLang="ko-KR" sz="1800" dirty="0" err="1">
                    <a:sym typeface="Wingdings" pitchFamily="2" charset="2"/>
                  </a:rPr>
                  <a:t>regularizer</a:t>
                </a: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62472"/>
                <a:ext cx="10515600" cy="1498791"/>
              </a:xfrm>
              <a:prstGeom prst="rect">
                <a:avLst/>
              </a:prstGeom>
              <a:blipFill>
                <a:blip r:embed="rId5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0A79BA2-B656-556C-08BD-B5CD89674AF3}"/>
              </a:ext>
            </a:extLst>
          </p:cNvPr>
          <p:cNvSpPr txBox="1"/>
          <p:nvPr/>
        </p:nvSpPr>
        <p:spPr>
          <a:xfrm>
            <a:off x="4271059" y="850313"/>
            <a:ext cx="6065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Conservative Q-Learning for Offline RL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56833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461DC-64EE-CFBE-3665-604D3AD39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1. Paper review</a:t>
            </a:r>
            <a:endParaRPr kumimoji="1" lang="ko-KR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If we choose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ℛ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𝜇</m:t>
                        </m:r>
                      </m:e>
                    </m:d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 to be KL-divergence against prior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,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we get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𝜇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∝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∙</m:t>
                    </m:r>
                    <m:func>
                      <m:func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sz="1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  <m:t>𝑠</m:t>
                                </m:r>
                                <m: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  <m:t>,</m:t>
                                </m:r>
                                <m:r>
                                  <a:rPr kumimoji="1"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itchFamily="2" charset="2"/>
                                  </a:rPr>
                                  <m:t>𝑎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.</m:t>
                    </m:r>
                  </m:oMath>
                </a14:m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F9686B7D-2F54-11F6-026F-5D855A825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54137"/>
                <a:ext cx="10515600" cy="1498791"/>
              </a:xfrm>
              <a:prstGeom prst="rect">
                <a:avLst/>
              </a:prstGeom>
              <a:blipFill>
                <a:blip r:embed="rId3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679700"/>
                <a:ext cx="10515600" cy="4021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First, if prior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𝜌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unif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a</m:t>
                    </m:r>
                    <m:r>
                      <a:rPr kumimoji="1" lang="en-US" altLang="ko-KR" sz="1800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kumimoji="1" lang="en-US" altLang="ko-KR" sz="1800" b="0" dirty="0">
                    <a:sym typeface="Wingdings" pitchFamily="2" charset="2"/>
                  </a:rPr>
                  <a:t>, equation (3) becomes,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kumimoji="1" lang="en-US" altLang="ko-KR" sz="1800" b="0" dirty="0">
                  <a:sym typeface="Wingdings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kumimoji="1" lang="en-US" altLang="ko-KR" sz="1800" u="sng" dirty="0">
                    <a:sym typeface="Wingdings" pitchFamily="2" charset="2"/>
                  </a:rPr>
                  <a:t>This is called </a:t>
                </a:r>
                <a14:m>
                  <m:oMath xmlns:m="http://schemas.openxmlformats.org/officeDocument/2006/math"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sym typeface="Wingdings" pitchFamily="2" charset="2"/>
                      </a:rPr>
                      <m:t>𝐶𝑄𝐿</m:t>
                    </m:r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ℋ</m:t>
                    </m:r>
                    <m:r>
                      <a:rPr kumimoji="1" lang="en-US" altLang="ko-KR" sz="18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kumimoji="1" lang="en-US" altLang="ko-KR" sz="1800" b="0" u="sng" dirty="0">
                    <a:sym typeface="Wingdings" pitchFamily="2" charset="2"/>
                  </a:rPr>
                  <a:t>.  </a:t>
                </a:r>
              </a:p>
            </p:txBody>
          </p:sp>
        </mc:Choice>
        <mc:Fallback xmlns="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5329B78-A5F4-BEF0-B800-54A6666F7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79700"/>
                <a:ext cx="10515600" cy="4021725"/>
              </a:xfrm>
              <a:prstGeom prst="rect">
                <a:avLst/>
              </a:prstGeom>
              <a:blipFill>
                <a:blip r:embed="rId4"/>
                <a:stretch>
                  <a:fillRect l="-603" t="-1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F97BE1A6-182A-B62D-CF07-E7AA8F0D3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3166461"/>
            <a:ext cx="10345812" cy="9547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BF5EC1-D845-B1A2-D67E-B88D38775F84}"/>
              </a:ext>
            </a:extLst>
          </p:cNvPr>
          <p:cNvSpPr txBox="1"/>
          <p:nvPr/>
        </p:nvSpPr>
        <p:spPr>
          <a:xfrm>
            <a:off x="4271059" y="850313"/>
            <a:ext cx="6065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Conservative Q-Learning for Offline RL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25275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1. Paper review</a:t>
            </a:r>
            <a:endParaRPr kumimoji="1" lang="ko-KR" altLang="en-US" sz="3600" dirty="0"/>
          </a:p>
        </p:txBody>
      </p:sp>
      <p:pic>
        <p:nvPicPr>
          <p:cNvPr id="5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6D01D63F-49D6-F60F-45AA-31415F35E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6299498" cy="317007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D0C827-86A0-E86F-D1AD-ECE397214D22}"/>
              </a:ext>
            </a:extLst>
          </p:cNvPr>
          <p:cNvSpPr txBox="1"/>
          <p:nvPr/>
        </p:nvSpPr>
        <p:spPr>
          <a:xfrm>
            <a:off x="4271059" y="850313"/>
            <a:ext cx="6065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Pseudocode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52886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2. Implementation Analysis</a:t>
            </a:r>
            <a:endParaRPr kumimoji="1" lang="ko-KR" altLang="en-US" sz="3600" dirty="0"/>
          </a:p>
        </p:txBody>
      </p:sp>
      <p:pic>
        <p:nvPicPr>
          <p:cNvPr id="4" name="그림 3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82A88362-85C6-B1F8-4573-3C75C7282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98" y="1540217"/>
            <a:ext cx="2888929" cy="5167312"/>
          </a:xfrm>
          <a:prstGeom prst="rect">
            <a:avLst/>
          </a:prstGeom>
        </p:spPr>
      </p:pic>
      <p:pic>
        <p:nvPicPr>
          <p:cNvPr id="7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4644BC07-B639-094A-0383-843A4A9211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122" b="74769"/>
          <a:stretch/>
        </p:blipFill>
        <p:spPr>
          <a:xfrm>
            <a:off x="838200" y="2201779"/>
            <a:ext cx="6299498" cy="2887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4963C5-310A-4C68-B6BA-B697E5D23858}"/>
              </a:ext>
            </a:extLst>
          </p:cNvPr>
          <p:cNvSpPr txBox="1"/>
          <p:nvPr/>
        </p:nvSpPr>
        <p:spPr>
          <a:xfrm>
            <a:off x="6759616" y="846787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Initialization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09909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2. Implementation Analysis</a:t>
            </a:r>
            <a:endParaRPr kumimoji="1" lang="ko-KR" altLang="en-US" sz="3600" dirty="0"/>
          </a:p>
        </p:txBody>
      </p:sp>
      <p:pic>
        <p:nvPicPr>
          <p:cNvPr id="5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6D01D63F-49D6-F60F-45AA-31415F35E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24852" b="33333"/>
          <a:stretch/>
        </p:blipFill>
        <p:spPr>
          <a:xfrm>
            <a:off x="838200" y="2478505"/>
            <a:ext cx="6299498" cy="1325564"/>
          </a:xfrm>
        </p:spPr>
      </p:pic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A1643255-A84A-788E-1144-106CB4161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455" y="4054642"/>
            <a:ext cx="5832979" cy="25036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0DBA2F-AA07-925D-17CE-4BB4A4D2017B}"/>
              </a:ext>
            </a:extLst>
          </p:cNvPr>
          <p:cNvSpPr txBox="1"/>
          <p:nvPr/>
        </p:nvSpPr>
        <p:spPr>
          <a:xfrm>
            <a:off x="6759616" y="846787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Q-function Update</a:t>
            </a:r>
            <a:endParaRPr kumimoji="1"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75D8C5-77E8-0246-2AEE-8285ED3840C4}"/>
              </a:ext>
            </a:extLst>
          </p:cNvPr>
          <p:cNvSpPr txBox="1"/>
          <p:nvPr/>
        </p:nvSpPr>
        <p:spPr>
          <a:xfrm>
            <a:off x="486137" y="4583575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Use gradient descent on ‘qf1_loss’</a:t>
            </a:r>
          </a:p>
          <a:p>
            <a:r>
              <a:rPr kumimoji="1" lang="en-US" altLang="ko-KR" dirty="0">
                <a:sym typeface="Wingdings" pitchFamily="2" charset="2"/>
              </a:rPr>
              <a:t> How is ‘qf1_loss’ defined?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626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2. Implementation Analysis</a:t>
            </a:r>
            <a:endParaRPr kumimoji="1" lang="ko-KR" altLang="en-US" sz="3600" dirty="0"/>
          </a:p>
        </p:txBody>
      </p:sp>
      <p:pic>
        <p:nvPicPr>
          <p:cNvPr id="8" name="그림 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67887FD3-5680-E8C9-519C-F4616CFBF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90" y="1690688"/>
            <a:ext cx="5596430" cy="145660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8E4DA11-6334-72B4-DF08-98060FB0D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09" y="3568618"/>
            <a:ext cx="9532607" cy="497972"/>
          </a:xfrm>
          <a:prstGeom prst="rect">
            <a:avLst/>
          </a:prstGeom>
        </p:spPr>
      </p:pic>
      <p:pic>
        <p:nvPicPr>
          <p:cNvPr id="11" name="그림 10" descr="폰트, 친필, 텍스트, 서예이(가) 표시된 사진&#10;&#10;자동 생성된 설명">
            <a:extLst>
              <a:ext uri="{FF2B5EF4-FFF2-40B4-BE49-F238E27FC236}">
                <a16:creationId xmlns:a16="http://schemas.microsoft.com/office/drawing/2014/main" id="{64F359CF-6DA6-0F56-B545-45285790C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4532312"/>
            <a:ext cx="4930781" cy="673604"/>
          </a:xfrm>
          <a:prstGeom prst="rect">
            <a:avLst/>
          </a:prstGeom>
        </p:spPr>
      </p:pic>
      <p:sp>
        <p:nvSpPr>
          <p:cNvPr id="12" name="액자 11">
            <a:extLst>
              <a:ext uri="{FF2B5EF4-FFF2-40B4-BE49-F238E27FC236}">
                <a16:creationId xmlns:a16="http://schemas.microsoft.com/office/drawing/2014/main" id="{37A80F4F-2EDC-09B4-DFC7-FE10FCC91B2F}"/>
              </a:ext>
            </a:extLst>
          </p:cNvPr>
          <p:cNvSpPr/>
          <p:nvPr/>
        </p:nvSpPr>
        <p:spPr>
          <a:xfrm>
            <a:off x="1058779" y="4653549"/>
            <a:ext cx="3453063" cy="477505"/>
          </a:xfrm>
          <a:prstGeom prst="frame">
            <a:avLst>
              <a:gd name="adj1" fmla="val 998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AADDBC-D482-8C1F-CF55-ACEDA8753513}"/>
              </a:ext>
            </a:extLst>
          </p:cNvPr>
          <p:cNvSpPr txBox="1"/>
          <p:nvPr/>
        </p:nvSpPr>
        <p:spPr>
          <a:xfrm>
            <a:off x="6759616" y="846787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Policy Evaluation</a:t>
            </a:r>
            <a:endParaRPr kumimoji="1" lang="ko-KR" alt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52612-E03C-8401-458D-262B7FB701EA}"/>
              </a:ext>
            </a:extLst>
          </p:cNvPr>
          <p:cNvSpPr txBox="1"/>
          <p:nvPr/>
        </p:nvSpPr>
        <p:spPr>
          <a:xfrm>
            <a:off x="1058779" y="5327153"/>
            <a:ext cx="570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ym typeface="Wingdings" pitchFamily="2" charset="2"/>
              </a:rPr>
              <a:t> </a:t>
            </a:r>
            <a:r>
              <a:rPr kumimoji="1" lang="en-US" altLang="ko-KR" dirty="0" err="1">
                <a:sym typeface="Wingdings" pitchFamily="2" charset="2"/>
              </a:rPr>
              <a:t>q_target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3641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2. Implementation Analysis</a:t>
            </a:r>
            <a:endParaRPr kumimoji="1" lang="ko-KR" altLang="en-US" sz="36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3DCE29-8FD2-0453-EEB1-D0E2891280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452"/>
          <a:stretch/>
        </p:blipFill>
        <p:spPr>
          <a:xfrm>
            <a:off x="838198" y="3255753"/>
            <a:ext cx="8208193" cy="84434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5254293-3E07-A23C-56A8-3C963E9BA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8" y="2325688"/>
            <a:ext cx="5817188" cy="636255"/>
          </a:xfrm>
          <a:prstGeom prst="rect">
            <a:avLst/>
          </a:prstGeom>
        </p:spPr>
      </p:pic>
      <p:pic>
        <p:nvPicPr>
          <p:cNvPr id="14" name="그림 13" descr="폰트, 친필, 텍스트, 서예이(가) 표시된 사진&#10;&#10;자동 생성된 설명">
            <a:extLst>
              <a:ext uri="{FF2B5EF4-FFF2-40B4-BE49-F238E27FC236}">
                <a16:creationId xmlns:a16="http://schemas.microsoft.com/office/drawing/2014/main" id="{8B8333A7-A95E-2380-A89C-FF42F1BCA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4532312"/>
            <a:ext cx="4930781" cy="6736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A523A8-5283-5DED-2958-FFFD264C1DA2}"/>
              </a:ext>
            </a:extLst>
          </p:cNvPr>
          <p:cNvSpPr txBox="1"/>
          <p:nvPr/>
        </p:nvSpPr>
        <p:spPr>
          <a:xfrm>
            <a:off x="6759616" y="846787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Policy Evaluation</a:t>
            </a:r>
            <a:endParaRPr kumimoji="1" lang="ko-KR" alt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0545F5-D745-81FE-5066-EBC27595B7AE}"/>
              </a:ext>
            </a:extLst>
          </p:cNvPr>
          <p:cNvSpPr txBox="1"/>
          <p:nvPr/>
        </p:nvSpPr>
        <p:spPr>
          <a:xfrm>
            <a:off x="939800" y="5410200"/>
            <a:ext cx="643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ym typeface="Wingdings" pitchFamily="2" charset="2"/>
              </a:rPr>
              <a:t>MSE of </a:t>
            </a:r>
            <a:r>
              <a:rPr kumimoji="1" lang="en-US" altLang="ko-KR" dirty="0" err="1">
                <a:sym typeface="Wingdings" pitchFamily="2" charset="2"/>
              </a:rPr>
              <a:t>q_target</a:t>
            </a:r>
            <a:r>
              <a:rPr kumimoji="1" lang="en-US" altLang="ko-KR" dirty="0">
                <a:sym typeface="Wingdings" pitchFamily="2" charset="2"/>
              </a:rPr>
              <a:t> and </a:t>
            </a:r>
            <a:r>
              <a:rPr kumimoji="1" lang="en-US" altLang="ko-KR" dirty="0" err="1">
                <a:sym typeface="Wingdings" pitchFamily="2" charset="2"/>
              </a:rPr>
              <a:t>q_pred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5084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2. Implementation Analysis</a:t>
            </a:r>
            <a:endParaRPr kumimoji="1" lang="ko-KR" altLang="en-US" sz="3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FE7A49-793E-D627-FD33-71C6CBB18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70" y="1780673"/>
            <a:ext cx="9039415" cy="488617"/>
          </a:xfrm>
          <a:prstGeom prst="rect">
            <a:avLst/>
          </a:prstGeom>
        </p:spPr>
      </p:pic>
      <p:pic>
        <p:nvPicPr>
          <p:cNvPr id="1026" name="Picture 2" descr="업로드한 이미지">
            <a:extLst>
              <a:ext uri="{FF2B5EF4-FFF2-40B4-BE49-F238E27FC236}">
                <a16:creationId xmlns:a16="http://schemas.microsoft.com/office/drawing/2014/main" id="{E82A8BD8-EC35-9F8B-E4A7-33AAC2DBA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790" y="2980657"/>
            <a:ext cx="8216265" cy="2234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액자 2">
            <a:extLst>
              <a:ext uri="{FF2B5EF4-FFF2-40B4-BE49-F238E27FC236}">
                <a16:creationId xmlns:a16="http://schemas.microsoft.com/office/drawing/2014/main" id="{659ADB06-B473-DD35-3692-14D776E7A549}"/>
              </a:ext>
            </a:extLst>
          </p:cNvPr>
          <p:cNvSpPr/>
          <p:nvPr/>
        </p:nvSpPr>
        <p:spPr>
          <a:xfrm>
            <a:off x="3164305" y="4449011"/>
            <a:ext cx="1672390" cy="670260"/>
          </a:xfrm>
          <a:prstGeom prst="frame">
            <a:avLst>
              <a:gd name="adj1" fmla="val 998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0A4317-974C-F5DB-C30E-E8DC5A2DD8C9}"/>
              </a:ext>
            </a:extLst>
          </p:cNvPr>
          <p:cNvSpPr txBox="1"/>
          <p:nvPr/>
        </p:nvSpPr>
        <p:spPr>
          <a:xfrm>
            <a:off x="6759616" y="846787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CQL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77266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2. Implementation Analysis</a:t>
            </a:r>
            <a:endParaRPr kumimoji="1" lang="ko-KR" altLang="en-US" sz="3600" dirty="0"/>
          </a:p>
        </p:txBody>
      </p:sp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F301B405-96FF-9192-1106-B37A7D50C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61937"/>
            <a:ext cx="10621244" cy="2170935"/>
          </a:xfrm>
          <a:prstGeom prst="rect">
            <a:avLst/>
          </a:prstGeom>
        </p:spPr>
      </p:pic>
      <p:pic>
        <p:nvPicPr>
          <p:cNvPr id="6" name="그림 5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2CEE0EC0-D506-8046-A17F-D3227195B3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926" r="33392" b="41309"/>
          <a:stretch/>
        </p:blipFill>
        <p:spPr>
          <a:xfrm>
            <a:off x="838200" y="4914649"/>
            <a:ext cx="7729141" cy="13255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E89B92-6C13-3D3A-E603-2E0127E3A3A8}"/>
              </a:ext>
            </a:extLst>
          </p:cNvPr>
          <p:cNvSpPr txBox="1"/>
          <p:nvPr/>
        </p:nvSpPr>
        <p:spPr>
          <a:xfrm>
            <a:off x="6759616" y="846787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CQL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3636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2. Implementation Analysis</a:t>
            </a:r>
            <a:endParaRPr kumimoji="1" lang="ko-KR" altLang="en-US" sz="3600" dirty="0"/>
          </a:p>
        </p:txBody>
      </p:sp>
      <p:pic>
        <p:nvPicPr>
          <p:cNvPr id="4" name="그림 3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C08A8C64-CB50-322E-1A47-59AA3F5F97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063"/>
          <a:stretch/>
        </p:blipFill>
        <p:spPr>
          <a:xfrm>
            <a:off x="495634" y="3263900"/>
            <a:ext cx="10771020" cy="18620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F2518D-2BF2-4292-4F6E-F8284BE7E9B0}"/>
              </a:ext>
            </a:extLst>
          </p:cNvPr>
          <p:cNvSpPr txBox="1"/>
          <p:nvPr/>
        </p:nvSpPr>
        <p:spPr>
          <a:xfrm>
            <a:off x="6759616" y="846787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CQL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1787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2. Implementation Analysis</a:t>
            </a:r>
            <a:endParaRPr kumimoji="1"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85B7E8-6998-D9AE-2DD1-8ED84044A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99611"/>
            <a:ext cx="7441586" cy="689476"/>
          </a:xfrm>
          <a:prstGeom prst="rect">
            <a:avLst/>
          </a:prstGeom>
        </p:spPr>
      </p:pic>
      <p:pic>
        <p:nvPicPr>
          <p:cNvPr id="6" name="Picture 2" descr="업로드한 이미지">
            <a:extLst>
              <a:ext uri="{FF2B5EF4-FFF2-40B4-BE49-F238E27FC236}">
                <a16:creationId xmlns:a16="http://schemas.microsoft.com/office/drawing/2014/main" id="{12AE8C5C-BCB9-9497-61BF-04ECEE317A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745" b="4404"/>
          <a:stretch/>
        </p:blipFill>
        <p:spPr bwMode="auto">
          <a:xfrm>
            <a:off x="838200" y="4108533"/>
            <a:ext cx="8216265" cy="68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액자 6">
            <a:extLst>
              <a:ext uri="{FF2B5EF4-FFF2-40B4-BE49-F238E27FC236}">
                <a16:creationId xmlns:a16="http://schemas.microsoft.com/office/drawing/2014/main" id="{2764B488-E4F6-74EE-DF53-B600C0645F48}"/>
              </a:ext>
            </a:extLst>
          </p:cNvPr>
          <p:cNvSpPr/>
          <p:nvPr/>
        </p:nvSpPr>
        <p:spPr>
          <a:xfrm>
            <a:off x="2001253" y="4127750"/>
            <a:ext cx="3914274" cy="670260"/>
          </a:xfrm>
          <a:prstGeom prst="frame">
            <a:avLst>
              <a:gd name="adj1" fmla="val 998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E0327-3411-48F0-FE17-A66622C0F53E}"/>
              </a:ext>
            </a:extLst>
          </p:cNvPr>
          <p:cNvSpPr txBox="1"/>
          <p:nvPr/>
        </p:nvSpPr>
        <p:spPr>
          <a:xfrm>
            <a:off x="6759616" y="846787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CQL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49981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2. Implementation Analysis</a:t>
            </a:r>
            <a:endParaRPr kumimoji="1"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F26892-0D9D-2316-16F4-C0DA61CB5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46608"/>
            <a:ext cx="6295522" cy="6082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0A2CA9B-2B8E-4B10-D622-67A97C0C7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3890648"/>
            <a:ext cx="6407554" cy="5571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887EBE-76AC-EA01-D6B9-981E91F8BFAF}"/>
              </a:ext>
            </a:extLst>
          </p:cNvPr>
          <p:cNvSpPr txBox="1"/>
          <p:nvPr/>
        </p:nvSpPr>
        <p:spPr>
          <a:xfrm>
            <a:off x="6759616" y="846787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CQL</a:t>
            </a:r>
            <a:endParaRPr kumimoji="1" lang="ko-KR" altLang="en-US" sz="2000" dirty="0"/>
          </a:p>
        </p:txBody>
      </p:sp>
      <p:pic>
        <p:nvPicPr>
          <p:cNvPr id="4" name="Picture 2" descr="업로드한 이미지">
            <a:extLst>
              <a:ext uri="{FF2B5EF4-FFF2-40B4-BE49-F238E27FC236}">
                <a16:creationId xmlns:a16="http://schemas.microsoft.com/office/drawing/2014/main" id="{0456DDBF-499B-053A-0FF8-B0E840B23B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745" b="4404"/>
          <a:stretch/>
        </p:blipFill>
        <p:spPr bwMode="auto">
          <a:xfrm>
            <a:off x="227573" y="2554871"/>
            <a:ext cx="8216265" cy="68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1DF03A37-2F98-4173-E4FF-8A392D061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6"/>
          <a:srcRect t="32586" b="42221"/>
          <a:stretch/>
        </p:blipFill>
        <p:spPr>
          <a:xfrm>
            <a:off x="838199" y="4447827"/>
            <a:ext cx="6299498" cy="798653"/>
          </a:xfrm>
        </p:spPr>
      </p:pic>
    </p:spTree>
    <p:extLst>
      <p:ext uri="{BB962C8B-B14F-4D97-AF65-F5344CB8AC3E}">
        <p14:creationId xmlns:p14="http://schemas.microsoft.com/office/powerpoint/2010/main" val="1260294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2. Implementation Analysis</a:t>
            </a:r>
            <a:endParaRPr kumimoji="1" lang="ko-KR" altLang="en-US" sz="3600" dirty="0"/>
          </a:p>
        </p:txBody>
      </p:sp>
      <p:pic>
        <p:nvPicPr>
          <p:cNvPr id="5" name="내용 개체 틀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6D01D63F-49D6-F60F-45AA-31415F35E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65841" b="8350"/>
          <a:stretch/>
        </p:blipFill>
        <p:spPr>
          <a:xfrm>
            <a:off x="417095" y="2081464"/>
            <a:ext cx="6299498" cy="818147"/>
          </a:xfrm>
        </p:spPr>
      </p:pic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C9814D45-1B33-0174-2EA0-8DC7C52E4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518" y="4475747"/>
            <a:ext cx="5521061" cy="9327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C1E19D8-AB4F-F237-8EA5-F75A0BC4B8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504" y="3652920"/>
            <a:ext cx="7001423" cy="4017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FB21D8-E3D7-8242-4EC5-69C6C0E033BA}"/>
              </a:ext>
            </a:extLst>
          </p:cNvPr>
          <p:cNvSpPr txBox="1"/>
          <p:nvPr/>
        </p:nvSpPr>
        <p:spPr>
          <a:xfrm>
            <a:off x="6759616" y="846787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SAC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37249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2. Implementation Analysis</a:t>
            </a:r>
            <a:endParaRPr kumimoji="1" lang="ko-KR" alt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2A725-BC5C-84F0-3B89-E6E7A01E4A04}"/>
              </a:ext>
            </a:extLst>
          </p:cNvPr>
          <p:cNvSpPr txBox="1"/>
          <p:nvPr/>
        </p:nvSpPr>
        <p:spPr>
          <a:xfrm>
            <a:off x="6759616" y="846787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Overall</a:t>
            </a:r>
            <a:endParaRPr kumimoji="1" lang="ko-KR" alt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8B001-F1C4-0A89-A226-549A3531F699}"/>
              </a:ext>
            </a:extLst>
          </p:cNvPr>
          <p:cNvSpPr txBox="1"/>
          <p:nvPr/>
        </p:nvSpPr>
        <p:spPr>
          <a:xfrm>
            <a:off x="457200" y="1600200"/>
            <a:ext cx="850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Paper:</a:t>
            </a:r>
          </a:p>
          <a:p>
            <a:endParaRPr kumimoji="1"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78E9B5-5C79-0204-B8FF-77496F1111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723"/>
          <a:stretch/>
        </p:blipFill>
        <p:spPr>
          <a:xfrm>
            <a:off x="304800" y="2043991"/>
            <a:ext cx="7010400" cy="437981"/>
          </a:xfrm>
          <a:prstGeom prst="rect">
            <a:avLst/>
          </a:prstGeom>
        </p:spPr>
      </p:pic>
      <p:pic>
        <p:nvPicPr>
          <p:cNvPr id="6" name="내용 개체 틀 5" descr="텍스트, 폰트, 라인, 화이트이(가) 표시된 사진&#10;&#10;자동 생성된 설명">
            <a:extLst>
              <a:ext uri="{FF2B5EF4-FFF2-40B4-BE49-F238E27FC236}">
                <a16:creationId xmlns:a16="http://schemas.microsoft.com/office/drawing/2014/main" id="{36A3897C-D6A0-AB9B-54BE-E2A918D30B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04800" y="3705828"/>
            <a:ext cx="6705600" cy="947725"/>
          </a:xfrm>
        </p:spPr>
      </p:pic>
      <p:pic>
        <p:nvPicPr>
          <p:cNvPr id="7" name="Picture 2" descr="업로드한 이미지">
            <a:extLst>
              <a:ext uri="{FF2B5EF4-FFF2-40B4-BE49-F238E27FC236}">
                <a16:creationId xmlns:a16="http://schemas.microsoft.com/office/drawing/2014/main" id="{77C88639-F000-33AB-EBC3-2140C480F9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5" t="64745" b="4404"/>
          <a:stretch/>
        </p:blipFill>
        <p:spPr bwMode="auto">
          <a:xfrm>
            <a:off x="304800" y="5888628"/>
            <a:ext cx="6705600" cy="60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왼쪽으로 구부러진 화살표[C] 10">
            <a:extLst>
              <a:ext uri="{FF2B5EF4-FFF2-40B4-BE49-F238E27FC236}">
                <a16:creationId xmlns:a16="http://schemas.microsoft.com/office/drawing/2014/main" id="{43CD54D7-D395-55F8-70A2-20B8BF2CE15D}"/>
              </a:ext>
            </a:extLst>
          </p:cNvPr>
          <p:cNvSpPr/>
          <p:nvPr/>
        </p:nvSpPr>
        <p:spPr>
          <a:xfrm>
            <a:off x="7315200" y="2599834"/>
            <a:ext cx="469900" cy="1334869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왼쪽으로 구부러진 화살표[C] 11">
            <a:extLst>
              <a:ext uri="{FF2B5EF4-FFF2-40B4-BE49-F238E27FC236}">
                <a16:creationId xmlns:a16="http://schemas.microsoft.com/office/drawing/2014/main" id="{32EB2A81-C3CD-C160-8A67-28587ABF4E4A}"/>
              </a:ext>
            </a:extLst>
          </p:cNvPr>
          <p:cNvSpPr/>
          <p:nvPr/>
        </p:nvSpPr>
        <p:spPr>
          <a:xfrm>
            <a:off x="7315200" y="4676344"/>
            <a:ext cx="469900" cy="1334869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34F589-002C-4F55-D931-F049AA87B923}"/>
              </a:ext>
            </a:extLst>
          </p:cNvPr>
          <p:cNvSpPr txBox="1"/>
          <p:nvPr/>
        </p:nvSpPr>
        <p:spPr>
          <a:xfrm>
            <a:off x="8051800" y="2768600"/>
            <a:ext cx="386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Add CQL(q-value maximization, </a:t>
            </a:r>
            <a:r>
              <a:rPr kumimoji="1" lang="en-US" altLang="ko-KR" dirty="0" err="1"/>
              <a:t>regularlizer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CB7082-1AA6-99C7-85EB-F5669CDF80AB}"/>
                  </a:ext>
                </a:extLst>
              </p:cNvPr>
              <p:cNvSpPr txBox="1"/>
              <p:nvPr/>
            </p:nvSpPr>
            <p:spPr>
              <a:xfrm>
                <a:off x="8051800" y="5003800"/>
                <a:ext cx="4038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dirty="0"/>
                  <a:t>When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ℛ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kumimoji="1" lang="en-US" altLang="ko-KR" dirty="0"/>
                  <a:t> is KL-divergence, and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𝑢𝑛𝑖𝑓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dirty="0"/>
                  <a:t> </a:t>
                </a:r>
                <a:endParaRPr kumimoji="1" lang="ko-KR" alt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CB7082-1AA6-99C7-85EB-F5669CDF8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800" y="5003800"/>
                <a:ext cx="4038600" cy="646331"/>
              </a:xfrm>
              <a:prstGeom prst="rect">
                <a:avLst/>
              </a:prstGeom>
              <a:blipFill>
                <a:blip r:embed="rId6"/>
                <a:stretch>
                  <a:fillRect l="-1572" t="-5882" b="-98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6933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2. Implementation Analysis</a:t>
            </a:r>
            <a:endParaRPr kumimoji="1" lang="ko-KR" alt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2A725-BC5C-84F0-3B89-E6E7A01E4A04}"/>
              </a:ext>
            </a:extLst>
          </p:cNvPr>
          <p:cNvSpPr txBox="1"/>
          <p:nvPr/>
        </p:nvSpPr>
        <p:spPr>
          <a:xfrm>
            <a:off x="6759616" y="846787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Overall</a:t>
            </a:r>
            <a:endParaRPr kumimoji="1" lang="ko-KR" alt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8B001-F1C4-0A89-A226-549A3531F699}"/>
              </a:ext>
            </a:extLst>
          </p:cNvPr>
          <p:cNvSpPr txBox="1"/>
          <p:nvPr/>
        </p:nvSpPr>
        <p:spPr>
          <a:xfrm>
            <a:off x="457200" y="1600200"/>
            <a:ext cx="850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Implementation:</a:t>
            </a:r>
          </a:p>
          <a:p>
            <a:endParaRPr kumimoji="1" lang="en-US" altLang="ko-KR" dirty="0"/>
          </a:p>
        </p:txBody>
      </p:sp>
      <p:sp>
        <p:nvSpPr>
          <p:cNvPr id="11" name="왼쪽으로 구부러진 화살표[C] 10">
            <a:extLst>
              <a:ext uri="{FF2B5EF4-FFF2-40B4-BE49-F238E27FC236}">
                <a16:creationId xmlns:a16="http://schemas.microsoft.com/office/drawing/2014/main" id="{43CD54D7-D395-55F8-70A2-20B8BF2CE15D}"/>
              </a:ext>
            </a:extLst>
          </p:cNvPr>
          <p:cNvSpPr/>
          <p:nvPr/>
        </p:nvSpPr>
        <p:spPr>
          <a:xfrm>
            <a:off x="7315200" y="2599834"/>
            <a:ext cx="469900" cy="1334869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왼쪽으로 구부러진 화살표[C] 11">
            <a:extLst>
              <a:ext uri="{FF2B5EF4-FFF2-40B4-BE49-F238E27FC236}">
                <a16:creationId xmlns:a16="http://schemas.microsoft.com/office/drawing/2014/main" id="{32EB2A81-C3CD-C160-8A67-28587ABF4E4A}"/>
              </a:ext>
            </a:extLst>
          </p:cNvPr>
          <p:cNvSpPr/>
          <p:nvPr/>
        </p:nvSpPr>
        <p:spPr>
          <a:xfrm rot="10800000" flipH="1">
            <a:off x="7333068" y="4823742"/>
            <a:ext cx="434163" cy="1334869"/>
          </a:xfrm>
          <a:prstGeom prst="curved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34F589-002C-4F55-D931-F049AA87B923}"/>
              </a:ext>
            </a:extLst>
          </p:cNvPr>
          <p:cNvSpPr txBox="1"/>
          <p:nvPr/>
        </p:nvSpPr>
        <p:spPr>
          <a:xfrm>
            <a:off x="8051800" y="2768600"/>
            <a:ext cx="386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Just use log-sum-exponential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CB7082-1AA6-99C7-85EB-F5669CDF80AB}"/>
                  </a:ext>
                </a:extLst>
              </p:cNvPr>
              <p:cNvSpPr txBox="1"/>
              <p:nvPr/>
            </p:nvSpPr>
            <p:spPr>
              <a:xfrm>
                <a:off x="8051800" y="5003800"/>
                <a:ext cx="4038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dirty="0"/>
                  <a:t>Set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en-US" altLang="ko-KR" dirty="0"/>
                  <a:t> as concatenation of uniform, current, next distribution</a:t>
                </a:r>
                <a:endParaRPr kumimoji="1" lang="ko-KR" alt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CB7082-1AA6-99C7-85EB-F5669CDF8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800" y="5003800"/>
                <a:ext cx="4038600" cy="646331"/>
              </a:xfrm>
              <a:prstGeom prst="rect">
                <a:avLst/>
              </a:prstGeom>
              <a:blipFill>
                <a:blip r:embed="rId3"/>
                <a:stretch>
                  <a:fillRect l="-1572" t="-5882" b="-137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D4ECC90F-6390-883B-057E-150E868B7E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7452"/>
          <a:stretch/>
        </p:blipFill>
        <p:spPr>
          <a:xfrm>
            <a:off x="279400" y="2140075"/>
            <a:ext cx="6647448" cy="683794"/>
          </a:xfrm>
          <a:prstGeom prst="rect">
            <a:avLst/>
          </a:prstGeom>
        </p:spPr>
      </p:pic>
      <p:pic>
        <p:nvPicPr>
          <p:cNvPr id="15" name="그림 1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0A6FB1B6-5B05-3770-3CAE-52BDB90D1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674" y="5257800"/>
            <a:ext cx="6946900" cy="141991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ECEA58B-0C82-3D8C-3D0F-E66039DF85D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508" t="-6847"/>
          <a:stretch/>
        </p:blipFill>
        <p:spPr>
          <a:xfrm>
            <a:off x="129674" y="4026971"/>
            <a:ext cx="8089589" cy="52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335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Experiment  </a:t>
            </a:r>
            <a:endParaRPr kumimoji="1" lang="ko-KR" altLang="en-US" sz="3600" dirty="0"/>
          </a:p>
        </p:txBody>
      </p:sp>
      <p:pic>
        <p:nvPicPr>
          <p:cNvPr id="3" name="그림 2" descr="텍스트, 번호, 폰트, 메뉴이(가) 표시된 사진&#10;&#10;자동 생성된 설명">
            <a:extLst>
              <a:ext uri="{FF2B5EF4-FFF2-40B4-BE49-F238E27FC236}">
                <a16:creationId xmlns:a16="http://schemas.microsoft.com/office/drawing/2014/main" id="{C3076945-B13E-FB8E-BB37-7A0E31F72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11" y="2458937"/>
            <a:ext cx="5727086" cy="28291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D1EA9F-EC74-62E8-DBEB-AA2C4EE40F2B}"/>
              </a:ext>
            </a:extLst>
          </p:cNvPr>
          <p:cNvSpPr txBox="1"/>
          <p:nvPr/>
        </p:nvSpPr>
        <p:spPr>
          <a:xfrm>
            <a:off x="6990347" y="2458937"/>
            <a:ext cx="48126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ym typeface="Wingdings" pitchFamily="2" charset="2"/>
              </a:rPr>
              <a:t>1. What is ‘performance’?</a:t>
            </a:r>
          </a:p>
          <a:p>
            <a:r>
              <a:rPr kumimoji="1" lang="en-US" altLang="ko-KR" dirty="0">
                <a:sym typeface="Wingdings" pitchFamily="2" charset="2"/>
              </a:rPr>
              <a:t>2. Why showed as a chart?</a:t>
            </a:r>
          </a:p>
          <a:p>
            <a:endParaRPr kumimoji="1" lang="en-US" altLang="ko-KR" dirty="0">
              <a:sym typeface="Wingdings" pitchFamily="2" charset="2"/>
            </a:endParaRPr>
          </a:p>
          <a:p>
            <a:r>
              <a:rPr kumimoji="1" lang="en-US" altLang="ko-KR" dirty="0">
                <a:sym typeface="Wingdings" pitchFamily="2" charset="2"/>
              </a:rPr>
              <a:t>3. What if not uniform?</a:t>
            </a:r>
          </a:p>
          <a:p>
            <a:r>
              <a:rPr kumimoji="1" lang="en-US" altLang="ko-KR" dirty="0">
                <a:sym typeface="Wingdings" pitchFamily="2" charset="2"/>
              </a:rPr>
              <a:t>4. Why concatenation with next distribution?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506833-9F82-6F41-978A-CF96BD7ECC2C}"/>
              </a:ext>
            </a:extLst>
          </p:cNvPr>
          <p:cNvSpPr txBox="1"/>
          <p:nvPr/>
        </p:nvSpPr>
        <p:spPr>
          <a:xfrm>
            <a:off x="3989407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Curiosities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04024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Experiment  </a:t>
            </a:r>
            <a:endParaRPr kumimoji="1" lang="ko-KR" alt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C9EA9-E3D1-AACE-F2B7-37D0B0BCA1CD}"/>
              </a:ext>
            </a:extLst>
          </p:cNvPr>
          <p:cNvSpPr txBox="1"/>
          <p:nvPr/>
        </p:nvSpPr>
        <p:spPr>
          <a:xfrm>
            <a:off x="3989407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Environment Construction</a:t>
            </a:r>
            <a:endParaRPr kumimoji="1" lang="ko-KR" alt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C2AB7-D258-9377-E398-C02262EFEC83}"/>
              </a:ext>
            </a:extLst>
          </p:cNvPr>
          <p:cNvSpPr txBox="1"/>
          <p:nvPr/>
        </p:nvSpPr>
        <p:spPr>
          <a:xfrm>
            <a:off x="342900" y="2153414"/>
            <a:ext cx="101219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Framework: 		</a:t>
            </a:r>
            <a:r>
              <a:rPr kumimoji="1" lang="en-US" altLang="ko-KR" dirty="0" err="1"/>
              <a:t>RLkit</a:t>
            </a:r>
            <a:r>
              <a:rPr kumimoji="1" lang="en-US" altLang="ko-KR" dirty="0"/>
              <a:t>, https://</a:t>
            </a:r>
            <a:r>
              <a:rPr kumimoji="1" lang="en-US" altLang="ko-KR" dirty="0" err="1"/>
              <a:t>github.com</a:t>
            </a:r>
            <a:r>
              <a:rPr kumimoji="1" lang="en-US" altLang="ko-KR" dirty="0"/>
              <a:t>/rail-</a:t>
            </a:r>
            <a:r>
              <a:rPr kumimoji="1" lang="en-US" altLang="ko-KR" dirty="0" err="1"/>
              <a:t>berkeley</a:t>
            </a:r>
            <a:r>
              <a:rPr kumimoji="1" lang="en-US" altLang="ko-KR" dirty="0"/>
              <a:t>/</a:t>
            </a:r>
            <a:r>
              <a:rPr kumimoji="1" lang="en-US" altLang="ko-KR" dirty="0" err="1"/>
              <a:t>rlkit.git</a:t>
            </a:r>
            <a:r>
              <a:rPr kumimoji="1" lang="en-US" altLang="ko-KR" dirty="0"/>
              <a:t> 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Environment:		Used </a:t>
            </a:r>
            <a:r>
              <a:rPr kumimoji="1" lang="en-US" altLang="ko-KR" dirty="0" err="1"/>
              <a:t>linux</a:t>
            </a:r>
            <a:r>
              <a:rPr kumimoji="1" lang="en-US" altLang="ko-KR" dirty="0"/>
              <a:t> docker to meet author’s setting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Visualization:		Used </a:t>
            </a:r>
            <a:r>
              <a:rPr kumimoji="1" lang="en-US" altLang="ko-KR" dirty="0" err="1"/>
              <a:t>Vncserver</a:t>
            </a:r>
            <a:r>
              <a:rPr kumimoji="1" lang="en-US" altLang="ko-KR" dirty="0"/>
              <a:t> to see experiment results</a:t>
            </a:r>
          </a:p>
          <a:p>
            <a:endParaRPr kumimoji="1" lang="ko-KR" altLang="en-US" dirty="0"/>
          </a:p>
        </p:txBody>
      </p:sp>
      <p:pic>
        <p:nvPicPr>
          <p:cNvPr id="1026" name="Picture 2" descr="GitHub - rail-berkeley/rlkit: Collection of reinforcement learning  algorithms">
            <a:extLst>
              <a:ext uri="{FF2B5EF4-FFF2-40B4-BE49-F238E27FC236}">
                <a16:creationId xmlns:a16="http://schemas.microsoft.com/office/drawing/2014/main" id="{856F1212-B6D9-DB1D-05EE-3108F8E3C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1690688"/>
            <a:ext cx="1244600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Docker? | AWS">
            <a:extLst>
              <a:ext uri="{FF2B5EF4-FFF2-40B4-BE49-F238E27FC236}">
                <a16:creationId xmlns:a16="http://schemas.microsoft.com/office/drawing/2014/main" id="{247B0D0C-5BE6-C92B-E8EB-55D9ED82C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421" y="3305139"/>
            <a:ext cx="2370157" cy="1112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con Request] VNC Viewer · Issue #1579 · PapirusDevelopmentTeam/papirus-icon-theme  · GitHub">
            <a:extLst>
              <a:ext uri="{FF2B5EF4-FFF2-40B4-BE49-F238E27FC236}">
                <a16:creationId xmlns:a16="http://schemas.microsoft.com/office/drawing/2014/main" id="{9F1CE899-970D-0B5F-69CE-FB3874066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906" y="4661319"/>
            <a:ext cx="1011985" cy="101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082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Experiment  </a:t>
            </a:r>
            <a:endParaRPr kumimoji="1" lang="ko-KR" alt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64DD50-59C8-74AE-1172-E554033A3FF8}"/>
              </a:ext>
            </a:extLst>
          </p:cNvPr>
          <p:cNvSpPr txBox="1"/>
          <p:nvPr/>
        </p:nvSpPr>
        <p:spPr>
          <a:xfrm>
            <a:off x="589546" y="1690688"/>
            <a:ext cx="81092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num_epoch</a:t>
            </a:r>
            <a:r>
              <a:rPr kumimoji="1" lang="en-US" altLang="ko-KR" dirty="0"/>
              <a:t>: 3000 </a:t>
            </a:r>
            <a:r>
              <a:rPr kumimoji="1" lang="en-US" altLang="ko-KR" dirty="0">
                <a:sym typeface="Wingdings" pitchFamily="2" charset="2"/>
              </a:rPr>
              <a:t> 300</a:t>
            </a:r>
          </a:p>
          <a:p>
            <a:r>
              <a:rPr kumimoji="1" lang="en" altLang="ko-KR" dirty="0" err="1"/>
              <a:t>num_trains_per_train_loop</a:t>
            </a:r>
            <a:r>
              <a:rPr kumimoji="1" lang="en" altLang="ko-KR" dirty="0"/>
              <a:t>: 1000 </a:t>
            </a:r>
            <a:r>
              <a:rPr kumimoji="1" lang="en" altLang="ko-KR" dirty="0">
                <a:sym typeface="Wingdings" pitchFamily="2" charset="2"/>
              </a:rPr>
              <a:t> 50</a:t>
            </a:r>
          </a:p>
          <a:p>
            <a:endParaRPr kumimoji="1" lang="en" altLang="ko-KR" dirty="0">
              <a:sym typeface="Wingdings" pitchFamily="2" charset="2"/>
            </a:endParaRPr>
          </a:p>
          <a:p>
            <a:r>
              <a:rPr kumimoji="1" lang="en" altLang="ko-KR" dirty="0" err="1"/>
              <a:t>policy_lr</a:t>
            </a:r>
            <a:r>
              <a:rPr kumimoji="1" lang="en" altLang="ko-KR" dirty="0"/>
              <a:t>=1e-4, seed=10, </a:t>
            </a:r>
            <a:r>
              <a:rPr kumimoji="1" lang="en" altLang="ko-KR" dirty="0" err="1"/>
              <a:t>lagrange_thresh</a:t>
            </a:r>
            <a:r>
              <a:rPr kumimoji="1" lang="en" altLang="ko-KR" dirty="0"/>
              <a:t>=5.0, </a:t>
            </a:r>
            <a:r>
              <a:rPr kumimoji="1" lang="en" altLang="ko-KR" dirty="0" err="1"/>
              <a:t>min_q_weight</a:t>
            </a:r>
            <a:r>
              <a:rPr kumimoji="1" lang="en" altLang="ko-KR" dirty="0"/>
              <a:t>=5.0</a:t>
            </a:r>
          </a:p>
          <a:p>
            <a:endParaRPr kumimoji="1" lang="en" altLang="ko-KR" dirty="0"/>
          </a:p>
          <a:p>
            <a:endParaRPr kumimoji="1" lang="ko-KR" altLang="en-US" dirty="0"/>
          </a:p>
        </p:txBody>
      </p:sp>
      <p:pic>
        <p:nvPicPr>
          <p:cNvPr id="5" name="그림 4" descr="스크린샷, 텍스트이(가) 표시된 사진&#10;&#10;자동 생성된 설명">
            <a:extLst>
              <a:ext uri="{FF2B5EF4-FFF2-40B4-BE49-F238E27FC236}">
                <a16:creationId xmlns:a16="http://schemas.microsoft.com/office/drawing/2014/main" id="{E96AF530-D9F3-E1D6-A006-719EA1E71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910" y="3098146"/>
            <a:ext cx="5337544" cy="33448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B6ECDB-A8E8-5060-D74D-BE823C3F652B}"/>
              </a:ext>
            </a:extLst>
          </p:cNvPr>
          <p:cNvSpPr txBox="1"/>
          <p:nvPr/>
        </p:nvSpPr>
        <p:spPr>
          <a:xfrm>
            <a:off x="3437019" y="4574678"/>
            <a:ext cx="265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hopper-medium </a:t>
            </a:r>
            <a:r>
              <a:rPr kumimoji="1" lang="en-US" altLang="ko-KR" dirty="0">
                <a:sym typeface="Wingdings" pitchFamily="2" charset="2"/>
              </a:rPr>
              <a:t>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1E3283-F1F7-15AF-5E55-08D4AF4D048D}"/>
              </a:ext>
            </a:extLst>
          </p:cNvPr>
          <p:cNvSpPr txBox="1"/>
          <p:nvPr/>
        </p:nvSpPr>
        <p:spPr>
          <a:xfrm>
            <a:off x="3989407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Variant Settings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88510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Experiment  </a:t>
            </a:r>
            <a:endParaRPr kumimoji="1" lang="ko-KR" alt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D31F6-418E-45AB-CBC1-61A8FC9E878F}"/>
              </a:ext>
            </a:extLst>
          </p:cNvPr>
          <p:cNvSpPr txBox="1"/>
          <p:nvPr/>
        </p:nvSpPr>
        <p:spPr>
          <a:xfrm>
            <a:off x="733926" y="2767263"/>
            <a:ext cx="10166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Mean of ‘evaluation/Average Returns’: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walker2d-random: 7.0394</a:t>
            </a:r>
          </a:p>
          <a:p>
            <a:r>
              <a:rPr kumimoji="1" lang="en-US" altLang="ko-KR" dirty="0"/>
              <a:t>hopper-medium: 82.99945</a:t>
            </a:r>
          </a:p>
          <a:p>
            <a:r>
              <a:rPr kumimoji="1" lang="en-US" altLang="ko-KR" dirty="0"/>
              <a:t>hopper-medium-expert: 61.9329</a:t>
            </a:r>
          </a:p>
          <a:p>
            <a:endParaRPr kumimoji="1"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401F4C4-AF65-15F8-2716-9C956129B9EA}"/>
              </a:ext>
            </a:extLst>
          </p:cNvPr>
          <p:cNvGrpSpPr/>
          <p:nvPr/>
        </p:nvGrpSpPr>
        <p:grpSpPr>
          <a:xfrm>
            <a:off x="6649399" y="2229845"/>
            <a:ext cx="2610907" cy="2829161"/>
            <a:chOff x="5626714" y="2483000"/>
            <a:chExt cx="2610907" cy="2829161"/>
          </a:xfrm>
        </p:grpSpPr>
        <p:pic>
          <p:nvPicPr>
            <p:cNvPr id="5" name="그림 4" descr="텍스트, 번호, 폰트, 메뉴이(가) 표시된 사진&#10;&#10;자동 생성된 설명">
              <a:extLst>
                <a:ext uri="{FF2B5EF4-FFF2-40B4-BE49-F238E27FC236}">
                  <a16:creationId xmlns:a16="http://schemas.microsoft.com/office/drawing/2014/main" id="{AD25E0C8-8183-B137-7957-9E166E3549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8207"/>
            <a:stretch/>
          </p:blipFill>
          <p:spPr>
            <a:xfrm>
              <a:off x="5626714" y="2483000"/>
              <a:ext cx="1820833" cy="2829161"/>
            </a:xfrm>
            <a:prstGeom prst="rect">
              <a:avLst/>
            </a:prstGeom>
          </p:spPr>
        </p:pic>
        <p:pic>
          <p:nvPicPr>
            <p:cNvPr id="7" name="그림 6" descr="텍스트, 번호, 폰트, 메뉴이(가) 표시된 사진&#10;&#10;자동 생성된 설명">
              <a:extLst>
                <a:ext uri="{FF2B5EF4-FFF2-40B4-BE49-F238E27FC236}">
                  <a16:creationId xmlns:a16="http://schemas.microsoft.com/office/drawing/2014/main" id="{A64D0902-3B8D-586A-2CC3-89CE8D2899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6205"/>
            <a:stretch/>
          </p:blipFill>
          <p:spPr>
            <a:xfrm>
              <a:off x="7447547" y="2483000"/>
              <a:ext cx="790074" cy="2829161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8A3FB06-6783-83D6-E901-49E61B876ADC}"/>
              </a:ext>
            </a:extLst>
          </p:cNvPr>
          <p:cNvSpPr txBox="1"/>
          <p:nvPr/>
        </p:nvSpPr>
        <p:spPr>
          <a:xfrm>
            <a:off x="3989407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Identifying ‘Performance’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81036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Experiment  </a:t>
            </a:r>
            <a:endParaRPr kumimoji="1" lang="ko-KR" altLang="en-US" sz="3600" dirty="0"/>
          </a:p>
        </p:txBody>
      </p:sp>
      <p:pic>
        <p:nvPicPr>
          <p:cNvPr id="4" name="그림 3" descr="라인, 그래프, 도표, 텍스트이(가) 표시된 사진&#10;&#10;자동 생성된 설명">
            <a:extLst>
              <a:ext uri="{FF2B5EF4-FFF2-40B4-BE49-F238E27FC236}">
                <a16:creationId xmlns:a16="http://schemas.microsoft.com/office/drawing/2014/main" id="{9A507A3F-99AA-28F2-657C-D0104E6B7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23" y="1690688"/>
            <a:ext cx="5931956" cy="3701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AF0DED-970B-AC64-9770-45F0B912003D}"/>
              </a:ext>
            </a:extLst>
          </p:cNvPr>
          <p:cNvSpPr txBox="1"/>
          <p:nvPr/>
        </p:nvSpPr>
        <p:spPr>
          <a:xfrm>
            <a:off x="3989407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Reason of Chart Usage</a:t>
            </a:r>
            <a:endParaRPr kumimoji="1" lang="ko-KR" altLang="en-US" sz="20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36EA685-DB33-2D43-5576-77EBC0C3EE55}"/>
              </a:ext>
            </a:extLst>
          </p:cNvPr>
          <p:cNvCxnSpPr/>
          <p:nvPr/>
        </p:nvCxnSpPr>
        <p:spPr>
          <a:xfrm>
            <a:off x="6620719" y="3576577"/>
            <a:ext cx="983848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D13AD1-7012-E5A8-ADE1-C83877903D5B}"/>
              </a:ext>
            </a:extLst>
          </p:cNvPr>
          <p:cNvSpPr txBox="1"/>
          <p:nvPr/>
        </p:nvSpPr>
        <p:spPr>
          <a:xfrm>
            <a:off x="7824486" y="3397170"/>
            <a:ext cx="270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Average: 82.99945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5026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Experiment</a:t>
            </a:r>
            <a:endParaRPr kumimoji="1" lang="ko-KR" altLang="en-US" sz="3600" dirty="0"/>
          </a:p>
        </p:txBody>
      </p:sp>
      <p:sp>
        <p:nvSpPr>
          <p:cNvPr id="5" name="아래쪽 화살표[D] 4">
            <a:extLst>
              <a:ext uri="{FF2B5EF4-FFF2-40B4-BE49-F238E27FC236}">
                <a16:creationId xmlns:a16="http://schemas.microsoft.com/office/drawing/2014/main" id="{259D97F6-B88E-B70F-7EA6-2722CD8A9641}"/>
              </a:ext>
            </a:extLst>
          </p:cNvPr>
          <p:cNvSpPr/>
          <p:nvPr/>
        </p:nvSpPr>
        <p:spPr>
          <a:xfrm rot="16200000">
            <a:off x="857835" y="4373367"/>
            <a:ext cx="185990" cy="862266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8B428B-4085-B231-686F-F6AEFBE54E6E}"/>
                  </a:ext>
                </a:extLst>
              </p:cNvPr>
              <p:cNvSpPr txBox="1"/>
              <p:nvPr/>
            </p:nvSpPr>
            <p:spPr>
              <a:xfrm>
                <a:off x="1795063" y="4587948"/>
                <a:ext cx="8070512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dirty="0"/>
                  <a:t>What if we believe prior(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kumimoji="1"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ko-KR" dirty="0"/>
                  <a:t>as Gaussian?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8B428B-4085-B231-686F-F6AEFBE54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063" y="4587948"/>
                <a:ext cx="8070512" cy="374526"/>
              </a:xfrm>
              <a:prstGeom prst="rect">
                <a:avLst/>
              </a:prstGeom>
              <a:blipFill>
                <a:blip r:embed="rId3"/>
                <a:stretch>
                  <a:fillRect l="-629" t="-6667" b="-2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7F8A59B1-F986-BFAA-D6C7-75285A7B5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97" y="1978114"/>
            <a:ext cx="10621244" cy="2170935"/>
          </a:xfrm>
          <a:prstGeom prst="rect">
            <a:avLst/>
          </a:prstGeom>
        </p:spPr>
      </p:pic>
      <p:sp>
        <p:nvSpPr>
          <p:cNvPr id="8" name="액자 7">
            <a:extLst>
              <a:ext uri="{FF2B5EF4-FFF2-40B4-BE49-F238E27FC236}">
                <a16:creationId xmlns:a16="http://schemas.microsoft.com/office/drawing/2014/main" id="{08AA9AFF-A573-6729-AD5B-53268756EFFC}"/>
              </a:ext>
            </a:extLst>
          </p:cNvPr>
          <p:cNvSpPr/>
          <p:nvPr/>
        </p:nvSpPr>
        <p:spPr>
          <a:xfrm>
            <a:off x="519697" y="2129587"/>
            <a:ext cx="9610892" cy="397042"/>
          </a:xfrm>
          <a:prstGeom prst="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8DB3A8-F5A5-9B45-8C2D-F3874511F72B}"/>
              </a:ext>
            </a:extLst>
          </p:cNvPr>
          <p:cNvSpPr txBox="1"/>
          <p:nvPr/>
        </p:nvSpPr>
        <p:spPr>
          <a:xfrm>
            <a:off x="3989407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Uniform to Gaussian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43729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Experiment</a:t>
            </a:r>
            <a:endParaRPr kumimoji="1"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8B9AA2-A645-6832-67D5-59823AB34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086142"/>
            <a:ext cx="8429021" cy="8856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1E0139-6AA1-C5D9-7875-2786F2F356EC}"/>
              </a:ext>
            </a:extLst>
          </p:cNvPr>
          <p:cNvSpPr txBox="1"/>
          <p:nvPr/>
        </p:nvSpPr>
        <p:spPr>
          <a:xfrm>
            <a:off x="838199" y="3701535"/>
            <a:ext cx="8518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Gaussian centered as a mean of actions based on current policy.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D8E401-B1EC-ADA0-744A-0A593E412B69}"/>
              </a:ext>
            </a:extLst>
          </p:cNvPr>
          <p:cNvSpPr txBox="1"/>
          <p:nvPr/>
        </p:nvSpPr>
        <p:spPr>
          <a:xfrm>
            <a:off x="3989407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Uniform to Gaussian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58245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Experiment</a:t>
            </a:r>
            <a:endParaRPr kumimoji="1" lang="ko-KR" alt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02E89-23DB-F4F4-6D0D-1F16BA19B90B}"/>
              </a:ext>
            </a:extLst>
          </p:cNvPr>
          <p:cNvSpPr txBox="1"/>
          <p:nvPr/>
        </p:nvSpPr>
        <p:spPr>
          <a:xfrm>
            <a:off x="745958" y="2069432"/>
            <a:ext cx="8109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Score:</a:t>
            </a:r>
          </a:p>
          <a:p>
            <a:r>
              <a:rPr kumimoji="1" lang="en-US" altLang="ko-KR" dirty="0"/>
              <a:t>hopper-medium with uniform - 82.99945</a:t>
            </a:r>
          </a:p>
          <a:p>
            <a:r>
              <a:rPr kumimoji="1" lang="en-US" altLang="ko-KR" dirty="0"/>
              <a:t>hopper-medium with Gaussian - 72.5872  </a:t>
            </a:r>
            <a:endParaRPr kumimoji="1" lang="ko-KR" altLang="en-US" dirty="0"/>
          </a:p>
        </p:txBody>
      </p:sp>
      <p:pic>
        <p:nvPicPr>
          <p:cNvPr id="5" name="그림 4" descr="텍스트, 그래프, 라인, 도표이(가) 표시된 사진&#10;&#10;자동 생성된 설명">
            <a:extLst>
              <a:ext uri="{FF2B5EF4-FFF2-40B4-BE49-F238E27FC236}">
                <a16:creationId xmlns:a16="http://schemas.microsoft.com/office/drawing/2014/main" id="{A026EEB8-6571-DADE-20EA-CE2F578CA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708" y="2069432"/>
            <a:ext cx="6381067" cy="39618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264E3B-0A33-81F0-9F7C-B06C23E93F18}"/>
              </a:ext>
            </a:extLst>
          </p:cNvPr>
          <p:cNvSpPr txBox="1"/>
          <p:nvPr/>
        </p:nvSpPr>
        <p:spPr>
          <a:xfrm>
            <a:off x="3989407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Uniform to Gaussian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52165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Experiment</a:t>
            </a:r>
            <a:endParaRPr kumimoji="1" lang="ko-KR" altLang="en-US" sz="3600" dirty="0"/>
          </a:p>
        </p:txBody>
      </p:sp>
      <p:pic>
        <p:nvPicPr>
          <p:cNvPr id="4" name="그림 3" descr="그래프, 라인, 도표, 스크린샷이(가) 표시된 사진&#10;&#10;자동 생성된 설명">
            <a:extLst>
              <a:ext uri="{FF2B5EF4-FFF2-40B4-BE49-F238E27FC236}">
                <a16:creationId xmlns:a16="http://schemas.microsoft.com/office/drawing/2014/main" id="{A7D5C5A8-5221-9E21-DA7B-DF8083606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6350"/>
            <a:ext cx="5959643" cy="3170620"/>
          </a:xfrm>
          <a:prstGeom prst="rect">
            <a:avLst/>
          </a:prstGeom>
        </p:spPr>
      </p:pic>
      <p:pic>
        <p:nvPicPr>
          <p:cNvPr id="6" name="그림 5" descr="그래프, 라인, 스크린샷, 도표이(가) 표시된 사진&#10;&#10;자동 생성된 설명">
            <a:extLst>
              <a:ext uri="{FF2B5EF4-FFF2-40B4-BE49-F238E27FC236}">
                <a16:creationId xmlns:a16="http://schemas.microsoft.com/office/drawing/2014/main" id="{EDA46012-A8D8-E21F-F6A3-8159E1D47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06350"/>
            <a:ext cx="6047873" cy="32175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D7F230-B717-16ED-EAEA-C5035C68887A}"/>
              </a:ext>
            </a:extLst>
          </p:cNvPr>
          <p:cNvSpPr txBox="1"/>
          <p:nvPr/>
        </p:nvSpPr>
        <p:spPr>
          <a:xfrm>
            <a:off x="2671010" y="4976970"/>
            <a:ext cx="125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Gaussian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C88DD0-4E27-0473-75FF-FF0230FA11DA}"/>
              </a:ext>
            </a:extLst>
          </p:cNvPr>
          <p:cNvSpPr txBox="1"/>
          <p:nvPr/>
        </p:nvSpPr>
        <p:spPr>
          <a:xfrm>
            <a:off x="8734927" y="4976970"/>
            <a:ext cx="1046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Uniform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9028E7-AA8C-2817-D6AB-08B821FDC80E}"/>
              </a:ext>
            </a:extLst>
          </p:cNvPr>
          <p:cNvSpPr txBox="1"/>
          <p:nvPr/>
        </p:nvSpPr>
        <p:spPr>
          <a:xfrm>
            <a:off x="601579" y="5702969"/>
            <a:ext cx="1034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à"/>
            </a:pPr>
            <a:r>
              <a:rPr kumimoji="1" lang="en-US" altLang="ko-KR" dirty="0">
                <a:sym typeface="Wingdings" pitchFamily="2" charset="2"/>
              </a:rPr>
              <a:t>Variance of Q-value decreases over epoch, robust 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5F6A2-26A2-77C0-CED0-ABB66BF95E2F}"/>
              </a:ext>
            </a:extLst>
          </p:cNvPr>
          <p:cNvSpPr txBox="1"/>
          <p:nvPr/>
        </p:nvSpPr>
        <p:spPr>
          <a:xfrm>
            <a:off x="3989407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Uniform to Gaussian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10599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Experiment </a:t>
            </a:r>
            <a:endParaRPr kumimoji="1" lang="ko-KR" altLang="en-US" sz="3600" dirty="0"/>
          </a:p>
        </p:txBody>
      </p:sp>
      <p:pic>
        <p:nvPicPr>
          <p:cNvPr id="4" name="그림 3" descr="그래프, 라인, 도표, 텍스트이(가) 표시된 사진&#10;&#10;자동 생성된 설명">
            <a:extLst>
              <a:ext uri="{FF2B5EF4-FFF2-40B4-BE49-F238E27FC236}">
                <a16:creationId xmlns:a16="http://schemas.microsoft.com/office/drawing/2014/main" id="{47E54C7F-21F5-E847-9229-FE0217960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4278"/>
            <a:ext cx="6096000" cy="3243164"/>
          </a:xfrm>
          <a:prstGeom prst="rect">
            <a:avLst/>
          </a:prstGeom>
        </p:spPr>
      </p:pic>
      <p:pic>
        <p:nvPicPr>
          <p:cNvPr id="6" name="그림 5" descr="라인, 그래프, 스크린샷, 도표이(가) 표시된 사진&#10;&#10;자동 생성된 설명">
            <a:extLst>
              <a:ext uri="{FF2B5EF4-FFF2-40B4-BE49-F238E27FC236}">
                <a16:creationId xmlns:a16="http://schemas.microsoft.com/office/drawing/2014/main" id="{E6A7BBFD-E19E-0C60-2540-BC361894A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642" y="1534278"/>
            <a:ext cx="6232358" cy="33157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6B77E3-9601-428B-33DB-CE465638CD2D}"/>
              </a:ext>
            </a:extLst>
          </p:cNvPr>
          <p:cNvSpPr txBox="1"/>
          <p:nvPr/>
        </p:nvSpPr>
        <p:spPr>
          <a:xfrm>
            <a:off x="2671010" y="4976970"/>
            <a:ext cx="125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Gaussian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B2A103-B2A3-30C2-6D47-E0BEBF2DD4E3}"/>
              </a:ext>
            </a:extLst>
          </p:cNvPr>
          <p:cNvSpPr txBox="1"/>
          <p:nvPr/>
        </p:nvSpPr>
        <p:spPr>
          <a:xfrm>
            <a:off x="8734927" y="4976970"/>
            <a:ext cx="1046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Uniform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39FF42-98DA-111E-2741-2D445DC10BDA}"/>
              </a:ext>
            </a:extLst>
          </p:cNvPr>
          <p:cNvSpPr txBox="1"/>
          <p:nvPr/>
        </p:nvSpPr>
        <p:spPr>
          <a:xfrm>
            <a:off x="601580" y="5649807"/>
            <a:ext cx="10347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(Q of random) – (Q of in-distribution) &gt; 0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kumimoji="1" lang="en-US" altLang="ko-KR" dirty="0"/>
              <a:t>Cannot guarantee conservativeness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B99FE9-8A5D-9BD4-B68F-C743CCC1FCC6}"/>
              </a:ext>
            </a:extLst>
          </p:cNvPr>
          <p:cNvSpPr txBox="1"/>
          <p:nvPr/>
        </p:nvSpPr>
        <p:spPr>
          <a:xfrm>
            <a:off x="3989407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Uniform to Gaussian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926199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Experiment </a:t>
            </a:r>
            <a:endParaRPr kumimoji="1" lang="ko-KR" altLang="en-US" sz="3600" dirty="0"/>
          </a:p>
        </p:txBody>
      </p:sp>
      <p:pic>
        <p:nvPicPr>
          <p:cNvPr id="3" name="Picture 2" descr="업로드한 이미지">
            <a:extLst>
              <a:ext uri="{FF2B5EF4-FFF2-40B4-BE49-F238E27FC236}">
                <a16:creationId xmlns:a16="http://schemas.microsoft.com/office/drawing/2014/main" id="{2DF76E6A-993D-6017-FC92-30D6ED18F7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26"/>
          <a:stretch/>
        </p:blipFill>
        <p:spPr bwMode="auto">
          <a:xfrm>
            <a:off x="338890" y="2407152"/>
            <a:ext cx="9602845" cy="2512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AF05AC-DC27-C9FE-0EF0-3AD9E494BB39}"/>
              </a:ext>
            </a:extLst>
          </p:cNvPr>
          <p:cNvSpPr txBox="1"/>
          <p:nvPr/>
        </p:nvSpPr>
        <p:spPr>
          <a:xfrm>
            <a:off x="3989407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Choice of Backup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43374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Experiment </a:t>
            </a:r>
            <a:endParaRPr kumimoji="1" lang="ko-KR" altLang="en-US" sz="3600" dirty="0"/>
          </a:p>
        </p:txBody>
      </p:sp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886BE321-22D9-C785-2BAA-3D54B1CF3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97" y="1690688"/>
            <a:ext cx="9623103" cy="1966919"/>
          </a:xfrm>
          <a:prstGeom prst="rect">
            <a:avLst/>
          </a:prstGeom>
        </p:spPr>
      </p:pic>
      <p:pic>
        <p:nvPicPr>
          <p:cNvPr id="6" name="그림 5" descr="텍스트, 폰트, 스크린샷, 문서이(가) 표시된 사진&#10;&#10;자동 생성된 설명">
            <a:extLst>
              <a:ext uri="{FF2B5EF4-FFF2-40B4-BE49-F238E27FC236}">
                <a16:creationId xmlns:a16="http://schemas.microsoft.com/office/drawing/2014/main" id="{86BED118-AB08-E072-2B91-3935B7B28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97" y="4082700"/>
            <a:ext cx="7260903" cy="1990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900CDB-2250-480F-E181-75B58A8E4B03}"/>
              </a:ext>
            </a:extLst>
          </p:cNvPr>
          <p:cNvSpPr txBox="1"/>
          <p:nvPr/>
        </p:nvSpPr>
        <p:spPr>
          <a:xfrm>
            <a:off x="3989407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Choice of Backup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115150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Experiment</a:t>
            </a:r>
            <a:endParaRPr kumimoji="1" lang="ko-KR" altLang="en-US" sz="3600" dirty="0"/>
          </a:p>
        </p:txBody>
      </p:sp>
      <p:pic>
        <p:nvPicPr>
          <p:cNvPr id="3" name="그림 2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8AAAB073-3497-9895-C957-8DFD6B32E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97" y="1690688"/>
            <a:ext cx="9623103" cy="1966919"/>
          </a:xfrm>
          <a:prstGeom prst="rect">
            <a:avLst/>
          </a:prstGeom>
        </p:spPr>
      </p:pic>
      <p:pic>
        <p:nvPicPr>
          <p:cNvPr id="4" name="그림 3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7609E040-E3C4-1681-5501-CB11A46200D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926" r="33392" b="41309"/>
          <a:stretch/>
        </p:blipFill>
        <p:spPr>
          <a:xfrm>
            <a:off x="498797" y="4320388"/>
            <a:ext cx="7729141" cy="132556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4F0AA63-6503-4287-6A88-7BA89364EF5F}"/>
              </a:ext>
            </a:extLst>
          </p:cNvPr>
          <p:cNvSpPr/>
          <p:nvPr/>
        </p:nvSpPr>
        <p:spPr>
          <a:xfrm>
            <a:off x="304800" y="2336800"/>
            <a:ext cx="9944100" cy="63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4D44F6-25E5-BF0D-80A1-B15A15DB6BA6}"/>
              </a:ext>
            </a:extLst>
          </p:cNvPr>
          <p:cNvSpPr/>
          <p:nvPr/>
        </p:nvSpPr>
        <p:spPr>
          <a:xfrm>
            <a:off x="338298" y="3300806"/>
            <a:ext cx="9944100" cy="63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0439E51-1AAC-7532-2A72-39EC21EEC0AD}"/>
              </a:ext>
            </a:extLst>
          </p:cNvPr>
          <p:cNvSpPr/>
          <p:nvPr/>
        </p:nvSpPr>
        <p:spPr>
          <a:xfrm>
            <a:off x="338298" y="3506995"/>
            <a:ext cx="9944100" cy="63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E4AE3D8-CE12-4C25-EF76-DB9C3EC8E639}"/>
              </a:ext>
            </a:extLst>
          </p:cNvPr>
          <p:cNvSpPr/>
          <p:nvPr/>
        </p:nvSpPr>
        <p:spPr>
          <a:xfrm>
            <a:off x="4762500" y="4648200"/>
            <a:ext cx="1333500" cy="63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A40821-89DB-7CF2-88F9-A15A3AEF266E}"/>
              </a:ext>
            </a:extLst>
          </p:cNvPr>
          <p:cNvSpPr/>
          <p:nvPr/>
        </p:nvSpPr>
        <p:spPr>
          <a:xfrm>
            <a:off x="4762500" y="5310981"/>
            <a:ext cx="1333500" cy="63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0EC854-AE63-0975-974A-DF10FF84AD88}"/>
              </a:ext>
            </a:extLst>
          </p:cNvPr>
          <p:cNvSpPr txBox="1"/>
          <p:nvPr/>
        </p:nvSpPr>
        <p:spPr>
          <a:xfrm>
            <a:off x="3989407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Choice of Backup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46292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3. Experiment</a:t>
            </a:r>
            <a:endParaRPr kumimoji="1" lang="ko-KR" alt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827D86-E0FF-9026-ADC9-370DE900518B}"/>
              </a:ext>
            </a:extLst>
          </p:cNvPr>
          <p:cNvSpPr txBox="1"/>
          <p:nvPr/>
        </p:nvSpPr>
        <p:spPr>
          <a:xfrm>
            <a:off x="355600" y="2690336"/>
            <a:ext cx="10998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hopper-medium(</a:t>
            </a:r>
            <a:r>
              <a:rPr kumimoji="1" lang="en-US" altLang="ko-KR" dirty="0" err="1"/>
              <a:t>min_q_version</a:t>
            </a:r>
            <a:r>
              <a:rPr kumimoji="1" lang="en-US" altLang="ko-KR" dirty="0"/>
              <a:t>=2) : 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Average score:</a:t>
            </a:r>
          </a:p>
          <a:p>
            <a:r>
              <a:rPr kumimoji="1" lang="en-US" altLang="ko-KR" dirty="0"/>
              <a:t>modified version – 81.1</a:t>
            </a:r>
          </a:p>
          <a:p>
            <a:r>
              <a:rPr kumimoji="1" lang="en-US" altLang="ko-KR" dirty="0"/>
              <a:t>original – 77.956</a:t>
            </a:r>
            <a:endParaRPr kumimoji="1" lang="ko-KR" altLang="en-US" dirty="0"/>
          </a:p>
        </p:txBody>
      </p:sp>
      <p:pic>
        <p:nvPicPr>
          <p:cNvPr id="5" name="그림 4" descr="텍스트, 그래프, 라인, 도표이(가) 표시된 사진&#10;&#10;자동 생성된 설명">
            <a:extLst>
              <a:ext uri="{FF2B5EF4-FFF2-40B4-BE49-F238E27FC236}">
                <a16:creationId xmlns:a16="http://schemas.microsoft.com/office/drawing/2014/main" id="{5E85CC4E-3E55-658B-998F-1DFCC7A2E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980" y="2312690"/>
            <a:ext cx="6396020" cy="39393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5064D2-1922-23A4-FC33-F197DF1EFEC9}"/>
              </a:ext>
            </a:extLst>
          </p:cNvPr>
          <p:cNvSpPr txBox="1"/>
          <p:nvPr/>
        </p:nvSpPr>
        <p:spPr>
          <a:xfrm>
            <a:off x="3989407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Choice of Backup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103330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4. Further Research</a:t>
            </a:r>
            <a:endParaRPr kumimoji="1" lang="ko-KR" altLang="en-US" sz="36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917FC1E-3604-DF53-95E2-AAFECE922E59}"/>
              </a:ext>
            </a:extLst>
          </p:cNvPr>
          <p:cNvGrpSpPr/>
          <p:nvPr/>
        </p:nvGrpSpPr>
        <p:grpSpPr>
          <a:xfrm>
            <a:off x="7992979" y="1854199"/>
            <a:ext cx="3360821" cy="3696208"/>
            <a:chOff x="525379" y="2142958"/>
            <a:chExt cx="3360821" cy="3696208"/>
          </a:xfrm>
        </p:grpSpPr>
        <p:pic>
          <p:nvPicPr>
            <p:cNvPr id="4" name="그림 3" descr="텍스트, 스크린샷, 번호, 폰트이(가) 표시된 사진&#10;&#10;자동 생성된 설명">
              <a:extLst>
                <a:ext uri="{FF2B5EF4-FFF2-40B4-BE49-F238E27FC236}">
                  <a16:creationId xmlns:a16="http://schemas.microsoft.com/office/drawing/2014/main" id="{51FEA705-3CE7-6573-CA15-E0D9866B09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84004"/>
            <a:stretch/>
          </p:blipFill>
          <p:spPr>
            <a:xfrm>
              <a:off x="525379" y="2142958"/>
              <a:ext cx="1243263" cy="3696208"/>
            </a:xfrm>
            <a:prstGeom prst="rect">
              <a:avLst/>
            </a:prstGeom>
          </p:spPr>
        </p:pic>
        <p:pic>
          <p:nvPicPr>
            <p:cNvPr id="6" name="그림 5" descr="텍스트, 스크린샷, 번호, 폰트이(가) 표시된 사진&#10;&#10;자동 생성된 설명">
              <a:extLst>
                <a:ext uri="{FF2B5EF4-FFF2-40B4-BE49-F238E27FC236}">
                  <a16:creationId xmlns:a16="http://schemas.microsoft.com/office/drawing/2014/main" id="{4F616334-0924-06F4-7F97-4D3A27A776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9216" r="47162"/>
            <a:stretch/>
          </p:blipFill>
          <p:spPr>
            <a:xfrm>
              <a:off x="1768642" y="2142958"/>
              <a:ext cx="1058779" cy="3696208"/>
            </a:xfrm>
            <a:prstGeom prst="rect">
              <a:avLst/>
            </a:prstGeom>
          </p:spPr>
        </p:pic>
        <p:pic>
          <p:nvPicPr>
            <p:cNvPr id="8" name="그림 7" descr="텍스트, 스크린샷, 번호, 폰트이(가) 표시된 사진&#10;&#10;자동 생성된 설명">
              <a:extLst>
                <a:ext uri="{FF2B5EF4-FFF2-40B4-BE49-F238E27FC236}">
                  <a16:creationId xmlns:a16="http://schemas.microsoft.com/office/drawing/2014/main" id="{3006FEAE-63EB-05D8-F9CD-29D479AE66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6378"/>
            <a:stretch/>
          </p:blipFill>
          <p:spPr>
            <a:xfrm>
              <a:off x="2827421" y="2142958"/>
              <a:ext cx="1058779" cy="3696208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A6C5FD-11E5-759A-6193-88E81C840CF7}"/>
              </a:ext>
            </a:extLst>
          </p:cNvPr>
          <p:cNvSpPr txBox="1"/>
          <p:nvPr/>
        </p:nvSpPr>
        <p:spPr>
          <a:xfrm>
            <a:off x="264696" y="1848434"/>
            <a:ext cx="73512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ko-KR" dirty="0"/>
              <a:t>Mildly Conservative Q-Learning for Offline Reinforcement Learning</a:t>
            </a:r>
          </a:p>
          <a:p>
            <a:r>
              <a:rPr kumimoji="1" lang="en-US" altLang="ko-KR" dirty="0"/>
              <a:t>-</a:t>
            </a:r>
            <a:r>
              <a:rPr kumimoji="1" lang="en-US" altLang="ko-KR" dirty="0" err="1"/>
              <a:t>Jiafei</a:t>
            </a:r>
            <a:r>
              <a:rPr kumimoji="1" lang="en-US" altLang="ko-KR" dirty="0"/>
              <a:t> Lyu et </a:t>
            </a:r>
            <a:r>
              <a:rPr kumimoji="1" lang="en-US" altLang="ko-KR" dirty="0" err="1"/>
              <a:t>el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NeurIPS</a:t>
            </a:r>
            <a:r>
              <a:rPr kumimoji="1" lang="en-US" altLang="ko-KR" dirty="0"/>
              <a:t> 2022</a:t>
            </a:r>
            <a:r>
              <a:rPr kumimoji="1" lang="en" altLang="ko-KR" dirty="0"/>
              <a:t> </a:t>
            </a:r>
          </a:p>
          <a:p>
            <a:endParaRPr kumimoji="1" lang="en" altLang="ko-KR" dirty="0"/>
          </a:p>
          <a:p>
            <a:endParaRPr kumimoji="1" lang="en" altLang="ko-KR" dirty="0"/>
          </a:p>
          <a:p>
            <a:r>
              <a:rPr kumimoji="1" lang="en-US" altLang="ko-KR" dirty="0"/>
              <a:t>CQL can be ‘over-conservative’, which can lead to decrease in performance</a:t>
            </a:r>
          </a:p>
          <a:p>
            <a:endParaRPr kumimoji="1" lang="en-US" altLang="ko-KR" dirty="0">
              <a:sym typeface="Wingdings" pitchFamily="2" charset="2"/>
            </a:endParaRPr>
          </a:p>
          <a:p>
            <a:r>
              <a:rPr kumimoji="1" lang="en-US" altLang="ko-KR" dirty="0">
                <a:sym typeface="Wingdings" pitchFamily="2" charset="2"/>
              </a:rPr>
              <a:t> MCQ allows value estimate for OOD action to be higher, as long as they are not excessively optimistic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E459AA-6FD0-1BC3-D39A-AC5C2C92AE7C}"/>
              </a:ext>
            </a:extLst>
          </p:cNvPr>
          <p:cNvSpPr txBox="1"/>
          <p:nvPr/>
        </p:nvSpPr>
        <p:spPr>
          <a:xfrm>
            <a:off x="5135301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Mildly CQL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96013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4. Further Research</a:t>
            </a:r>
            <a:endParaRPr kumimoji="1" lang="ko-KR" altLang="en-US" sz="3600" dirty="0"/>
          </a:p>
        </p:txBody>
      </p:sp>
      <p:pic>
        <p:nvPicPr>
          <p:cNvPr id="5" name="그림 4" descr="텍스트, 도표, 폰트, 그래프이(가) 표시된 사진&#10;&#10;자동 생성된 설명">
            <a:extLst>
              <a:ext uri="{FF2B5EF4-FFF2-40B4-BE49-F238E27FC236}">
                <a16:creationId xmlns:a16="http://schemas.microsoft.com/office/drawing/2014/main" id="{FEDC9345-F789-E135-59BF-B71A3988A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72045"/>
            <a:ext cx="4318869" cy="2156955"/>
          </a:xfrm>
          <a:prstGeom prst="rect">
            <a:avLst/>
          </a:prstGeom>
        </p:spPr>
      </p:pic>
      <p:pic>
        <p:nvPicPr>
          <p:cNvPr id="9" name="그림 8" descr="라인, 그래프, 도표, 스크린샷이(가) 표시된 사진&#10;&#10;자동 생성된 설명">
            <a:extLst>
              <a:ext uri="{FF2B5EF4-FFF2-40B4-BE49-F238E27FC236}">
                <a16:creationId xmlns:a16="http://schemas.microsoft.com/office/drawing/2014/main" id="{D4C302C2-D75D-32DB-C19F-2DA20AF5C5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637" r="52525"/>
          <a:stretch/>
        </p:blipFill>
        <p:spPr>
          <a:xfrm>
            <a:off x="639694" y="3263799"/>
            <a:ext cx="4517373" cy="1806317"/>
          </a:xfrm>
          <a:prstGeom prst="rect">
            <a:avLst/>
          </a:prstGeom>
        </p:spPr>
      </p:pic>
      <p:pic>
        <p:nvPicPr>
          <p:cNvPr id="3" name="그림 2" descr="라인, 그래프, 도표, 스크린샷이(가) 표시된 사진&#10;&#10;자동 생성된 설명">
            <a:extLst>
              <a:ext uri="{FF2B5EF4-FFF2-40B4-BE49-F238E27FC236}">
                <a16:creationId xmlns:a16="http://schemas.microsoft.com/office/drawing/2014/main" id="{995BEBA0-9607-6143-4296-3EC4593D8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475" r="4694" b="9627"/>
          <a:stretch/>
        </p:blipFill>
        <p:spPr>
          <a:xfrm>
            <a:off x="477461" y="4956396"/>
            <a:ext cx="4841840" cy="19007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CC195-D948-E94F-AABC-BFAE52DF7080}"/>
              </a:ext>
            </a:extLst>
          </p:cNvPr>
          <p:cNvSpPr txBox="1"/>
          <p:nvPr/>
        </p:nvSpPr>
        <p:spPr>
          <a:xfrm>
            <a:off x="5690937" y="2094074"/>
            <a:ext cx="61120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ko-KR" dirty="0"/>
              <a:t>Density Estimation for Conservative Q-Learning</a:t>
            </a:r>
          </a:p>
          <a:p>
            <a:r>
              <a:rPr kumimoji="1" lang="en-US" altLang="ko-KR" dirty="0"/>
              <a:t>-Paul </a:t>
            </a:r>
            <a:r>
              <a:rPr kumimoji="1" lang="en-US" altLang="ko-KR" dirty="0" err="1"/>
              <a:t>Daudi</a:t>
            </a:r>
            <a:r>
              <a:rPr kumimoji="1" lang="en-US" altLang="ko-KR" dirty="0"/>
              <a:t> et </a:t>
            </a:r>
            <a:r>
              <a:rPr kumimoji="1" lang="en-US" altLang="ko-KR" dirty="0" err="1"/>
              <a:t>el</a:t>
            </a:r>
            <a:r>
              <a:rPr kumimoji="1" lang="en-US" altLang="ko-KR" dirty="0"/>
              <a:t>, 2022</a:t>
            </a:r>
          </a:p>
          <a:p>
            <a:endParaRPr kumimoji="1" lang="en-US" altLang="ko-KR" dirty="0"/>
          </a:p>
          <a:p>
            <a:r>
              <a:rPr kumimoji="1" lang="en" altLang="ko-KR" dirty="0"/>
              <a:t>CQL applies a uniform penalty across all out-of-distribution (OOD) actions, regardless of their proximity to the dataset.</a:t>
            </a:r>
          </a:p>
          <a:p>
            <a:endParaRPr kumimoji="1" lang="en" altLang="ko-KR" dirty="0"/>
          </a:p>
          <a:p>
            <a:r>
              <a:rPr kumimoji="1" lang="en" altLang="ko-KR" dirty="0">
                <a:sym typeface="Wingdings" pitchFamily="2" charset="2"/>
              </a:rPr>
              <a:t>D-CQL uses a density-based approach to adjust the level of penalty based on the estimated likelihood of state-action pairs being in the dataset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6FDF88-3290-9A36-AC40-9BDCE5E40F08}"/>
              </a:ext>
            </a:extLst>
          </p:cNvPr>
          <p:cNvSpPr txBox="1"/>
          <p:nvPr/>
        </p:nvSpPr>
        <p:spPr>
          <a:xfrm>
            <a:off x="5135301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Density-CQL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702369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4. Further Research</a:t>
            </a:r>
            <a:endParaRPr kumimoji="1" lang="ko-KR" altLang="en-US" sz="36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400CFB-101A-5CFF-DF3E-D71A1A238575}"/>
              </a:ext>
            </a:extLst>
          </p:cNvPr>
          <p:cNvGrpSpPr/>
          <p:nvPr/>
        </p:nvGrpSpPr>
        <p:grpSpPr>
          <a:xfrm>
            <a:off x="8482262" y="1690688"/>
            <a:ext cx="3296985" cy="4373228"/>
            <a:chOff x="180140" y="1596416"/>
            <a:chExt cx="2936372" cy="3881738"/>
          </a:xfrm>
        </p:grpSpPr>
        <p:pic>
          <p:nvPicPr>
            <p:cNvPr id="4" name="그림 3" descr="텍스트, 번호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EFA2AF1F-643C-C157-F9C2-8C497D7A87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81110"/>
            <a:stretch/>
          </p:blipFill>
          <p:spPr>
            <a:xfrm>
              <a:off x="180140" y="1596416"/>
              <a:ext cx="1468186" cy="3881738"/>
            </a:xfrm>
            <a:prstGeom prst="rect">
              <a:avLst/>
            </a:prstGeom>
          </p:spPr>
        </p:pic>
        <p:pic>
          <p:nvPicPr>
            <p:cNvPr id="6" name="그림 5" descr="텍스트, 번호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B0E84C88-627C-44C4-16F4-BAFC4FB6D5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3428" r="-2318"/>
            <a:stretch/>
          </p:blipFill>
          <p:spPr>
            <a:xfrm>
              <a:off x="1648326" y="1596416"/>
              <a:ext cx="1468186" cy="3881738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9EE945C-8B97-E27A-3891-6E852C08CC7E}"/>
              </a:ext>
            </a:extLst>
          </p:cNvPr>
          <p:cNvSpPr txBox="1"/>
          <p:nvPr/>
        </p:nvSpPr>
        <p:spPr>
          <a:xfrm>
            <a:off x="372979" y="1840832"/>
            <a:ext cx="79889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An Adaptive Conservative Q-Learning Framework for Offline Reinforcement Learning – Kun Wu et </a:t>
            </a:r>
            <a:r>
              <a:rPr kumimoji="1" lang="en-US" altLang="ko-KR" dirty="0" err="1"/>
              <a:t>el</a:t>
            </a:r>
            <a:r>
              <a:rPr kumimoji="1" lang="en-US" altLang="ko-KR" dirty="0"/>
              <a:t>, 2023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CQL gives uniform conservatism over all state-action pairs, which can make algorithm overly pessimistic where datasets contain a variety of action qualities</a:t>
            </a:r>
          </a:p>
          <a:p>
            <a:endParaRPr kumimoji="1" lang="en-US" altLang="ko-KR" dirty="0">
              <a:sym typeface="Wingdings" pitchFamily="2" charset="2"/>
            </a:endParaRPr>
          </a:p>
          <a:p>
            <a:r>
              <a:rPr kumimoji="1" lang="en-US" altLang="ko-KR" dirty="0">
                <a:sym typeface="Wingdings" pitchFamily="2" charset="2"/>
              </a:rPr>
              <a:t> ACQL uses adaptive weights that better balances the need to avoid </a:t>
            </a:r>
            <a:r>
              <a:rPr kumimoji="1" lang="en-US" altLang="ko-KR" dirty="0" err="1">
                <a:sym typeface="Wingdings" pitchFamily="2" charset="2"/>
              </a:rPr>
              <a:t>overconservatism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98D5BF-7224-05D9-B6ED-DF1A3940A7F9}"/>
              </a:ext>
            </a:extLst>
          </p:cNvPr>
          <p:cNvSpPr txBox="1"/>
          <p:nvPr/>
        </p:nvSpPr>
        <p:spPr>
          <a:xfrm>
            <a:off x="5135301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Density-CQL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395275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4. Further Research</a:t>
            </a:r>
            <a:endParaRPr kumimoji="1" lang="ko-KR" altLang="en-US" sz="36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5E47320-FDED-EDFE-E5A0-8561F0ACBCB7}"/>
              </a:ext>
            </a:extLst>
          </p:cNvPr>
          <p:cNvGrpSpPr/>
          <p:nvPr/>
        </p:nvGrpSpPr>
        <p:grpSpPr>
          <a:xfrm>
            <a:off x="7656911" y="1690688"/>
            <a:ext cx="3696889" cy="4250873"/>
            <a:chOff x="435477" y="1792702"/>
            <a:chExt cx="3696889" cy="4250873"/>
          </a:xfrm>
        </p:grpSpPr>
        <p:pic>
          <p:nvPicPr>
            <p:cNvPr id="5" name="그림 4" descr="텍스트, 스크린샷, 폰트, 흑백이(가) 표시된 사진&#10;&#10;자동 생성된 설명">
              <a:extLst>
                <a:ext uri="{FF2B5EF4-FFF2-40B4-BE49-F238E27FC236}">
                  <a16:creationId xmlns:a16="http://schemas.microsoft.com/office/drawing/2014/main" id="{57B7F47F-229C-7273-48D5-0BE4843072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84545"/>
            <a:stretch/>
          </p:blipFill>
          <p:spPr>
            <a:xfrm>
              <a:off x="435477" y="1792704"/>
              <a:ext cx="1417386" cy="4250871"/>
            </a:xfrm>
            <a:prstGeom prst="rect">
              <a:avLst/>
            </a:prstGeom>
          </p:spPr>
        </p:pic>
        <p:pic>
          <p:nvPicPr>
            <p:cNvPr id="7" name="그림 6" descr="텍스트, 스크린샷, 폰트, 흑백이(가) 표시된 사진&#10;&#10;자동 생성된 설명">
              <a:extLst>
                <a:ext uri="{FF2B5EF4-FFF2-40B4-BE49-F238E27FC236}">
                  <a16:creationId xmlns:a16="http://schemas.microsoft.com/office/drawing/2014/main" id="{CD1CB886-5D6E-99A4-A5A4-CB5837BA1D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9304" r="48889"/>
            <a:stretch/>
          </p:blipFill>
          <p:spPr>
            <a:xfrm>
              <a:off x="1852863" y="1792703"/>
              <a:ext cx="1082844" cy="4250871"/>
            </a:xfrm>
            <a:prstGeom prst="rect">
              <a:avLst/>
            </a:prstGeom>
          </p:spPr>
        </p:pic>
        <p:pic>
          <p:nvPicPr>
            <p:cNvPr id="9" name="그림 8" descr="텍스트, 스크린샷, 폰트, 흑백이(가) 표시된 사진&#10;&#10;자동 생성된 설명">
              <a:extLst>
                <a:ext uri="{FF2B5EF4-FFF2-40B4-BE49-F238E27FC236}">
                  <a16:creationId xmlns:a16="http://schemas.microsoft.com/office/drawing/2014/main" id="{C2D08876-3844-4A24-4EF3-E53E1271DB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6952"/>
            <a:stretch/>
          </p:blipFill>
          <p:spPr>
            <a:xfrm>
              <a:off x="2935707" y="1792702"/>
              <a:ext cx="1196659" cy="4250871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DA485FA-C5E5-ABEC-F3E6-4F5854FC75BC}"/>
              </a:ext>
            </a:extLst>
          </p:cNvPr>
          <p:cNvSpPr txBox="1"/>
          <p:nvPr/>
        </p:nvSpPr>
        <p:spPr>
          <a:xfrm>
            <a:off x="374557" y="1907257"/>
            <a:ext cx="632861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ko-KR" dirty="0"/>
              <a:t>Strategically Conservative Q-</a:t>
            </a:r>
            <a:r>
              <a:rPr kumimoji="1" lang="en" altLang="ko-KR" dirty="0" err="1"/>
              <a:t>Learnin</a:t>
            </a:r>
            <a:r>
              <a:rPr kumimoji="1" lang="en-US" altLang="ko-KR" dirty="0"/>
              <a:t>g</a:t>
            </a:r>
          </a:p>
          <a:p>
            <a:r>
              <a:rPr kumimoji="1" lang="en-US" altLang="ko-KR" dirty="0"/>
              <a:t>-Yukata Shimizu, Sergey Levine et el. 2024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CQL is overly conservative, since it applies uniform penalties</a:t>
            </a:r>
          </a:p>
          <a:p>
            <a:endParaRPr kumimoji="1" lang="en-US" altLang="ko-KR" dirty="0"/>
          </a:p>
          <a:p>
            <a:r>
              <a:rPr kumimoji="1" lang="en-US" altLang="ko-KR" dirty="0">
                <a:sym typeface="Wingdings" pitchFamily="2" charset="2"/>
              </a:rPr>
              <a:t></a:t>
            </a:r>
            <a:r>
              <a:rPr kumimoji="1" lang="en" altLang="ko-KR" dirty="0"/>
              <a:t> SCQ applies conservatism more strategically by focusing on areas of the action space where generalization is likely to fail</a:t>
            </a:r>
          </a:p>
          <a:p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F35D2-AD31-69E0-E729-2E1594C1A3CF}"/>
              </a:ext>
            </a:extLst>
          </p:cNvPr>
          <p:cNvSpPr txBox="1"/>
          <p:nvPr/>
        </p:nvSpPr>
        <p:spPr>
          <a:xfrm>
            <a:off x="5135301" y="827851"/>
            <a:ext cx="4213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/>
              <a:t>- Density-CQL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846972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8D993-0361-174B-4908-5B66E0A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/>
              <a:t> </a:t>
            </a:r>
            <a:endParaRPr kumimoji="1" lang="ko-KR" altLang="en-US" sz="3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3342343-A870-07E5-4520-A71F12812D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922697" y="2392073"/>
            <a:ext cx="1998964" cy="207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56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4470</TotalTime>
  <Words>1324</Words>
  <Application>Microsoft Macintosh PowerPoint</Application>
  <PresentationFormat>와이드스크린</PresentationFormat>
  <Paragraphs>251</Paragraphs>
  <Slides>40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5" baseType="lpstr">
      <vt:lpstr>맑은 고딕</vt:lpstr>
      <vt:lpstr>Arial</vt:lpstr>
      <vt:lpstr>Cambria Math</vt:lpstr>
      <vt:lpstr>Wingdings</vt:lpstr>
      <vt:lpstr>Office 테마</vt:lpstr>
      <vt:lpstr>Lab Meeting</vt:lpstr>
      <vt:lpstr>Index</vt:lpstr>
      <vt:lpstr>1. Paper review</vt:lpstr>
      <vt:lpstr>1. Paper review</vt:lpstr>
      <vt:lpstr>1. Paper review</vt:lpstr>
      <vt:lpstr>1. Paper review</vt:lpstr>
      <vt:lpstr>1. Paper review</vt:lpstr>
      <vt:lpstr>1. Paper review</vt:lpstr>
      <vt:lpstr>1. Paper review</vt:lpstr>
      <vt:lpstr>2. Implementation Analysis</vt:lpstr>
      <vt:lpstr>2. Implementation Analysis</vt:lpstr>
      <vt:lpstr>2. Implementation Analysis</vt:lpstr>
      <vt:lpstr>2. Implementation Analysis</vt:lpstr>
      <vt:lpstr>2. Implementation Analysis</vt:lpstr>
      <vt:lpstr>2. Implementation Analysis</vt:lpstr>
      <vt:lpstr>2. Implementation Analysis</vt:lpstr>
      <vt:lpstr>2. Implementation Analysis</vt:lpstr>
      <vt:lpstr>2. Implementation Analysis</vt:lpstr>
      <vt:lpstr>2. Implementation Analysis</vt:lpstr>
      <vt:lpstr>2. Implementation Analysis</vt:lpstr>
      <vt:lpstr>2. Implementation Analysis</vt:lpstr>
      <vt:lpstr>3. Experiment  </vt:lpstr>
      <vt:lpstr>3. Experiment  </vt:lpstr>
      <vt:lpstr>3. Experiment  </vt:lpstr>
      <vt:lpstr>3. Experiment  </vt:lpstr>
      <vt:lpstr>3. Experiment  </vt:lpstr>
      <vt:lpstr>3. Experiment</vt:lpstr>
      <vt:lpstr>3. Experiment</vt:lpstr>
      <vt:lpstr>3. Experiment</vt:lpstr>
      <vt:lpstr>3. Experiment</vt:lpstr>
      <vt:lpstr>3. Experiment </vt:lpstr>
      <vt:lpstr>3. Experiment </vt:lpstr>
      <vt:lpstr>3. Experiment </vt:lpstr>
      <vt:lpstr>3. Experiment</vt:lpstr>
      <vt:lpstr>3. Experiment</vt:lpstr>
      <vt:lpstr>4. Further Research</vt:lpstr>
      <vt:lpstr>4. Further Research</vt:lpstr>
      <vt:lpstr>4. Further Research</vt:lpstr>
      <vt:lpstr>4. Further Research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최준명</dc:creator>
  <cp:lastModifiedBy>최준명</cp:lastModifiedBy>
  <cp:revision>71</cp:revision>
  <dcterms:created xsi:type="dcterms:W3CDTF">2024-08-09T07:54:09Z</dcterms:created>
  <dcterms:modified xsi:type="dcterms:W3CDTF">2024-08-28T03:49:07Z</dcterms:modified>
</cp:coreProperties>
</file>