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8" r:id="rId3"/>
    <p:sldId id="258" r:id="rId4"/>
    <p:sldId id="259" r:id="rId5"/>
    <p:sldId id="260" r:id="rId6"/>
    <p:sldId id="261" r:id="rId7"/>
    <p:sldId id="262" r:id="rId8"/>
    <p:sldId id="279" r:id="rId9"/>
    <p:sldId id="257" r:id="rId10"/>
    <p:sldId id="263" r:id="rId11"/>
    <p:sldId id="264" r:id="rId12"/>
    <p:sldId id="265" r:id="rId13"/>
    <p:sldId id="266" r:id="rId14"/>
    <p:sldId id="267" r:id="rId15"/>
    <p:sldId id="280" r:id="rId16"/>
    <p:sldId id="270" r:id="rId17"/>
    <p:sldId id="271" r:id="rId18"/>
    <p:sldId id="273" r:id="rId19"/>
    <p:sldId id="274" r:id="rId20"/>
    <p:sldId id="275" r:id="rId21"/>
    <p:sldId id="276" r:id="rId22"/>
    <p:sldId id="277" r:id="rId23"/>
    <p:sldId id="281" r:id="rId24"/>
    <p:sldId id="272" r:id="rId25"/>
    <p:sldId id="268" r:id="rId26"/>
    <p:sldId id="269" r:id="rId27"/>
    <p:sldId id="282" r:id="rId28"/>
    <p:sldId id="283" r:id="rId29"/>
    <p:sldId id="284" r:id="rId30"/>
    <p:sldId id="286" r:id="rId31"/>
    <p:sldId id="285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229"/>
    <p:restoredTop sz="94720"/>
  </p:normalViewPr>
  <p:slideViewPr>
    <p:cSldViewPr snapToGrid="0">
      <p:cViewPr>
        <p:scale>
          <a:sx n="210" d="100"/>
          <a:sy n="210" d="100"/>
        </p:scale>
        <p:origin x="1736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D1FAB-D7D4-3277-76F5-192B8EB785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8C54FB5-5000-D31D-14AE-EC1A4E28C9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4B60C9-076F-EF41-230F-8A6803DB0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6B77-CC86-2F4C-AFF2-D3E0932DB004}" type="datetimeFigureOut">
              <a:rPr kumimoji="1" lang="ko-KR" altLang="en-US" smtClean="0"/>
              <a:t>2024. 8. 26.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1B8588-FC05-5114-D910-C615279F3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03ABA8-AB1B-F2A1-E723-3819508CA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6E6BE-CF55-224E-A7D7-21806E21AAD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61288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AFF1A2-FB4A-9007-2FE4-05ECF3A87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2E1892-8C7B-DBAA-1569-F3A26F717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5A1724-B882-6CF5-A11F-1E7A08829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6B77-CC86-2F4C-AFF2-D3E0932DB004}" type="datetimeFigureOut">
              <a:rPr kumimoji="1" lang="ko-KR" altLang="en-US" smtClean="0"/>
              <a:t>2024. 8. 26.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974F51-881D-E3EA-0EAA-14C15702B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41CAC7-DEC9-4C31-7E3D-C0752596A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6E6BE-CF55-224E-A7D7-21806E21AAD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28088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A4AF3E-9823-66E2-FBF4-B42D5CA8F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5033A1-316B-2C66-09BF-D6320CF27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7EA73E-8CF1-AD32-00F4-D42CFC731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6B77-CC86-2F4C-AFF2-D3E0932DB004}" type="datetimeFigureOut">
              <a:rPr kumimoji="1" lang="ko-KR" altLang="en-US" smtClean="0"/>
              <a:t>2024. 8. 26.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690BAC-F811-37E6-53B9-67B872AD9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CB89AE-E433-713A-A438-CF60BA0EB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6E6BE-CF55-224E-A7D7-21806E21AAD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04468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CC2376-C13F-480D-1989-A9EA7C44C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1B0A2F-6220-8D14-BC88-01CBC48EB7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4A60CC4-4197-2562-32CF-EEDBCE2BA3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AA680F-981A-9131-7A83-B55F6B79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6B77-CC86-2F4C-AFF2-D3E0932DB004}" type="datetimeFigureOut">
              <a:rPr kumimoji="1" lang="ko-KR" altLang="en-US" smtClean="0"/>
              <a:t>2024. 8. 26.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2A380C-E757-EA2F-6B84-FB7C08C57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DB8B2A-4E00-E863-A251-455924A9A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6E6BE-CF55-224E-A7D7-21806E21AAD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0944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7FD60E-B8E5-67D7-CE88-DAA4F3ABF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7CA03E-A26E-7A64-15BE-3F5FF6F4A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F4BC70-DBD2-741A-715E-6A14E0DE82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32496EF-1A78-9196-EA10-DA53C77177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F6353DC-00C1-CC0F-CAE0-3E2F7BC502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7ABE8A4-FEF8-DE43-30AA-4AC5469DB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6B77-CC86-2F4C-AFF2-D3E0932DB004}" type="datetimeFigureOut">
              <a:rPr kumimoji="1" lang="ko-KR" altLang="en-US" smtClean="0"/>
              <a:t>2024. 8. 26.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0E1D98A-029F-10A1-D96B-D09C9C288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2CFDDFA-8CDD-0692-FF4D-38D5DBE17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6E6BE-CF55-224E-A7D7-21806E21AAD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5825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4A197C-9B96-93C4-44DF-59420EFCE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BCF2004-E03B-2064-E0B4-0C161BB73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6B77-CC86-2F4C-AFF2-D3E0932DB004}" type="datetimeFigureOut">
              <a:rPr kumimoji="1" lang="ko-KR" altLang="en-US" smtClean="0"/>
              <a:t>2024. 8. 26.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0B96759-9493-182A-4F2B-DD3796DE5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E1EC04-FB68-3111-8C1C-036EEAD90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6E6BE-CF55-224E-A7D7-21806E21AAD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16845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3761C36-608B-AAD3-F8F9-E26518D28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6B77-CC86-2F4C-AFF2-D3E0932DB004}" type="datetimeFigureOut">
              <a:rPr kumimoji="1" lang="ko-KR" altLang="en-US" smtClean="0"/>
              <a:t>2024. 8. 26.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F9E5D3C-6005-1D96-DFA8-9D57CB1B9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E0C3C2-9AED-5590-E906-571962CD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6E6BE-CF55-224E-A7D7-21806E21AAD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64477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CB31C0-7182-6CD8-EAB9-74CB9F101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E4CB66-AF3C-04DC-6967-F46576D3D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3BC9CB-74F8-6665-4755-7D9BE42D30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29A183-8C97-5EF0-DB00-0D0FC17E7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6B77-CC86-2F4C-AFF2-D3E0932DB004}" type="datetimeFigureOut">
              <a:rPr kumimoji="1" lang="ko-KR" altLang="en-US" smtClean="0"/>
              <a:t>2024. 8. 26.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22A9B2-11CA-DB30-3AFB-9A43D70AD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289797-6445-4958-F37D-D1E8EBDE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6E6BE-CF55-224E-A7D7-21806E21AAD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53553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63400-3369-8DA6-C7CC-EDC4CB0FE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9C80C60-576C-57A8-8D05-B4E0ACCB9B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7C6466-5A2F-0868-5815-11AC4245C0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70AF20-1BA4-9F94-C984-86365A77D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6B77-CC86-2F4C-AFF2-D3E0932DB004}" type="datetimeFigureOut">
              <a:rPr kumimoji="1" lang="ko-KR" altLang="en-US" smtClean="0"/>
              <a:t>2024. 8. 26.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C60E04-1A62-F69F-6D30-73DEDCD2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29842B-FBFC-03A6-2CB9-D4C86B43B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6E6BE-CF55-224E-A7D7-21806E21AAD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28843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11C223-E23C-A871-2C80-D493AD56A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800024-7A0F-CBBC-571C-192ED047AB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F1A5F1-4C18-51B0-9DBC-CA90C5EB3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6B77-CC86-2F4C-AFF2-D3E0932DB004}" type="datetimeFigureOut">
              <a:rPr kumimoji="1" lang="ko-KR" altLang="en-US" smtClean="0"/>
              <a:t>2024. 8. 26.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2E3284-F780-B68A-A95B-773767655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DBECFB-3003-5693-3978-E6B0F4911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6E6BE-CF55-224E-A7D7-21806E21AAD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44699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BFE7D06-5DA9-5245-A1B2-0EA13F7FB0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6048DCC-690C-7165-FBCC-DAAA2B846C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A9D1AB-723D-F803-B8B4-41B3B9F37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6B77-CC86-2F4C-AFF2-D3E0932DB004}" type="datetimeFigureOut">
              <a:rPr kumimoji="1" lang="ko-KR" altLang="en-US" smtClean="0"/>
              <a:t>2024. 8. 26.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5FF376-8DCF-62A7-F074-130F34023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1FAE2C-F649-ED15-B7AF-2E671CF2F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6E6BE-CF55-224E-A7D7-21806E21AAD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78900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C2662A0-C0A1-298D-444A-0E354468F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6BDC22-F2FC-B263-AC04-7AD4BD8A1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9AC212-6EF3-B3A4-95A6-0FAB2F70AB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646B77-CC86-2F4C-AFF2-D3E0932DB004}" type="datetimeFigureOut">
              <a:rPr kumimoji="1" lang="ko-KR" altLang="en-US" smtClean="0"/>
              <a:t>2024. 8. 26.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3BCC83-D730-32B7-DE5B-517A5D5ECF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FC67C3-B636-4076-FF3B-23D9580C25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16E6BE-CF55-224E-A7D7-21806E21AAD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59305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hyperlink" Target="https://yhyun225.tistory.com/5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jpeg"/><Relationship Id="rId5" Type="http://schemas.openxmlformats.org/officeDocument/2006/relationships/image" Target="../media/image50.jpeg"/><Relationship Id="rId4" Type="http://schemas.openxmlformats.org/officeDocument/2006/relationships/image" Target="../media/image4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7" Type="http://schemas.openxmlformats.org/officeDocument/2006/relationships/image" Target="../media/image57.pn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hyperlink" Target="https://yhyun225.tistory.com/5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7A30DE-9AEF-B767-087E-1EB5E36AD3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714B1E8-4C88-BC88-B292-45B5A3F0AF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8941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6E9452-8670-3068-BCAF-49A873E5A9E8}"/>
              </a:ext>
            </a:extLst>
          </p:cNvPr>
          <p:cNvSpPr txBox="1"/>
          <p:nvPr/>
        </p:nvSpPr>
        <p:spPr>
          <a:xfrm>
            <a:off x="4685550" y="3059668"/>
            <a:ext cx="2820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What is Neural Network?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5900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B68B1A-268A-952F-C04A-88C667C90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/>
              <a:t>Neural Network - 1</a:t>
            </a:r>
            <a:endParaRPr kumimoji="1" lang="ko-KR" alt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0DA111-03EB-DCC3-8CA5-82000A38CAC6}"/>
              </a:ext>
            </a:extLst>
          </p:cNvPr>
          <p:cNvSpPr txBox="1"/>
          <p:nvPr/>
        </p:nvSpPr>
        <p:spPr>
          <a:xfrm>
            <a:off x="0" y="6488668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https</a:t>
            </a:r>
            <a:r>
              <a:rPr lang="ko-KR" altLang="en-US" dirty="0"/>
              <a:t>://</a:t>
            </a:r>
            <a:r>
              <a:rPr lang="ko-KR" altLang="en-US" dirty="0" err="1"/>
              <a:t>nobsai.tistory.com</a:t>
            </a:r>
            <a:r>
              <a:rPr lang="ko-KR" altLang="en-US" dirty="0"/>
              <a:t>/8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4AD397B-AF8A-52AC-72BD-44B39D759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108" y="2002392"/>
            <a:ext cx="5370993" cy="430950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6114CF4-63C7-6395-6948-71643152F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620" y="1139687"/>
            <a:ext cx="4771180" cy="571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063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B68B1A-268A-952F-C04A-88C667C90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/>
              <a:t>Neural Network - 2</a:t>
            </a:r>
            <a:endParaRPr kumimoji="1" lang="ko-KR" alt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0DA111-03EB-DCC3-8CA5-82000A38CAC6}"/>
              </a:ext>
            </a:extLst>
          </p:cNvPr>
          <p:cNvSpPr txBox="1"/>
          <p:nvPr/>
        </p:nvSpPr>
        <p:spPr>
          <a:xfrm>
            <a:off x="0" y="6488668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https</a:t>
            </a:r>
            <a:r>
              <a:rPr lang="ko-KR" altLang="en-US" dirty="0"/>
              <a:t>://</a:t>
            </a:r>
            <a:r>
              <a:rPr lang="ko-KR" altLang="en-US" dirty="0" err="1"/>
              <a:t>nobsai.tistory.com</a:t>
            </a:r>
            <a:r>
              <a:rPr lang="ko-KR" altLang="en-US" dirty="0"/>
              <a:t>/8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3D72799-D46B-1B37-3CF8-20065258D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5516"/>
            <a:ext cx="5361576" cy="266078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9DDD83A-F153-CB8A-01D9-5EE34223E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482" y="1690688"/>
            <a:ext cx="6291518" cy="106940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4FBA92BA-CD74-CC0D-F7A1-B775EAFCEC67}"/>
              </a:ext>
            </a:extLst>
          </p:cNvPr>
          <p:cNvSpPr/>
          <p:nvPr/>
        </p:nvSpPr>
        <p:spPr>
          <a:xfrm>
            <a:off x="69574" y="1690688"/>
            <a:ext cx="1908313" cy="11817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1A4B13B1-306C-65D4-F2BC-587B2A0251CE}"/>
              </a:ext>
            </a:extLst>
          </p:cNvPr>
          <p:cNvCxnSpPr/>
          <p:nvPr/>
        </p:nvCxnSpPr>
        <p:spPr>
          <a:xfrm>
            <a:off x="1977887" y="1938130"/>
            <a:ext cx="392259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03953517-9FC7-3164-1A5E-6E03B73E5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0482" y="2759287"/>
            <a:ext cx="5842329" cy="159138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44FD13E7-CF9F-31A6-CEE3-97D611F0F1D4}"/>
              </a:ext>
            </a:extLst>
          </p:cNvPr>
          <p:cNvSpPr/>
          <p:nvPr/>
        </p:nvSpPr>
        <p:spPr>
          <a:xfrm>
            <a:off x="62948" y="2872410"/>
            <a:ext cx="4876800" cy="13553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660582DA-999F-3C26-C4E5-A09BBE7A0D43}"/>
              </a:ext>
            </a:extLst>
          </p:cNvPr>
          <p:cNvCxnSpPr>
            <a:cxnSpLocks/>
          </p:cNvCxnSpPr>
          <p:nvPr/>
        </p:nvCxnSpPr>
        <p:spPr>
          <a:xfrm>
            <a:off x="4939748" y="3412434"/>
            <a:ext cx="88458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8FCFF2D2-A059-D0FF-8669-030F350183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7054" y="4922878"/>
            <a:ext cx="7772400" cy="724136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5026209C-1F91-6B6F-B095-4424E7F7E826}"/>
              </a:ext>
            </a:extLst>
          </p:cNvPr>
          <p:cNvSpPr/>
          <p:nvPr/>
        </p:nvSpPr>
        <p:spPr>
          <a:xfrm>
            <a:off x="5824329" y="2750706"/>
            <a:ext cx="6003235" cy="16721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00B2F1F1-FDBC-C2AF-4CB4-BDE0A8CC087D}"/>
              </a:ext>
            </a:extLst>
          </p:cNvPr>
          <p:cNvCxnSpPr>
            <a:cxnSpLocks/>
          </p:cNvCxnSpPr>
          <p:nvPr/>
        </p:nvCxnSpPr>
        <p:spPr>
          <a:xfrm>
            <a:off x="8521148" y="4422897"/>
            <a:ext cx="0" cy="4999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875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B68B1A-268A-952F-C04A-88C667C90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/>
              <a:t>Neural Network - 3</a:t>
            </a:r>
            <a:endParaRPr kumimoji="1" lang="ko-KR" alt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0DA111-03EB-DCC3-8CA5-82000A38CAC6}"/>
              </a:ext>
            </a:extLst>
          </p:cNvPr>
          <p:cNvSpPr txBox="1"/>
          <p:nvPr/>
        </p:nvSpPr>
        <p:spPr>
          <a:xfrm>
            <a:off x="0" y="6488668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https</a:t>
            </a:r>
            <a:r>
              <a:rPr lang="ko-KR" altLang="en-US" dirty="0"/>
              <a:t>://</a:t>
            </a:r>
            <a:r>
              <a:rPr lang="ko-KR" altLang="en-US" dirty="0" err="1"/>
              <a:t>nobsai.tistory.com</a:t>
            </a:r>
            <a:r>
              <a:rPr lang="ko-KR" altLang="en-US" dirty="0"/>
              <a:t>/8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0811F9-D49F-7EE4-60B0-E6CCC5B88D14}"/>
              </a:ext>
            </a:extLst>
          </p:cNvPr>
          <p:cNvSpPr txBox="1"/>
          <p:nvPr/>
        </p:nvSpPr>
        <p:spPr>
          <a:xfrm>
            <a:off x="288235" y="1610139"/>
            <a:ext cx="1736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What is batch?</a:t>
            </a:r>
            <a:endParaRPr kumimoji="1"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97ED2A2-066D-5453-2645-CD5B82B33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235" y="1979471"/>
            <a:ext cx="7772400" cy="104796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7CE693F-B5DD-02F8-4B3A-A4F75F555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235" y="3135055"/>
            <a:ext cx="7772400" cy="1760706"/>
          </a:xfrm>
          <a:prstGeom prst="rect">
            <a:avLst/>
          </a:prstGeom>
        </p:spPr>
      </p:pic>
      <p:cxnSp>
        <p:nvCxnSpPr>
          <p:cNvPr id="20" name="직선 연결선[R] 19">
            <a:extLst>
              <a:ext uri="{FF2B5EF4-FFF2-40B4-BE49-F238E27FC236}">
                <a16:creationId xmlns:a16="http://schemas.microsoft.com/office/drawing/2014/main" id="{CC62587F-CC15-281F-E0EE-BAD0EA63E023}"/>
              </a:ext>
            </a:extLst>
          </p:cNvPr>
          <p:cNvCxnSpPr/>
          <p:nvPr/>
        </p:nvCxnSpPr>
        <p:spPr>
          <a:xfrm>
            <a:off x="3876261" y="2226365"/>
            <a:ext cx="418437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[R] 20">
            <a:extLst>
              <a:ext uri="{FF2B5EF4-FFF2-40B4-BE49-F238E27FC236}">
                <a16:creationId xmlns:a16="http://schemas.microsoft.com/office/drawing/2014/main" id="{F16A2F15-1870-BA50-E55A-DA0E84A8153C}"/>
              </a:ext>
            </a:extLst>
          </p:cNvPr>
          <p:cNvCxnSpPr>
            <a:cxnSpLocks/>
          </p:cNvCxnSpPr>
          <p:nvPr/>
        </p:nvCxnSpPr>
        <p:spPr>
          <a:xfrm>
            <a:off x="361122" y="2503453"/>
            <a:ext cx="608937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[R] 22">
            <a:extLst>
              <a:ext uri="{FF2B5EF4-FFF2-40B4-BE49-F238E27FC236}">
                <a16:creationId xmlns:a16="http://schemas.microsoft.com/office/drawing/2014/main" id="{13603670-FA91-D525-924C-C8E9EA814A28}"/>
              </a:ext>
            </a:extLst>
          </p:cNvPr>
          <p:cNvCxnSpPr>
            <a:cxnSpLocks/>
          </p:cNvCxnSpPr>
          <p:nvPr/>
        </p:nvCxnSpPr>
        <p:spPr>
          <a:xfrm>
            <a:off x="361122" y="3429000"/>
            <a:ext cx="762993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[R] 24">
            <a:extLst>
              <a:ext uri="{FF2B5EF4-FFF2-40B4-BE49-F238E27FC236}">
                <a16:creationId xmlns:a16="http://schemas.microsoft.com/office/drawing/2014/main" id="{EFD4B5EB-9B59-BC2E-6B05-0417FD0E1DC6}"/>
              </a:ext>
            </a:extLst>
          </p:cNvPr>
          <p:cNvCxnSpPr>
            <a:cxnSpLocks/>
          </p:cNvCxnSpPr>
          <p:nvPr/>
        </p:nvCxnSpPr>
        <p:spPr>
          <a:xfrm>
            <a:off x="361122" y="3690731"/>
            <a:ext cx="191493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그림 26">
            <a:extLst>
              <a:ext uri="{FF2B5EF4-FFF2-40B4-BE49-F238E27FC236}">
                <a16:creationId xmlns:a16="http://schemas.microsoft.com/office/drawing/2014/main" id="{2665BCF0-430B-C9BA-3B6B-DE1659241D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557" y="1610139"/>
            <a:ext cx="4113443" cy="2464984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13F2FFEB-EF3B-A1FE-8868-AF1AF46FCE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8557" y="4242621"/>
            <a:ext cx="4113443" cy="241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541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B68B1A-268A-952F-C04A-88C667C90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/>
              <a:t>Neural Network - 4</a:t>
            </a:r>
            <a:endParaRPr kumimoji="1" lang="ko-KR" alt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0DA111-03EB-DCC3-8CA5-82000A38CAC6}"/>
              </a:ext>
            </a:extLst>
          </p:cNvPr>
          <p:cNvSpPr txBox="1"/>
          <p:nvPr/>
        </p:nvSpPr>
        <p:spPr>
          <a:xfrm>
            <a:off x="0" y="6488668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https</a:t>
            </a:r>
            <a:r>
              <a:rPr lang="ko-KR" altLang="en-US" dirty="0"/>
              <a:t>://</a:t>
            </a:r>
            <a:r>
              <a:rPr lang="ko-KR" altLang="en-US" dirty="0" err="1"/>
              <a:t>nobsai.tistory.com</a:t>
            </a:r>
            <a:r>
              <a:rPr lang="ko-KR" altLang="en-US" dirty="0"/>
              <a:t>/8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2E950A9-6D7F-01FE-D219-6FFBC6FF8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3540"/>
            <a:ext cx="6334539" cy="24961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D6EB1E-2FFD-C359-BA3B-34E3DCD8B009}"/>
              </a:ext>
            </a:extLst>
          </p:cNvPr>
          <p:cNvSpPr txBox="1"/>
          <p:nvPr/>
        </p:nvSpPr>
        <p:spPr>
          <a:xfrm>
            <a:off x="6659217" y="2922105"/>
            <a:ext cx="755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Error!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2B37AA37-AA36-A147-F8F4-485B5A841842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6334539" y="3106771"/>
            <a:ext cx="32467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084BF7F7-649C-E401-7B8E-7E48060DA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42646"/>
            <a:ext cx="6373195" cy="1313313"/>
          </a:xfrm>
          <a:prstGeom prst="rect">
            <a:avLst/>
          </a:prstGeom>
        </p:spPr>
      </p:pic>
      <p:cxnSp>
        <p:nvCxnSpPr>
          <p:cNvPr id="16" name="직선 연결선[R] 15">
            <a:extLst>
              <a:ext uri="{FF2B5EF4-FFF2-40B4-BE49-F238E27FC236}">
                <a16:creationId xmlns:a16="http://schemas.microsoft.com/office/drawing/2014/main" id="{06D39F47-47CF-6EBC-68FE-B62C3D32F16F}"/>
              </a:ext>
            </a:extLst>
          </p:cNvPr>
          <p:cNvCxnSpPr/>
          <p:nvPr/>
        </p:nvCxnSpPr>
        <p:spPr>
          <a:xfrm>
            <a:off x="838200" y="4452730"/>
            <a:ext cx="436990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[R] 17">
            <a:extLst>
              <a:ext uri="{FF2B5EF4-FFF2-40B4-BE49-F238E27FC236}">
                <a16:creationId xmlns:a16="http://schemas.microsoft.com/office/drawing/2014/main" id="{BF80B4DE-315E-865F-34BB-86AD0EA569FF}"/>
              </a:ext>
            </a:extLst>
          </p:cNvPr>
          <p:cNvCxnSpPr/>
          <p:nvPr/>
        </p:nvCxnSpPr>
        <p:spPr>
          <a:xfrm>
            <a:off x="2902226" y="4949687"/>
            <a:ext cx="265374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그림 18">
            <a:extLst>
              <a:ext uri="{FF2B5EF4-FFF2-40B4-BE49-F238E27FC236}">
                <a16:creationId xmlns:a16="http://schemas.microsoft.com/office/drawing/2014/main" id="{122AD433-8FC5-535A-715A-55ED3BFC61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766043"/>
            <a:ext cx="6373194" cy="415816"/>
          </a:xfrm>
          <a:prstGeom prst="rect">
            <a:avLst/>
          </a:prstGeom>
        </p:spPr>
      </p:pic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ADF8E9CF-1E12-CCDA-4E50-D2CE723CA8C2}"/>
              </a:ext>
            </a:extLst>
          </p:cNvPr>
          <p:cNvCxnSpPr/>
          <p:nvPr/>
        </p:nvCxnSpPr>
        <p:spPr>
          <a:xfrm>
            <a:off x="3488635" y="5943600"/>
            <a:ext cx="206733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7D840515-E00C-0FEF-C26F-AC037B14A3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878" y="4337894"/>
            <a:ext cx="5575036" cy="1913818"/>
          </a:xfrm>
          <a:prstGeom prst="rect">
            <a:avLst/>
          </a:prstGeom>
        </p:spPr>
      </p:pic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728A7482-8C1F-7ED9-EE3B-181D6B971732}"/>
              </a:ext>
            </a:extLst>
          </p:cNvPr>
          <p:cNvCxnSpPr>
            <a:endCxn id="26" idx="0"/>
          </p:cNvCxnSpPr>
          <p:nvPr/>
        </p:nvCxnSpPr>
        <p:spPr>
          <a:xfrm>
            <a:off x="7414488" y="3291437"/>
            <a:ext cx="1869908" cy="10464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650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B68B1A-268A-952F-C04A-88C667C90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/>
              <a:t>Neural Network - 5</a:t>
            </a:r>
            <a:endParaRPr kumimoji="1" lang="ko-KR" alt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0DA111-03EB-DCC3-8CA5-82000A38CAC6}"/>
              </a:ext>
            </a:extLst>
          </p:cNvPr>
          <p:cNvSpPr txBox="1"/>
          <p:nvPr/>
        </p:nvSpPr>
        <p:spPr>
          <a:xfrm>
            <a:off x="0" y="6488668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https</a:t>
            </a:r>
            <a:r>
              <a:rPr lang="ko-KR" altLang="en-US" dirty="0"/>
              <a:t>://</a:t>
            </a:r>
            <a:r>
              <a:rPr lang="ko-KR" altLang="en-US" dirty="0" err="1"/>
              <a:t>nobsai.tistory.com</a:t>
            </a:r>
            <a:r>
              <a:rPr lang="ko-KR" altLang="en-US" dirty="0"/>
              <a:t>/8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265F50E-C7D0-B62F-7C16-9B8A09413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722" y="87094"/>
            <a:ext cx="6027758" cy="677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619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9D1A91-D85A-D6E1-B040-EC9914F2ACA0}"/>
              </a:ext>
            </a:extLst>
          </p:cNvPr>
          <p:cNvSpPr txBox="1"/>
          <p:nvPr/>
        </p:nvSpPr>
        <p:spPr>
          <a:xfrm>
            <a:off x="5287926" y="3244334"/>
            <a:ext cx="1616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What is MLP?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4931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59CB91-ABAE-3258-AB0C-6F24A0383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/>
              <a:t>MLP(Multilayer Perceptron)</a:t>
            </a:r>
            <a:endParaRPr kumimoji="1" lang="ko-KR" alt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E872CB-218E-6DCC-E4A2-845F8F6FE69E}"/>
              </a:ext>
            </a:extLst>
          </p:cNvPr>
          <p:cNvSpPr txBox="1"/>
          <p:nvPr/>
        </p:nvSpPr>
        <p:spPr>
          <a:xfrm>
            <a:off x="-1656" y="6488668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https</a:t>
            </a:r>
            <a:r>
              <a:rPr lang="ko-KR" altLang="en-US" dirty="0"/>
              <a:t>://ko.d2l.ai/</a:t>
            </a:r>
            <a:r>
              <a:rPr lang="ko-KR" altLang="en-US" dirty="0" err="1"/>
              <a:t>chapter_deep-learning-basics</a:t>
            </a:r>
            <a:r>
              <a:rPr lang="ko-KR" altLang="en-US" dirty="0"/>
              <a:t>/</a:t>
            </a:r>
            <a:r>
              <a:rPr lang="ko-KR" altLang="en-US" dirty="0" err="1"/>
              <a:t>mlp.html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FC9AF92-7D3A-47C5-DAAB-244B689CA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3" y="1377672"/>
            <a:ext cx="7772400" cy="200141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F4C4199-1E48-71A0-7848-C04F5B468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100" y="2832652"/>
            <a:ext cx="6666866" cy="3737774"/>
          </a:xfrm>
          <a:prstGeom prst="rect">
            <a:avLst/>
          </a:prstGeom>
        </p:spPr>
      </p:pic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8BE44B0E-9414-9CF9-2F80-D2383E8D89D4}"/>
              </a:ext>
            </a:extLst>
          </p:cNvPr>
          <p:cNvCxnSpPr/>
          <p:nvPr/>
        </p:nvCxnSpPr>
        <p:spPr>
          <a:xfrm>
            <a:off x="9193696" y="3945835"/>
            <a:ext cx="278627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D535A0A6-E357-5940-329A-DF029D0DF32E}"/>
              </a:ext>
            </a:extLst>
          </p:cNvPr>
          <p:cNvCxnSpPr>
            <a:cxnSpLocks/>
          </p:cNvCxnSpPr>
          <p:nvPr/>
        </p:nvCxnSpPr>
        <p:spPr>
          <a:xfrm>
            <a:off x="5396948" y="4104861"/>
            <a:ext cx="471114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[R] 15">
            <a:extLst>
              <a:ext uri="{FF2B5EF4-FFF2-40B4-BE49-F238E27FC236}">
                <a16:creationId xmlns:a16="http://schemas.microsoft.com/office/drawing/2014/main" id="{28FC31E2-D747-2C92-4AF4-803833D907B0}"/>
              </a:ext>
            </a:extLst>
          </p:cNvPr>
          <p:cNvCxnSpPr/>
          <p:nvPr/>
        </p:nvCxnSpPr>
        <p:spPr>
          <a:xfrm>
            <a:off x="8806070" y="6202017"/>
            <a:ext cx="123245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59FE3637-86CC-F5DA-5993-6F6613F1A2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4569476"/>
            <a:ext cx="5457071" cy="1193405"/>
          </a:xfrm>
          <a:prstGeom prst="rect">
            <a:avLst/>
          </a:prstGeom>
        </p:spPr>
      </p:pic>
      <p:cxnSp>
        <p:nvCxnSpPr>
          <p:cNvPr id="19" name="직선 연결선[R] 18">
            <a:extLst>
              <a:ext uri="{FF2B5EF4-FFF2-40B4-BE49-F238E27FC236}">
                <a16:creationId xmlns:a16="http://schemas.microsoft.com/office/drawing/2014/main" id="{1E304D87-5F93-2E1B-679C-49D52ABF7C1E}"/>
              </a:ext>
            </a:extLst>
          </p:cNvPr>
          <p:cNvCxnSpPr/>
          <p:nvPr/>
        </p:nvCxnSpPr>
        <p:spPr>
          <a:xfrm>
            <a:off x="2812774" y="5416826"/>
            <a:ext cx="258417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264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59CB91-ABAE-3258-AB0C-6F24A0383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43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MLP(Multilayer Perceptron)</a:t>
            </a:r>
            <a:endParaRPr kumimoji="1" lang="ko-KR" alt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E872CB-218E-6DCC-E4A2-845F8F6FE69E}"/>
              </a:ext>
            </a:extLst>
          </p:cNvPr>
          <p:cNvSpPr txBox="1"/>
          <p:nvPr/>
        </p:nvSpPr>
        <p:spPr>
          <a:xfrm>
            <a:off x="-1656" y="6488668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https</a:t>
            </a:r>
            <a:r>
              <a:rPr lang="ko-KR" altLang="en-US" dirty="0"/>
              <a:t>://ko.d2l.ai/</a:t>
            </a:r>
            <a:r>
              <a:rPr lang="ko-KR" altLang="en-US" dirty="0" err="1"/>
              <a:t>chapter_deep-learning-basics</a:t>
            </a:r>
            <a:r>
              <a:rPr lang="ko-KR" altLang="en-US" dirty="0"/>
              <a:t>/</a:t>
            </a:r>
            <a:r>
              <a:rPr lang="ko-KR" altLang="en-US" dirty="0" err="1"/>
              <a:t>mlp.html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5856B83-87DA-BFD1-2C26-E7CD860E9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79" y="4129432"/>
            <a:ext cx="1828800" cy="1282700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D61E99EE-539F-C358-687F-5D7BC7C4AF8E}"/>
              </a:ext>
            </a:extLst>
          </p:cNvPr>
          <p:cNvCxnSpPr>
            <a:stCxn id="3" idx="3"/>
          </p:cNvCxnSpPr>
          <p:nvPr/>
        </p:nvCxnSpPr>
        <p:spPr>
          <a:xfrm>
            <a:off x="2382079" y="4770782"/>
            <a:ext cx="993913" cy="99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B41E34B3-7E80-8BC3-A945-AD4A21E1F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5992" y="4177472"/>
            <a:ext cx="2108200" cy="12065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8753BA2-B978-B3BA-C197-F42D03CC10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26555"/>
            <a:ext cx="7772400" cy="39858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3B322CF-BF22-73E8-793A-7F2ECAB7B4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841" y="1618999"/>
            <a:ext cx="3898661" cy="216592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7F024B4-30B3-3A2A-FEDB-D47EEA091C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7961" y="2200279"/>
            <a:ext cx="5605614" cy="1325563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26FA9980-3B25-ADFA-FE51-FBBC10887BA0}"/>
              </a:ext>
            </a:extLst>
          </p:cNvPr>
          <p:cNvCxnSpPr>
            <a:cxnSpLocks/>
          </p:cNvCxnSpPr>
          <p:nvPr/>
        </p:nvCxnSpPr>
        <p:spPr>
          <a:xfrm>
            <a:off x="5528789" y="2701960"/>
            <a:ext cx="92917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14065AC-E676-FECB-DC53-A85845CFDFA9}"/>
              </a:ext>
            </a:extLst>
          </p:cNvPr>
          <p:cNvSpPr/>
          <p:nvPr/>
        </p:nvSpPr>
        <p:spPr>
          <a:xfrm>
            <a:off x="260392" y="1410962"/>
            <a:ext cx="5268397" cy="38816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85623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7F060-8D8E-BF9D-1398-33D3AF4DD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913DFB-D9DC-A227-339B-59417A116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43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Perceptron</a:t>
            </a:r>
            <a:endParaRPr kumimoji="1" lang="ko-KR" alt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120324-218C-29CD-F512-BD90A0CA8EF2}"/>
              </a:ext>
            </a:extLst>
          </p:cNvPr>
          <p:cNvSpPr txBox="1"/>
          <p:nvPr/>
        </p:nvSpPr>
        <p:spPr>
          <a:xfrm>
            <a:off x="-1656" y="6488668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https://ko.d2l.ai/chapter_deep-learning-basics/mlp.html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516EE22-98BD-B8E5-F80C-EE2176CF4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98" y="1449693"/>
            <a:ext cx="7772400" cy="79827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4B9EEEF-057A-6F54-AE51-C5123CA60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098" y="2445870"/>
            <a:ext cx="5749652" cy="79151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0C69385-2736-60B1-B829-7FBDCA33A8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300338"/>
            <a:ext cx="2174875" cy="121335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D3DB12E9-AD7B-94FB-0AF4-B22FFCDF09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0900" y="2300338"/>
            <a:ext cx="2226989" cy="121335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94ADDAC-A80F-AEF0-E27A-B09DEB6AAC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098" y="3638812"/>
            <a:ext cx="4251052" cy="97876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6BA90D2-9EAE-4142-3C6E-18B929A928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0548" y="3567114"/>
            <a:ext cx="2530202" cy="132921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A03FECE-0FF3-AB00-93AD-DBF0BDF1D1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098" y="4666879"/>
            <a:ext cx="4251052" cy="45159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EAD3D37-B667-9109-F6B6-2D4CA234B6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09148" y="3567114"/>
            <a:ext cx="2595539" cy="1325564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D3634415-B5BA-7A0F-8933-BA8E7DBF48E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1098" y="5226059"/>
            <a:ext cx="3895452" cy="929648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890057A5-AE83-540F-353F-3F27E3C8CEF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35749" y="5226059"/>
            <a:ext cx="2047602" cy="1065419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F7C51B7B-A281-2EA8-F9D5-8E0F38C6B10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6322" y="5936822"/>
            <a:ext cx="1882502" cy="456364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205E8CC6-853F-D916-9C2D-73D988114C3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04560" y="5226059"/>
            <a:ext cx="1954928" cy="1065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421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9B348-0B83-A53A-9D79-CE3E85FA8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EAD040-2984-2549-4EE4-BDB695CC4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43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Perceptron</a:t>
            </a:r>
            <a:endParaRPr kumimoji="1" lang="ko-KR" alt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E1B91F-9307-76B6-FB9D-6915960480CB}"/>
              </a:ext>
            </a:extLst>
          </p:cNvPr>
          <p:cNvSpPr txBox="1"/>
          <p:nvPr/>
        </p:nvSpPr>
        <p:spPr>
          <a:xfrm>
            <a:off x="0" y="64854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https</a:t>
            </a:r>
            <a:r>
              <a:rPr lang="ko-KR" altLang="en-US" dirty="0"/>
              <a:t>://sjh9708.tistory.com/225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51E8DB4-30B5-6D08-F057-44DB08001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1257300"/>
            <a:ext cx="3913937" cy="522814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E1375E0-7C8E-7042-0908-991858D93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666" y="1330176"/>
            <a:ext cx="5998198" cy="332437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298F63A-674C-5A70-28CA-DCDACC9E00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9681" y="4414829"/>
            <a:ext cx="3672637" cy="244317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6F6B669-9E9C-1E0C-68B4-E25F0586E6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5275" y="4565795"/>
            <a:ext cx="4176724" cy="200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99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140BE-7FA4-B509-C36E-907DD744D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8A2134-EAD6-B298-F218-AE6C94E7E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43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ko-KR" sz="3200"/>
              <a:t>MLP(Multilayer Perceptron)</a:t>
            </a:r>
            <a:endParaRPr kumimoji="1" lang="ko-KR" alt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2F5973-C7E8-9CB8-0A97-F5DFF3DD88CD}"/>
              </a:ext>
            </a:extLst>
          </p:cNvPr>
          <p:cNvSpPr txBox="1"/>
          <p:nvPr/>
        </p:nvSpPr>
        <p:spPr>
          <a:xfrm>
            <a:off x="0" y="64854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https</a:t>
            </a:r>
            <a:r>
              <a:rPr lang="ko-KR" altLang="en-US" dirty="0"/>
              <a:t>://sjh9708.tistory.com/225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6CA903-1BCD-02D8-0155-B2CBD5C2F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66" y="1653870"/>
            <a:ext cx="5107229" cy="48387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BABD86E-3DDE-46ED-87D8-4CEB0F40E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6038" y="2273300"/>
            <a:ext cx="5881262" cy="275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757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050CC-8265-F8FB-31C2-7EB523A8D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C7937-F3AE-69D0-B64C-AF598AE21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43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MLP – What is output?</a:t>
            </a:r>
            <a:endParaRPr kumimoji="1" lang="ko-KR" alt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EE5735-0D21-29A9-6AF1-BA82BDF9D666}"/>
              </a:ext>
            </a:extLst>
          </p:cNvPr>
          <p:cNvSpPr txBox="1"/>
          <p:nvPr/>
        </p:nvSpPr>
        <p:spPr>
          <a:xfrm>
            <a:off x="0" y="64854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https</a:t>
            </a:r>
            <a:r>
              <a:rPr lang="ko-KR" altLang="en-US" dirty="0"/>
              <a:t>://sjh9708.tistory.com/225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3DBEF71-94EA-F596-9726-62CF0F46C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78" y="1355425"/>
            <a:ext cx="6334692" cy="546992"/>
          </a:xfrm>
          <a:prstGeom prst="rect">
            <a:avLst/>
          </a:prstGeom>
        </p:spPr>
      </p:pic>
      <p:cxnSp>
        <p:nvCxnSpPr>
          <p:cNvPr id="7" name="직선 연결선[R] 6">
            <a:extLst>
              <a:ext uri="{FF2B5EF4-FFF2-40B4-BE49-F238E27FC236}">
                <a16:creationId xmlns:a16="http://schemas.microsoft.com/office/drawing/2014/main" id="{992B3BF9-3118-23CC-BCEF-94A88B7769E2}"/>
              </a:ext>
            </a:extLst>
          </p:cNvPr>
          <p:cNvCxnSpPr/>
          <p:nvPr/>
        </p:nvCxnSpPr>
        <p:spPr>
          <a:xfrm>
            <a:off x="3360874" y="1533085"/>
            <a:ext cx="213763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E843B078-158A-5F55-9C2B-04EE642AD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726" y="2080077"/>
            <a:ext cx="5119530" cy="412372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71864FF-0A13-D81E-0479-CB17421A61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2080077"/>
            <a:ext cx="5213289" cy="387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062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03B78-86B2-05DD-15C2-C6A235BDC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A1599-08DE-A8D1-ACA3-393F904C1CE1}"/>
              </a:ext>
            </a:extLst>
          </p:cNvPr>
          <p:cNvSpPr txBox="1"/>
          <p:nvPr/>
        </p:nvSpPr>
        <p:spPr>
          <a:xfrm>
            <a:off x="5311170" y="324433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Loss function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6900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A09E1-1A97-02C7-05B1-B9D0EB71A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A96F0D-9C42-F20F-8611-3A7252662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43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MLP – Loss functions</a:t>
            </a:r>
            <a:endParaRPr kumimoji="1" lang="ko-KR" alt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32FC7E-9A34-B735-A76C-60F6AE3688C3}"/>
              </a:ext>
            </a:extLst>
          </p:cNvPr>
          <p:cNvSpPr txBox="1"/>
          <p:nvPr/>
        </p:nvSpPr>
        <p:spPr>
          <a:xfrm>
            <a:off x="0" y="621340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>
                <a:hlinkClick r:id="rId2"/>
              </a:rPr>
              <a:t>https://yhyun225.tistory.com/5</a:t>
            </a:r>
            <a:endParaRPr lang="en" altLang="ko-KR" dirty="0"/>
          </a:p>
          <a:p>
            <a:r>
              <a:rPr lang="en" altLang="ko-KR" dirty="0"/>
              <a:t>https://</a:t>
            </a:r>
            <a:r>
              <a:rPr lang="en" altLang="ko-KR" dirty="0" err="1"/>
              <a:t>en.wikipedia.org</a:t>
            </a:r>
            <a:r>
              <a:rPr lang="en" altLang="ko-KR" dirty="0"/>
              <a:t>/wiki/</a:t>
            </a:r>
            <a:r>
              <a:rPr lang="en" altLang="ko-KR" dirty="0" err="1"/>
              <a:t>Loss_function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49DC815-D253-92C4-F527-52ED83A61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670" y="2979561"/>
            <a:ext cx="7772400" cy="680794"/>
          </a:xfrm>
          <a:prstGeom prst="rect">
            <a:avLst/>
          </a:prstGeom>
        </p:spPr>
      </p:pic>
      <p:cxnSp>
        <p:nvCxnSpPr>
          <p:cNvPr id="12" name="직선 연결선[R] 11">
            <a:extLst>
              <a:ext uri="{FF2B5EF4-FFF2-40B4-BE49-F238E27FC236}">
                <a16:creationId xmlns:a16="http://schemas.microsoft.com/office/drawing/2014/main" id="{7B23A2DF-49C3-667A-C10D-C579C90F906A}"/>
              </a:ext>
            </a:extLst>
          </p:cNvPr>
          <p:cNvCxnSpPr/>
          <p:nvPr/>
        </p:nvCxnSpPr>
        <p:spPr>
          <a:xfrm>
            <a:off x="369898" y="3427487"/>
            <a:ext cx="468705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[R] 13">
            <a:extLst>
              <a:ext uri="{FF2B5EF4-FFF2-40B4-BE49-F238E27FC236}">
                <a16:creationId xmlns:a16="http://schemas.microsoft.com/office/drawing/2014/main" id="{39BE3AB9-9F7B-79D5-964F-83936A271D70}"/>
              </a:ext>
            </a:extLst>
          </p:cNvPr>
          <p:cNvCxnSpPr/>
          <p:nvPr/>
        </p:nvCxnSpPr>
        <p:spPr>
          <a:xfrm>
            <a:off x="1120796" y="3660355"/>
            <a:ext cx="320948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08059BF0-7179-5639-F88C-3AC2ACD70A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601" y="266447"/>
            <a:ext cx="3562729" cy="5852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5361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73E43-D7A6-EEC7-44A9-6EC06E232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8BCA3F-9928-530A-35EE-3CEE111A4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43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MLP – Entropy</a:t>
            </a:r>
            <a:endParaRPr kumimoji="1" lang="ko-KR" alt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BDE7A0-87D9-009B-1D0E-325F112F4A6F}"/>
              </a:ext>
            </a:extLst>
          </p:cNvPr>
          <p:cNvSpPr txBox="1"/>
          <p:nvPr/>
        </p:nvSpPr>
        <p:spPr>
          <a:xfrm>
            <a:off x="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https://</a:t>
            </a:r>
            <a:r>
              <a:rPr lang="en" altLang="ko-KR" dirty="0" err="1"/>
              <a:t>hyunw.kim</a:t>
            </a:r>
            <a:r>
              <a:rPr lang="en" altLang="ko-KR" dirty="0"/>
              <a:t>/blog/2017/10/14/</a:t>
            </a:r>
            <a:r>
              <a:rPr lang="en" altLang="ko-KR" dirty="0" err="1"/>
              <a:t>Entropy.html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6A38601-E8E2-E4DF-2DB4-96FB9364A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10" y="1436441"/>
            <a:ext cx="4390834" cy="1293423"/>
          </a:xfrm>
          <a:prstGeom prst="rect">
            <a:avLst/>
          </a:prstGeom>
        </p:spPr>
      </p:pic>
      <p:cxnSp>
        <p:nvCxnSpPr>
          <p:cNvPr id="7" name="직선 연결선[R] 6">
            <a:extLst>
              <a:ext uri="{FF2B5EF4-FFF2-40B4-BE49-F238E27FC236}">
                <a16:creationId xmlns:a16="http://schemas.microsoft.com/office/drawing/2014/main" id="{E9FFACE4-4020-B2D2-1BCF-B420F77694A0}"/>
              </a:ext>
            </a:extLst>
          </p:cNvPr>
          <p:cNvCxnSpPr>
            <a:cxnSpLocks/>
          </p:cNvCxnSpPr>
          <p:nvPr/>
        </p:nvCxnSpPr>
        <p:spPr>
          <a:xfrm>
            <a:off x="327004" y="2355641"/>
            <a:ext cx="423894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32308991-57C2-3480-E2E7-F583B9585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11" y="3383627"/>
            <a:ext cx="4566446" cy="2297360"/>
          </a:xfrm>
          <a:prstGeom prst="rect">
            <a:avLst/>
          </a:prstGeom>
        </p:spPr>
      </p:pic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EE8E730C-9426-1F44-66B4-D6FD7D19397D}"/>
              </a:ext>
            </a:extLst>
          </p:cNvPr>
          <p:cNvCxnSpPr>
            <a:cxnSpLocks/>
          </p:cNvCxnSpPr>
          <p:nvPr/>
        </p:nvCxnSpPr>
        <p:spPr>
          <a:xfrm>
            <a:off x="175110" y="5074618"/>
            <a:ext cx="456644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5D6749FA-6A4C-9500-177F-DE739FE60BA5}"/>
              </a:ext>
            </a:extLst>
          </p:cNvPr>
          <p:cNvCxnSpPr/>
          <p:nvPr/>
        </p:nvCxnSpPr>
        <p:spPr>
          <a:xfrm>
            <a:off x="175110" y="5250230"/>
            <a:ext cx="74534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[R] 20">
            <a:extLst>
              <a:ext uri="{FF2B5EF4-FFF2-40B4-BE49-F238E27FC236}">
                <a16:creationId xmlns:a16="http://schemas.microsoft.com/office/drawing/2014/main" id="{BD97A5B3-84F3-CCF2-63E1-ACD5505397CB}"/>
              </a:ext>
            </a:extLst>
          </p:cNvPr>
          <p:cNvCxnSpPr/>
          <p:nvPr/>
        </p:nvCxnSpPr>
        <p:spPr>
          <a:xfrm>
            <a:off x="2016524" y="4578055"/>
            <a:ext cx="79328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그림 23">
            <a:extLst>
              <a:ext uri="{FF2B5EF4-FFF2-40B4-BE49-F238E27FC236}">
                <a16:creationId xmlns:a16="http://schemas.microsoft.com/office/drawing/2014/main" id="{2120D309-186B-518D-EFC4-3F24915674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1262" y="129085"/>
            <a:ext cx="3511550" cy="2495550"/>
          </a:xfrm>
          <a:prstGeom prst="rect">
            <a:avLst/>
          </a:prstGeom>
        </p:spPr>
      </p:pic>
      <p:pic>
        <p:nvPicPr>
          <p:cNvPr id="1026" name="Picture 2" descr="Machine X">
            <a:extLst>
              <a:ext uri="{FF2B5EF4-FFF2-40B4-BE49-F238E27FC236}">
                <a16:creationId xmlns:a16="http://schemas.microsoft.com/office/drawing/2014/main" id="{51321F34-45FD-E50F-D140-62BEFBFE7A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3924" y="2729865"/>
            <a:ext cx="3210526" cy="1436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chine Y">
            <a:extLst>
              <a:ext uri="{FF2B5EF4-FFF2-40B4-BE49-F238E27FC236}">
                <a16:creationId xmlns:a16="http://schemas.microsoft.com/office/drawing/2014/main" id="{4E58A589-C93B-0C46-6FC5-FC136AD2D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0887" y="2729864"/>
            <a:ext cx="3220832" cy="1436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1C6427EE-879F-F863-0F61-F782146B28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9272" y="4229887"/>
            <a:ext cx="4372165" cy="915882"/>
          </a:xfrm>
          <a:prstGeom prst="rect">
            <a:avLst/>
          </a:prstGeom>
        </p:spPr>
      </p:pic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301C1966-FB04-ED75-AB39-655E904A3584}"/>
              </a:ext>
            </a:extLst>
          </p:cNvPr>
          <p:cNvCxnSpPr>
            <a:cxnSpLocks/>
          </p:cNvCxnSpPr>
          <p:nvPr/>
        </p:nvCxnSpPr>
        <p:spPr>
          <a:xfrm>
            <a:off x="7635839" y="4597948"/>
            <a:ext cx="284715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[R] 27">
            <a:extLst>
              <a:ext uri="{FF2B5EF4-FFF2-40B4-BE49-F238E27FC236}">
                <a16:creationId xmlns:a16="http://schemas.microsoft.com/office/drawing/2014/main" id="{D6F8E457-4A18-47C5-034F-780753E890E3}"/>
              </a:ext>
            </a:extLst>
          </p:cNvPr>
          <p:cNvCxnSpPr>
            <a:cxnSpLocks/>
          </p:cNvCxnSpPr>
          <p:nvPr/>
        </p:nvCxnSpPr>
        <p:spPr>
          <a:xfrm>
            <a:off x="6212262" y="4792738"/>
            <a:ext cx="34108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그림 29">
            <a:extLst>
              <a:ext uri="{FF2B5EF4-FFF2-40B4-BE49-F238E27FC236}">
                <a16:creationId xmlns:a16="http://schemas.microsoft.com/office/drawing/2014/main" id="{E939D44C-091F-7B16-F660-511B7A51CA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2262" y="5312639"/>
            <a:ext cx="4372165" cy="1139695"/>
          </a:xfrm>
          <a:prstGeom prst="rect">
            <a:avLst/>
          </a:prstGeom>
        </p:spPr>
      </p:pic>
      <p:cxnSp>
        <p:nvCxnSpPr>
          <p:cNvPr id="32" name="직선 연결선[R] 31">
            <a:extLst>
              <a:ext uri="{FF2B5EF4-FFF2-40B4-BE49-F238E27FC236}">
                <a16:creationId xmlns:a16="http://schemas.microsoft.com/office/drawing/2014/main" id="{70B14ABA-FE9C-31D6-8E88-67B09F83846A}"/>
              </a:ext>
            </a:extLst>
          </p:cNvPr>
          <p:cNvCxnSpPr>
            <a:cxnSpLocks/>
          </p:cNvCxnSpPr>
          <p:nvPr/>
        </p:nvCxnSpPr>
        <p:spPr>
          <a:xfrm>
            <a:off x="8159847" y="5483080"/>
            <a:ext cx="242458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[R] 33">
            <a:extLst>
              <a:ext uri="{FF2B5EF4-FFF2-40B4-BE49-F238E27FC236}">
                <a16:creationId xmlns:a16="http://schemas.microsoft.com/office/drawing/2014/main" id="{FC043CC3-B279-4E89-F6CE-C42D9EAC354A}"/>
              </a:ext>
            </a:extLst>
          </p:cNvPr>
          <p:cNvCxnSpPr>
            <a:cxnSpLocks/>
          </p:cNvCxnSpPr>
          <p:nvPr/>
        </p:nvCxnSpPr>
        <p:spPr>
          <a:xfrm>
            <a:off x="6295723" y="5659702"/>
            <a:ext cx="271171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49016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DC3B8-451D-6EB5-6783-FFCFAA0FC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F949AD-2BBD-1A30-DD8B-1D84C4629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43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MLP – Entropy</a:t>
            </a:r>
            <a:endParaRPr kumimoji="1" lang="ko-KR" alt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C2015A-B473-95A1-5319-ED6C4268D5F9}"/>
              </a:ext>
            </a:extLst>
          </p:cNvPr>
          <p:cNvSpPr txBox="1"/>
          <p:nvPr/>
        </p:nvSpPr>
        <p:spPr>
          <a:xfrm>
            <a:off x="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https://</a:t>
            </a:r>
            <a:r>
              <a:rPr lang="en" altLang="ko-KR" dirty="0" err="1"/>
              <a:t>hyunw.kim</a:t>
            </a:r>
            <a:r>
              <a:rPr lang="en" altLang="ko-KR" dirty="0"/>
              <a:t>/blog/2017/10/14/</a:t>
            </a:r>
            <a:r>
              <a:rPr lang="en" altLang="ko-KR" dirty="0" err="1"/>
              <a:t>Entropy.html</a:t>
            </a:r>
            <a:endParaRPr lang="ko-KR" altLang="en-US" dirty="0"/>
          </a:p>
        </p:txBody>
      </p:sp>
      <p:pic>
        <p:nvPicPr>
          <p:cNvPr id="1026" name="Picture 2" descr="Machine X">
            <a:extLst>
              <a:ext uri="{FF2B5EF4-FFF2-40B4-BE49-F238E27FC236}">
                <a16:creationId xmlns:a16="http://schemas.microsoft.com/office/drawing/2014/main" id="{4626C941-37DE-D4E6-1226-0708AC642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923" y="1393148"/>
            <a:ext cx="3210526" cy="1436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chine Y">
            <a:extLst>
              <a:ext uri="{FF2B5EF4-FFF2-40B4-BE49-F238E27FC236}">
                <a16:creationId xmlns:a16="http://schemas.microsoft.com/office/drawing/2014/main" id="{1C754F68-FABB-138D-5219-C909EEE7E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886" y="1393147"/>
            <a:ext cx="3220832" cy="1436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6BA235A-655A-96D3-147D-65ACE84607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054" y="2891842"/>
            <a:ext cx="5196235" cy="928756"/>
          </a:xfrm>
          <a:prstGeom prst="rect">
            <a:avLst/>
          </a:prstGeom>
        </p:spPr>
      </p:pic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FB8D9245-F8ED-D307-9777-8CEDCF7ED639}"/>
              </a:ext>
            </a:extLst>
          </p:cNvPr>
          <p:cNvCxnSpPr>
            <a:cxnSpLocks/>
          </p:cNvCxnSpPr>
          <p:nvPr/>
        </p:nvCxnSpPr>
        <p:spPr>
          <a:xfrm>
            <a:off x="1386739" y="3306374"/>
            <a:ext cx="396038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[R] 13">
            <a:extLst>
              <a:ext uri="{FF2B5EF4-FFF2-40B4-BE49-F238E27FC236}">
                <a16:creationId xmlns:a16="http://schemas.microsoft.com/office/drawing/2014/main" id="{4D919802-FAA8-62B7-FBA1-3159E0B9D4E7}"/>
              </a:ext>
            </a:extLst>
          </p:cNvPr>
          <p:cNvCxnSpPr/>
          <p:nvPr/>
        </p:nvCxnSpPr>
        <p:spPr>
          <a:xfrm>
            <a:off x="351923" y="3530432"/>
            <a:ext cx="265772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98BC934-0E7A-9511-4690-01F5744E68DD}"/>
              </a:ext>
            </a:extLst>
          </p:cNvPr>
          <p:cNvSpPr txBox="1"/>
          <p:nvPr/>
        </p:nvSpPr>
        <p:spPr>
          <a:xfrm>
            <a:off x="354631" y="4050464"/>
            <a:ext cx="3012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Claude Shannon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Entropy</a:t>
            </a:r>
            <a:endParaRPr kumimoji="1"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4FA123E-B262-0732-7DA5-840F5AB018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560" y="4573301"/>
            <a:ext cx="2651440" cy="116266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61F865A-96BB-AA49-8747-A5496349C9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2449" y="4088581"/>
            <a:ext cx="3473096" cy="2023736"/>
          </a:xfrm>
          <a:prstGeom prst="rect">
            <a:avLst/>
          </a:prstGeom>
        </p:spPr>
      </p:pic>
      <p:cxnSp>
        <p:nvCxnSpPr>
          <p:cNvPr id="19" name="직선 연결선[R] 18">
            <a:extLst>
              <a:ext uri="{FF2B5EF4-FFF2-40B4-BE49-F238E27FC236}">
                <a16:creationId xmlns:a16="http://schemas.microsoft.com/office/drawing/2014/main" id="{695823E0-DE14-12D8-0F96-F563D119C6C9}"/>
              </a:ext>
            </a:extLst>
          </p:cNvPr>
          <p:cNvCxnSpPr/>
          <p:nvPr/>
        </p:nvCxnSpPr>
        <p:spPr>
          <a:xfrm>
            <a:off x="3562449" y="4235130"/>
            <a:ext cx="304424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DE35240-E10C-C24D-971C-22E3DBE068D7}"/>
              </a:ext>
            </a:extLst>
          </p:cNvPr>
          <p:cNvSpPr/>
          <p:nvPr/>
        </p:nvSpPr>
        <p:spPr>
          <a:xfrm>
            <a:off x="1865134" y="4511659"/>
            <a:ext cx="1182866" cy="4286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7F03FDD3-55C4-E6C2-16CA-61BAEB58FAB7}"/>
              </a:ext>
            </a:extLst>
          </p:cNvPr>
          <p:cNvCxnSpPr/>
          <p:nvPr/>
        </p:nvCxnSpPr>
        <p:spPr>
          <a:xfrm>
            <a:off x="2456567" y="4940308"/>
            <a:ext cx="316911" cy="8973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C2074F5-2BC6-274A-CC95-6A795EA9F62D}"/>
              </a:ext>
            </a:extLst>
          </p:cNvPr>
          <p:cNvSpPr txBox="1"/>
          <p:nvPr/>
        </p:nvSpPr>
        <p:spPr>
          <a:xfrm>
            <a:off x="2178603" y="5844645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질문 횟수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E4FF9AEC-7A61-CAA1-E65A-BF241B3610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2761" y="3930455"/>
            <a:ext cx="3924048" cy="212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3047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2EBFD-EADE-B507-DC90-CA98559F5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458DC7-FF19-5FE4-F124-6BF94531B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43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MLP – Cross Entropy</a:t>
            </a:r>
            <a:endParaRPr kumimoji="1" lang="ko-KR" alt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122BDA-EE72-1E5B-FC11-6E38C9B96C43}"/>
              </a:ext>
            </a:extLst>
          </p:cNvPr>
          <p:cNvSpPr txBox="1"/>
          <p:nvPr/>
        </p:nvSpPr>
        <p:spPr>
          <a:xfrm>
            <a:off x="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https://</a:t>
            </a:r>
            <a:r>
              <a:rPr lang="en" altLang="ko-KR" dirty="0" err="1"/>
              <a:t>hyunw.kim</a:t>
            </a:r>
            <a:r>
              <a:rPr lang="en" altLang="ko-KR" dirty="0"/>
              <a:t>/blog/2017/10/14/</a:t>
            </a:r>
            <a:r>
              <a:rPr lang="en" altLang="ko-KR" dirty="0" err="1"/>
              <a:t>Entropy.html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541BE1B-B4CD-30F2-9D35-7D93F6ECB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50" y="1538128"/>
            <a:ext cx="3855858" cy="407241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7280AE3-7DB0-1503-1161-9EE6EEFDB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148" y="2569122"/>
            <a:ext cx="3261704" cy="219451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A2E93FA-5AFE-0CFA-963E-9DF7B12F14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4792" y="2782773"/>
            <a:ext cx="3730772" cy="176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1688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F945E-7FD1-098E-C9AD-0B27F7D85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93DF5A-F659-0AEE-B608-66B9B3B98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43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MLP – Cross Entropy</a:t>
            </a:r>
            <a:endParaRPr kumimoji="1" lang="ko-KR" alt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A38C8D-B089-5EA7-13C8-7A159DC81959}"/>
              </a:ext>
            </a:extLst>
          </p:cNvPr>
          <p:cNvSpPr txBox="1"/>
          <p:nvPr/>
        </p:nvSpPr>
        <p:spPr>
          <a:xfrm>
            <a:off x="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https://</a:t>
            </a:r>
            <a:r>
              <a:rPr lang="en" altLang="ko-KR" dirty="0" err="1"/>
              <a:t>hyunw.kim</a:t>
            </a:r>
            <a:r>
              <a:rPr lang="en" altLang="ko-KR" dirty="0"/>
              <a:t>/blog/2017/10/14/</a:t>
            </a:r>
            <a:r>
              <a:rPr lang="en" altLang="ko-KR" dirty="0" err="1"/>
              <a:t>Entropy.html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230F00E-9F11-8057-9AD4-EB41E2F29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43" y="2573564"/>
            <a:ext cx="4166778" cy="722413"/>
          </a:xfrm>
          <a:prstGeom prst="rect">
            <a:avLst/>
          </a:prstGeom>
        </p:spPr>
      </p:pic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F8A65B51-117F-81C2-20E3-AF208EEE526A}"/>
              </a:ext>
            </a:extLst>
          </p:cNvPr>
          <p:cNvCxnSpPr/>
          <p:nvPr/>
        </p:nvCxnSpPr>
        <p:spPr>
          <a:xfrm>
            <a:off x="3003592" y="2731090"/>
            <a:ext cx="148362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D39809DC-1F25-9E9C-1123-D6F86C5828F7}"/>
              </a:ext>
            </a:extLst>
          </p:cNvPr>
          <p:cNvCxnSpPr/>
          <p:nvPr/>
        </p:nvCxnSpPr>
        <p:spPr>
          <a:xfrm>
            <a:off x="2482808" y="3100483"/>
            <a:ext cx="176218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1A50FBB5-ECFB-DE3D-663A-31159B27A010}"/>
              </a:ext>
            </a:extLst>
          </p:cNvPr>
          <p:cNvCxnSpPr/>
          <p:nvPr/>
        </p:nvCxnSpPr>
        <p:spPr>
          <a:xfrm>
            <a:off x="320443" y="3295977"/>
            <a:ext cx="158102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8A9D303-0CD2-ACDD-47F9-B38D6802E225}"/>
              </a:ext>
            </a:extLst>
          </p:cNvPr>
          <p:cNvSpPr txBox="1"/>
          <p:nvPr/>
        </p:nvSpPr>
        <p:spPr>
          <a:xfrm>
            <a:off x="1318771" y="3453503"/>
            <a:ext cx="2328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/>
              <a:t>Weight</a:t>
            </a:r>
            <a:r>
              <a:rPr kumimoji="1" lang="ko-KR" altLang="en-US" sz="1400" dirty="0" err="1"/>
              <a:t>를</a:t>
            </a:r>
            <a:r>
              <a:rPr kumimoji="1" lang="ko-KR" altLang="en-US" sz="1400" dirty="0"/>
              <a:t> 학습시켜 나가자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20CB58B-2B1F-9955-0639-F2E5A4072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6746" y="1562307"/>
            <a:ext cx="1832121" cy="97659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AAE6CA9-CFB7-B371-A0D2-B0C7A9D757EF}"/>
              </a:ext>
            </a:extLst>
          </p:cNvPr>
          <p:cNvSpPr txBox="1"/>
          <p:nvPr/>
        </p:nvSpPr>
        <p:spPr>
          <a:xfrm>
            <a:off x="187725" y="4018390"/>
            <a:ext cx="20425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dirty="0"/>
              <a:t>연속형 확률분포에서는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6F5C5FBC-EF23-E712-B447-5CAAB8D720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0272" y="3962010"/>
            <a:ext cx="1742221" cy="42053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C089667-02DE-C438-CCA2-FAA9939380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0699" y="1335628"/>
            <a:ext cx="2328073" cy="79665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DF5E6C2-6A7C-D36D-CBDC-F4DEB54CD4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2397" y="1386637"/>
            <a:ext cx="1286989" cy="60871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A27E509A-6C54-A73B-308E-DDFEEC0295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3835" y="2299973"/>
            <a:ext cx="4493781" cy="1335613"/>
          </a:xfrm>
          <a:prstGeom prst="rect">
            <a:avLst/>
          </a:prstGeom>
        </p:spPr>
      </p:pic>
      <p:cxnSp>
        <p:nvCxnSpPr>
          <p:cNvPr id="22" name="직선 연결선[R] 21">
            <a:extLst>
              <a:ext uri="{FF2B5EF4-FFF2-40B4-BE49-F238E27FC236}">
                <a16:creationId xmlns:a16="http://schemas.microsoft.com/office/drawing/2014/main" id="{09C4DDEA-3F09-9026-1C57-04F5DFE755FA}"/>
              </a:ext>
            </a:extLst>
          </p:cNvPr>
          <p:cNvCxnSpPr/>
          <p:nvPr/>
        </p:nvCxnSpPr>
        <p:spPr>
          <a:xfrm>
            <a:off x="5043835" y="2688699"/>
            <a:ext cx="252856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FD5C7AF7-69FA-B00C-A58C-FB27B5FDCD42}"/>
              </a:ext>
            </a:extLst>
          </p:cNvPr>
          <p:cNvCxnSpPr/>
          <p:nvPr/>
        </p:nvCxnSpPr>
        <p:spPr>
          <a:xfrm>
            <a:off x="7842040" y="2538900"/>
            <a:ext cx="16955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9137763B-F0C6-9254-120C-6C8D2E75972F}"/>
              </a:ext>
            </a:extLst>
          </p:cNvPr>
          <p:cNvCxnSpPr/>
          <p:nvPr/>
        </p:nvCxnSpPr>
        <p:spPr>
          <a:xfrm>
            <a:off x="7842040" y="2894591"/>
            <a:ext cx="177429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그림 26">
            <a:extLst>
              <a:ext uri="{FF2B5EF4-FFF2-40B4-BE49-F238E27FC236}">
                <a16:creationId xmlns:a16="http://schemas.microsoft.com/office/drawing/2014/main" id="{7AC1AF5C-795E-3B95-0294-ABA8DD2E3C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3834" y="3742499"/>
            <a:ext cx="4493782" cy="784519"/>
          </a:xfrm>
          <a:prstGeom prst="rect">
            <a:avLst/>
          </a:prstGeom>
        </p:spPr>
      </p:pic>
      <p:cxnSp>
        <p:nvCxnSpPr>
          <p:cNvPr id="29" name="직선 연결선[R] 28">
            <a:extLst>
              <a:ext uri="{FF2B5EF4-FFF2-40B4-BE49-F238E27FC236}">
                <a16:creationId xmlns:a16="http://schemas.microsoft.com/office/drawing/2014/main" id="{D448359D-4B9F-B76C-BCA8-5D0EEACA6CC4}"/>
              </a:ext>
            </a:extLst>
          </p:cNvPr>
          <p:cNvCxnSpPr/>
          <p:nvPr/>
        </p:nvCxnSpPr>
        <p:spPr>
          <a:xfrm>
            <a:off x="5043834" y="3951527"/>
            <a:ext cx="405752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71356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6FAE4-115F-FE14-31DF-00C757E78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5BF391-D09A-B63B-3DEE-ED5DBBBF0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43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MLP – KL-divergence</a:t>
            </a:r>
            <a:endParaRPr kumimoji="1" lang="ko-KR" alt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7D82FA-C8A2-41E7-EF99-6CA79743F743}"/>
              </a:ext>
            </a:extLst>
          </p:cNvPr>
          <p:cNvSpPr txBox="1"/>
          <p:nvPr/>
        </p:nvSpPr>
        <p:spPr>
          <a:xfrm>
            <a:off x="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https://</a:t>
            </a:r>
            <a:r>
              <a:rPr lang="en" altLang="ko-KR" dirty="0" err="1"/>
              <a:t>hyunw.kim</a:t>
            </a:r>
            <a:r>
              <a:rPr lang="en" altLang="ko-KR" dirty="0"/>
              <a:t>/blog/2017/10/14/</a:t>
            </a:r>
            <a:r>
              <a:rPr lang="en" altLang="ko-KR" dirty="0" err="1"/>
              <a:t>Entropy.html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2850E2E-8CCA-F804-DF38-652FDF3C6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91" y="1432050"/>
            <a:ext cx="4923732" cy="832690"/>
          </a:xfrm>
          <a:prstGeom prst="rect">
            <a:avLst/>
          </a:prstGeom>
        </p:spPr>
      </p:pic>
      <p:pic>
        <p:nvPicPr>
          <p:cNvPr id="4098" name="Picture 2" descr="Derivation of the KL-divergence">
            <a:extLst>
              <a:ext uri="{FF2B5EF4-FFF2-40B4-BE49-F238E27FC236}">
                <a16:creationId xmlns:a16="http://schemas.microsoft.com/office/drawing/2014/main" id="{A908A6EA-2C33-F500-BA71-463725DC9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44" y="2197657"/>
            <a:ext cx="7811080" cy="3361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F3B9298-8755-5DB9-05C2-A30BD3814A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44" y="5440148"/>
            <a:ext cx="5032733" cy="40507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F12907E-0F1F-D591-7D27-A577914791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4825" y="1848395"/>
            <a:ext cx="4650284" cy="200040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6383A2F-E2CB-C354-F1BF-BB96148F61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7082" y="4614403"/>
            <a:ext cx="4223297" cy="1341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811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D3A04-4E36-2A46-C453-A9B234D2C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162100-EC52-6513-CA17-86DAE392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5204" y="39342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MLP – KL-divergence</a:t>
            </a:r>
            <a:endParaRPr kumimoji="1" lang="ko-KR" alt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8E3C36-AF14-A3C7-6A38-3278577989D3}"/>
              </a:ext>
            </a:extLst>
          </p:cNvPr>
          <p:cNvSpPr txBox="1"/>
          <p:nvPr/>
        </p:nvSpPr>
        <p:spPr>
          <a:xfrm>
            <a:off x="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https://</a:t>
            </a:r>
            <a:r>
              <a:rPr lang="en" altLang="ko-KR" dirty="0" err="1"/>
              <a:t>hyunw.kim</a:t>
            </a:r>
            <a:r>
              <a:rPr lang="en" altLang="ko-KR" dirty="0"/>
              <a:t>/blog/2017/10/14/</a:t>
            </a:r>
            <a:r>
              <a:rPr lang="en" altLang="ko-KR" dirty="0" err="1"/>
              <a:t>Entropy.html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056F84E-3112-2F62-3C81-49E21B83B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75503"/>
            <a:ext cx="5155864" cy="4046105"/>
          </a:xfrm>
          <a:prstGeom prst="rect">
            <a:avLst/>
          </a:prstGeom>
        </p:spPr>
      </p:pic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684CF023-8EA1-4109-AD70-8FD62C2B0AEE}"/>
              </a:ext>
            </a:extLst>
          </p:cNvPr>
          <p:cNvCxnSpPr/>
          <p:nvPr/>
        </p:nvCxnSpPr>
        <p:spPr>
          <a:xfrm>
            <a:off x="2664477" y="2470697"/>
            <a:ext cx="260392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[R] 11">
            <a:extLst>
              <a:ext uri="{FF2B5EF4-FFF2-40B4-BE49-F238E27FC236}">
                <a16:creationId xmlns:a16="http://schemas.microsoft.com/office/drawing/2014/main" id="{FE11802A-AEF4-744C-4C12-9EA65973A1F9}"/>
              </a:ext>
            </a:extLst>
          </p:cNvPr>
          <p:cNvCxnSpPr/>
          <p:nvPr/>
        </p:nvCxnSpPr>
        <p:spPr>
          <a:xfrm>
            <a:off x="1574464" y="3106538"/>
            <a:ext cx="435399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C8987B35-84E1-93E0-7F82-6D67C223D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422" y="2482558"/>
            <a:ext cx="3812419" cy="2831993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D724F60A-BC46-87CE-AE60-B1F1505DF825}"/>
              </a:ext>
            </a:extLst>
          </p:cNvPr>
          <p:cNvSpPr/>
          <p:nvPr/>
        </p:nvSpPr>
        <p:spPr>
          <a:xfrm>
            <a:off x="7957097" y="3429000"/>
            <a:ext cx="484450" cy="20210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E89134F5-D576-E394-D638-DBC704452705}"/>
              </a:ext>
            </a:extLst>
          </p:cNvPr>
          <p:cNvCxnSpPr/>
          <p:nvPr/>
        </p:nvCxnSpPr>
        <p:spPr>
          <a:xfrm flipH="1" flipV="1">
            <a:off x="5032228" y="2676588"/>
            <a:ext cx="2924869" cy="8841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[R] 18">
            <a:extLst>
              <a:ext uri="{FF2B5EF4-FFF2-40B4-BE49-F238E27FC236}">
                <a16:creationId xmlns:a16="http://schemas.microsoft.com/office/drawing/2014/main" id="{74A2C6ED-FFAD-1449-9811-86A2F915B514}"/>
              </a:ext>
            </a:extLst>
          </p:cNvPr>
          <p:cNvCxnSpPr/>
          <p:nvPr/>
        </p:nvCxnSpPr>
        <p:spPr>
          <a:xfrm>
            <a:off x="896233" y="5637791"/>
            <a:ext cx="450538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[R] 21">
            <a:extLst>
              <a:ext uri="{FF2B5EF4-FFF2-40B4-BE49-F238E27FC236}">
                <a16:creationId xmlns:a16="http://schemas.microsoft.com/office/drawing/2014/main" id="{4FD8E009-123C-8CB0-3220-F714BC952C17}"/>
              </a:ext>
            </a:extLst>
          </p:cNvPr>
          <p:cNvCxnSpPr/>
          <p:nvPr/>
        </p:nvCxnSpPr>
        <p:spPr>
          <a:xfrm>
            <a:off x="4886893" y="5450066"/>
            <a:ext cx="104156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3437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8FFCD-3E4C-0A84-58D8-E3D6825F8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21597C-2C7E-9CED-D77B-F2D50B371561}"/>
              </a:ext>
            </a:extLst>
          </p:cNvPr>
          <p:cNvSpPr txBox="1"/>
          <p:nvPr/>
        </p:nvSpPr>
        <p:spPr>
          <a:xfrm>
            <a:off x="5288086" y="3244334"/>
            <a:ext cx="1615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How to train?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20697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3C63F-73F2-861E-2D19-66B06E8E6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5E893-4A6F-0861-C041-AA91DD7C1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43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MLP – How to train?</a:t>
            </a:r>
            <a:endParaRPr kumimoji="1" lang="ko-KR" alt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1BCF1A-6D7C-6A47-85D9-17CEEA7F9745}"/>
              </a:ext>
            </a:extLst>
          </p:cNvPr>
          <p:cNvSpPr txBox="1"/>
          <p:nvPr/>
        </p:nvSpPr>
        <p:spPr>
          <a:xfrm>
            <a:off x="0" y="621340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>
                <a:hlinkClick r:id="rId2"/>
              </a:rPr>
              <a:t>https://yhyun225.tistory.com/5</a:t>
            </a:r>
            <a:endParaRPr lang="en" altLang="ko-KR" dirty="0"/>
          </a:p>
          <a:p>
            <a:r>
              <a:rPr lang="en" altLang="ko-KR" dirty="0"/>
              <a:t>https://</a:t>
            </a:r>
            <a:r>
              <a:rPr lang="en" altLang="ko-KR" dirty="0" err="1"/>
              <a:t>en.wikipedia.org</a:t>
            </a:r>
            <a:r>
              <a:rPr lang="en" altLang="ko-KR" dirty="0"/>
              <a:t>/wiki/</a:t>
            </a:r>
            <a:r>
              <a:rPr lang="en" altLang="ko-KR" dirty="0" err="1"/>
              <a:t>Loss_function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97BC74-760B-BB05-64FE-2BD7DBB7DBB0}"/>
              </a:ext>
            </a:extLst>
          </p:cNvPr>
          <p:cNvSpPr txBox="1"/>
          <p:nvPr/>
        </p:nvSpPr>
        <p:spPr>
          <a:xfrm>
            <a:off x="944678" y="1733470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가중치에 대한 차원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4C71B77-981F-7554-23D0-35A73FFAF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678" y="2260880"/>
            <a:ext cx="3629845" cy="297022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E0D168C-F9DF-1ED9-BC54-6F4B2907F4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1378" y="1975603"/>
            <a:ext cx="4462982" cy="116449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8E5C42C-58BC-A2F2-BD1C-E8E9838BFB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2556" y="3310806"/>
            <a:ext cx="3884181" cy="2260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2864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09FBD-BB49-28B6-B1C7-5EA26F800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65F6E7-7A27-7EF8-237C-0BD85595B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43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MLP – How to train?</a:t>
            </a:r>
            <a:endParaRPr kumimoji="1" lang="ko-KR" alt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7A2B55-4745-6697-B90B-4905B45BB89B}"/>
              </a:ext>
            </a:extLst>
          </p:cNvPr>
          <p:cNvSpPr txBox="1"/>
          <p:nvPr/>
        </p:nvSpPr>
        <p:spPr>
          <a:xfrm>
            <a:off x="0" y="64854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https</a:t>
            </a:r>
            <a:r>
              <a:rPr lang="ko-KR" altLang="en-US" dirty="0"/>
              <a:t>://sjh9708.tistory.com/225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EEF1568-F1EA-B31E-F72E-18839E542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202" y="1734423"/>
            <a:ext cx="5075343" cy="387260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6778C66-D462-7858-71BE-CC62489AD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490" y="1819685"/>
            <a:ext cx="5213289" cy="387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6944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76355-76D5-1D05-11DB-A8623F638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D10DEA-5D4A-4C12-F1F3-082022125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43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ko-KR" sz="3200"/>
              <a:t>MLP – How to train?</a:t>
            </a:r>
            <a:endParaRPr kumimoji="1" lang="ko-KR" alt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4C5349-F193-70C4-D317-9B01768A8828}"/>
              </a:ext>
            </a:extLst>
          </p:cNvPr>
          <p:cNvSpPr txBox="1"/>
          <p:nvPr/>
        </p:nvSpPr>
        <p:spPr>
          <a:xfrm>
            <a:off x="0" y="64854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https://sjh9708.tistory.com/225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9C25503-61E5-2CEC-19C4-B80B41681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13" y="1955968"/>
            <a:ext cx="5481425" cy="404195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9E0C103-4EA2-47F4-FCD7-04A7947E6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033" y="1115211"/>
            <a:ext cx="5468688" cy="286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5180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5880C-D3F5-0C62-7C27-C09C2DD95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9AED3E-0AC4-E712-CCAD-730208533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43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ko-KR" sz="3200"/>
              <a:t>MLP – How to train?</a:t>
            </a:r>
            <a:endParaRPr kumimoji="1" lang="ko-KR" alt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3720F0-57B4-EE98-51BD-9CB4BD17F25D}"/>
              </a:ext>
            </a:extLst>
          </p:cNvPr>
          <p:cNvSpPr txBox="1"/>
          <p:nvPr/>
        </p:nvSpPr>
        <p:spPr>
          <a:xfrm>
            <a:off x="-1" y="6485441"/>
            <a:ext cx="98161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https://</a:t>
            </a:r>
            <a:r>
              <a:rPr lang="en" altLang="ko-KR" dirty="0" err="1"/>
              <a:t>nanunzoey.tistory.com</a:t>
            </a:r>
            <a:r>
              <a:rPr lang="en" altLang="ko-KR" dirty="0"/>
              <a:t>/entry/</a:t>
            </a:r>
            <a:r>
              <a:rPr lang="ko-KR" altLang="en-US" dirty="0"/>
              <a:t>딥러닝</a:t>
            </a:r>
            <a:r>
              <a:rPr lang="en-US" altLang="ko-KR" dirty="0"/>
              <a:t>-</a:t>
            </a:r>
            <a:r>
              <a:rPr lang="ko-KR" altLang="en-US" dirty="0"/>
              <a:t>오차역전파</a:t>
            </a:r>
            <a:r>
              <a:rPr lang="en" altLang="ko-KR" dirty="0"/>
              <a:t>Back-propagation-</a:t>
            </a:r>
            <a:r>
              <a:rPr lang="ko-KR" altLang="en-US" dirty="0"/>
              <a:t>직접</a:t>
            </a:r>
            <a:r>
              <a:rPr lang="en-US" altLang="ko-KR" dirty="0"/>
              <a:t>-</a:t>
            </a:r>
            <a:r>
              <a:rPr lang="ko-KR" altLang="en-US" dirty="0"/>
              <a:t>계산하기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8902CD88-B3FD-DC95-79B2-958B7105B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68" y="1830653"/>
            <a:ext cx="3018984" cy="2570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4A9FC41-5C6A-B16A-D9B9-F6CAF4BE3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8650" y="1655664"/>
            <a:ext cx="4309268" cy="177333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2F2C375-1303-E581-4518-14C1A8D61B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8650" y="3692252"/>
            <a:ext cx="3837372" cy="1230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1790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12D34-5086-81E9-D597-B964FF560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4D6F35-AB1F-32B6-DA1B-F82CC50B4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43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ko-KR" sz="3200"/>
              <a:t>MLP – How to train?</a:t>
            </a:r>
            <a:endParaRPr kumimoji="1" lang="ko-KR" alt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767244-CA03-0524-0CEE-02C3D002960B}"/>
              </a:ext>
            </a:extLst>
          </p:cNvPr>
          <p:cNvSpPr txBox="1"/>
          <p:nvPr/>
        </p:nvSpPr>
        <p:spPr>
          <a:xfrm>
            <a:off x="-1" y="6485441"/>
            <a:ext cx="98161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https://</a:t>
            </a:r>
            <a:r>
              <a:rPr lang="en" altLang="ko-KR" dirty="0" err="1"/>
              <a:t>nanunzoey.tistory.com</a:t>
            </a:r>
            <a:r>
              <a:rPr lang="en" altLang="ko-KR" dirty="0"/>
              <a:t>/entry/</a:t>
            </a:r>
            <a:r>
              <a:rPr lang="ko-KR" altLang="en-US" dirty="0"/>
              <a:t>딥러닝</a:t>
            </a:r>
            <a:r>
              <a:rPr lang="en-US" altLang="ko-KR" dirty="0"/>
              <a:t>-</a:t>
            </a:r>
            <a:r>
              <a:rPr lang="ko-KR" altLang="en-US" dirty="0"/>
              <a:t>오차역전파</a:t>
            </a:r>
            <a:r>
              <a:rPr lang="en" altLang="ko-KR" dirty="0"/>
              <a:t>Back-propagation-</a:t>
            </a:r>
            <a:r>
              <a:rPr lang="ko-KR" altLang="en-US" dirty="0"/>
              <a:t>직접</a:t>
            </a:r>
            <a:r>
              <a:rPr lang="en-US" altLang="ko-KR" dirty="0"/>
              <a:t>-</a:t>
            </a:r>
            <a:r>
              <a:rPr lang="ko-KR" altLang="en-US" dirty="0"/>
              <a:t>계산하기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770E7833-983F-ED87-4BD8-9AEED4579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68" y="1830653"/>
            <a:ext cx="3018984" cy="2570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B945011-34DE-5759-68B1-74E232EC5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205" y="1748954"/>
            <a:ext cx="4583768" cy="325299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1116DE9-DAFB-40AC-A6B5-4D87232A54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5970" y="181771"/>
            <a:ext cx="4138391" cy="37079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2D1931C-6A4D-00B8-C972-2D1A873638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7556" y="4075745"/>
            <a:ext cx="3917235" cy="2365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6417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6B72B-B678-8276-18C1-0B4F9B6D9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946B2F-A681-3584-AE5E-F91EAD806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43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ko-KR" sz="3200"/>
              <a:t>MLP – How to train?</a:t>
            </a:r>
            <a:endParaRPr kumimoji="1" lang="ko-KR" alt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FA69C8-E12E-9789-E19E-05BDD92141C2}"/>
              </a:ext>
            </a:extLst>
          </p:cNvPr>
          <p:cNvSpPr txBox="1"/>
          <p:nvPr/>
        </p:nvSpPr>
        <p:spPr>
          <a:xfrm>
            <a:off x="-1" y="6485441"/>
            <a:ext cx="98161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https://</a:t>
            </a:r>
            <a:r>
              <a:rPr lang="en" altLang="ko-KR" dirty="0" err="1"/>
              <a:t>nanunzoey.tistory.com</a:t>
            </a:r>
            <a:r>
              <a:rPr lang="en" altLang="ko-KR" dirty="0"/>
              <a:t>/entry/</a:t>
            </a:r>
            <a:r>
              <a:rPr lang="ko-KR" altLang="en-US" dirty="0"/>
              <a:t>딥러닝</a:t>
            </a:r>
            <a:r>
              <a:rPr lang="en-US" altLang="ko-KR" dirty="0"/>
              <a:t>-</a:t>
            </a:r>
            <a:r>
              <a:rPr lang="ko-KR" altLang="en-US" dirty="0"/>
              <a:t>오차역전파</a:t>
            </a:r>
            <a:r>
              <a:rPr lang="en" altLang="ko-KR" dirty="0"/>
              <a:t>Back-propagation-</a:t>
            </a:r>
            <a:r>
              <a:rPr lang="ko-KR" altLang="en-US" dirty="0"/>
              <a:t>직접</a:t>
            </a:r>
            <a:r>
              <a:rPr lang="en-US" altLang="ko-KR" dirty="0"/>
              <a:t>-</a:t>
            </a:r>
            <a:r>
              <a:rPr lang="ko-KR" altLang="en-US" dirty="0"/>
              <a:t>계산하기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967F267D-6F00-871E-BE04-99D12A267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68" y="1830653"/>
            <a:ext cx="3018984" cy="2570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57438F9-98E5-0228-7BB3-74C37A50A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2002" y="1353649"/>
            <a:ext cx="4490594" cy="48506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28CEB61-C65B-27CE-3A73-0E1C9E5E3F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7946" y="1468490"/>
            <a:ext cx="4027338" cy="392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3571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D82B8-99C5-C9BA-C5BA-2C64E38D0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DFB737-A60A-90C7-633E-B998152B056F}"/>
              </a:ext>
            </a:extLst>
          </p:cNvPr>
          <p:cNvSpPr txBox="1"/>
          <p:nvPr/>
        </p:nvSpPr>
        <p:spPr>
          <a:xfrm>
            <a:off x="5287926" y="3244334"/>
            <a:ext cx="1616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Dual problem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943766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176FC-818E-330C-514C-A74F813BC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404A63-110B-7CFB-60E2-E42A37223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43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Dual problem</a:t>
            </a:r>
            <a:endParaRPr kumimoji="1" lang="ko-KR" altLang="en-US" sz="32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C6B7A02-8115-53D6-9035-52F1844B7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25" y="3069825"/>
            <a:ext cx="4502992" cy="13725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D45DC8-2194-C741-70DA-22DBFF86AC84}"/>
              </a:ext>
            </a:extLst>
          </p:cNvPr>
          <p:cNvSpPr txBox="1"/>
          <p:nvPr/>
        </p:nvSpPr>
        <p:spPr>
          <a:xfrm>
            <a:off x="5892127" y="3705999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dual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A6F9018-ED5E-5965-1C28-B249D78DC9A4}"/>
                  </a:ext>
                </a:extLst>
              </p:cNvPr>
              <p:cNvSpPr txBox="1"/>
              <p:nvPr/>
            </p:nvSpPr>
            <p:spPr>
              <a:xfrm>
                <a:off x="5979776" y="3429000"/>
                <a:ext cx="45821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ko-KR" altLang="en-US" i="1" smtClean="0">
                          <a:latin typeface="Cambria Math" panose="02040503050406030204" pitchFamily="18" charset="0"/>
                        </a:rPr>
                        <m:t>↔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A6F9018-ED5E-5965-1C28-B249D78DC9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9776" y="3429000"/>
                <a:ext cx="458210" cy="276999"/>
              </a:xfrm>
              <a:prstGeom prst="rect">
                <a:avLst/>
              </a:prstGeom>
              <a:blipFill>
                <a:blip r:embed="rId3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그림 9">
            <a:extLst>
              <a:ext uri="{FF2B5EF4-FFF2-40B4-BE49-F238E27FC236}">
                <a16:creationId xmlns:a16="http://schemas.microsoft.com/office/drawing/2014/main" id="{C50600E7-604B-3F6C-95E5-364F41E672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4159" y="3200215"/>
            <a:ext cx="4369641" cy="137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961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4118</TotalTime>
  <Words>453</Words>
  <Application>Microsoft Macintosh PowerPoint</Application>
  <PresentationFormat>와이드스크린</PresentationFormat>
  <Paragraphs>65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5" baseType="lpstr">
      <vt:lpstr>맑은 고딕</vt:lpstr>
      <vt:lpstr>Arial</vt:lpstr>
      <vt:lpstr>Cambria Math</vt:lpstr>
      <vt:lpstr>Office 테마</vt:lpstr>
      <vt:lpstr>PowerPoint 프레젠테이션</vt:lpstr>
      <vt:lpstr>PowerPoint 프레젠테이션</vt:lpstr>
      <vt:lpstr>Neural Network - 1</vt:lpstr>
      <vt:lpstr>Neural Network - 2</vt:lpstr>
      <vt:lpstr>Neural Network - 3</vt:lpstr>
      <vt:lpstr>Neural Network - 4</vt:lpstr>
      <vt:lpstr>Neural Network - 5</vt:lpstr>
      <vt:lpstr>PowerPoint 프레젠테이션</vt:lpstr>
      <vt:lpstr>MLP(Multilayer Perceptron)</vt:lpstr>
      <vt:lpstr>MLP(Multilayer Perceptron)</vt:lpstr>
      <vt:lpstr>Perceptron</vt:lpstr>
      <vt:lpstr>Perceptron</vt:lpstr>
      <vt:lpstr>MLP(Multilayer Perceptron)</vt:lpstr>
      <vt:lpstr>MLP – What is output?</vt:lpstr>
      <vt:lpstr>PowerPoint 프레젠테이션</vt:lpstr>
      <vt:lpstr>MLP – Loss functions</vt:lpstr>
      <vt:lpstr>MLP – Entropy</vt:lpstr>
      <vt:lpstr>MLP – Entropy</vt:lpstr>
      <vt:lpstr>MLP – Cross Entropy</vt:lpstr>
      <vt:lpstr>MLP – Cross Entropy</vt:lpstr>
      <vt:lpstr>MLP – KL-divergence</vt:lpstr>
      <vt:lpstr>MLP – KL-divergence</vt:lpstr>
      <vt:lpstr>PowerPoint 프레젠테이션</vt:lpstr>
      <vt:lpstr>MLP – How to train?</vt:lpstr>
      <vt:lpstr>MLP – How to train?</vt:lpstr>
      <vt:lpstr>MLP – How to train?</vt:lpstr>
      <vt:lpstr>MLP – How to train?</vt:lpstr>
      <vt:lpstr>MLP – How to train?</vt:lpstr>
      <vt:lpstr>MLP – How to train?</vt:lpstr>
      <vt:lpstr>PowerPoint 프레젠테이션</vt:lpstr>
      <vt:lpstr>Dual problem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한의석</dc:creator>
  <cp:lastModifiedBy>한의석</cp:lastModifiedBy>
  <cp:revision>31</cp:revision>
  <dcterms:created xsi:type="dcterms:W3CDTF">2024-08-19T07:16:00Z</dcterms:created>
  <dcterms:modified xsi:type="dcterms:W3CDTF">2024-08-26T08:47:25Z</dcterms:modified>
</cp:coreProperties>
</file>